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76" r:id="rId9"/>
    <p:sldId id="277" r:id="rId11"/>
    <p:sldId id="278" r:id="rId12"/>
    <p:sldId id="279" r:id="rId13"/>
    <p:sldId id="280" r:id="rId14"/>
    <p:sldId id="281" r:id="rId15"/>
    <p:sldId id="282" r:id="rId16"/>
    <p:sldId id="283" r:id="rId17"/>
    <p:sldId id="284" r:id="rId18"/>
    <p:sldId id="285" r:id="rId19"/>
    <p:sldId id="286" r:id="rId20"/>
    <p:sldId id="287" r:id="rId21"/>
    <p:sldId id="274"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1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2.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panel. My name is Daniel Larry, and today I will be presenting my MSc thesis, titled A Role-Aware Explainable AI Dashboard for Student At-Risk Classification in Learning Management Systems, under the supervision of Dr. Zainab Shamsiya Usman. The central idea behind this research is simple: it is not enough for an AI system to predict that a student is at risk. We also need to understand why it made that prediction and present that information in a way that supports the people responsible for those students. That is the problem my research set out to address.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briefly explain the problem, the approach I took, how I built the system, and what the evaluation revealed. I will then demonstrate how the same prediction and its explanation are presented differently to instructors, academic advisors, and administrators, before discussing the contributions and limitations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management systems record how students engage with their courses. This includes their activity, assessment submissions, and other learning-related interactions. Machine learning models can use these records to identify students who may fail or withdraw. So, the challenge is not necessarily getting a prediction. The bigger problem is what happens after the prediction. If a system flags a student as being at risk but cannot provide an understandable explanation, the staff member receiving that information has limited insight into why the student was flagged. There is also a difference in what different staff members need. An instructor may need to understand an individual student's behaviour. An academic advisor may need to review several students across modules. An administrator may need an institution-wide picture. Yet these needs are not the same. Explainable AI methods such as SHAP and LIME can help interpret model predictions, but integrating those explanations into a working dashboard and tailoring them to different staff roles is the specific problem I investigated. In my literature review, I identified a gap around serving these three staff roles through one prediction system with role-specific explanations. That brings me to the aim of the research.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was to investigate how a role-aware explainable AI dashboard could support student at-risk prediction in learning management systems, using the Open University Learning Analytics Dataset. The work had three main objectives. First, to review the existing literature on student-risk prediction, machine learning, and explainable AI. Second, to build and evaluate an ensemble prediction model and integrate SHAP and LIME. Third, to design, implement, and technically evaluate a dashboard that presents explanations according to the needs of different staff roles. These objectives informed three research questions covering the integration of explainability, the design of role-specific dashboard views, and the technical potential of the resulting system. I want to clarify one point about the third question: I evaluated the system technically. I did not conduct a practitioner study, so I am not claiming that its usability or effect on staff decision-making has already been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methodology, I used CommonKADS as the primary knowledge engineering framework. The reason for this choice is that the research is not only about producing a prediction. It is also about representing the knowledge behind that prediction and deciding how to communicate it to different users. CommonKADS provides six models that help structure this process, from the organisational context and tasks to the agents, knowledge, communication, and system design. I organised the work into four phases: knowledge acquisition and organisational analysis, knowledge and system modelling, artefact design and development, and technical evaluation. Design Science Research Methodology provided additional structure for the research process, while the Technology Acceptance Model informed the design as a theoretical lens. It was not empirically tested. The knowledge was drawn from published literature rather than interviews with practitioners. That distinction matters because the role-specific requirements were literature-derived, not validated through direct user research.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five main layers. The data layer processes the OULAD data and prepares the features used for prediction. The prediction engine uses XGBoost. The model was configured with 300 trees and a maximum depth of five. Next is the explainability layer. I used TreeSHAP to examine the model's feature contributions and cached the global explanations. LIME generates local explanations when requested. The API layer uses Flask and JSON Web Tokens for authentication and role-based access control. The presentation layer is a React dashboard with three different views. I also integrated the system with two learning management platforms. Moodle uses a native plugin that relies on its existing login, roles, and enrolments. Canvas provides access through an embedded external URL module. The important point here is that I did not stop at training a model or producing explanation charts. I implemented the prediction, explanation, access-control, and dashboard components as one integrated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evaluation, I used the Open University Learning Analytics Dataset, published by Kuzilek and colleagues. The dataset contains 32,593 student records across 22 module presentations. For this study, students who withdrew or failed were classified as at risk. This represented 52.8 percent of the records. The feature set included engagement, assessment, and demographic information, resulting in 59 features after encoding. A key methodological decision was using four-fold GroupKFold evaluation by course presentation. This means that each test fold contained course presentations that were not used to train the model for that fold. I prioritised recall because missing a student who is genuinely at risk may mean that the student receives no additional attention from the system. A false alarm can instead be reviewed by staff. However, there is an important limitation. The features span the whole course presentation. Therefore, this evaluation demonstrates retrospective classification, not whether the model can identify students early enough for timely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the results. The selected XGBoost model achieved a recall of 0.909, an F1-score of 0.887, and an ROC-AUC of 0.962 under the evaluation protocol. In practical terms, the model identified 15,634 of the 17,208 students classified as at risk, while missing 1,574. It also generated 2,422 false alarms among students who were not at risk. I compared XGBoost with Random Forest and Gradient Boosting under the same evaluation protocol. Random Forest achieved the highest F1-score at 0.898, while XGBoost achieved the highest recall at 0.909. So why did I retain XGBoost when Random Forest had the better F1-score? Because recall was my pre-established selection criterion. The research prioritised identifying as many at-risk students as possible, while recognising that this comes with a false-positive cost. I am not claiming that XGBoost was the best model under every metric. I am saying it was the best fit for the selection criterion I established. Performance also varied across course presentations, with accuracy ranging from 0.846 to 0.916. That variation is important and means the pooled results should be interpreted with care.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Predictive performance tells us how well the model classifies students. Explainability helps us examine the information behind its predictions. Globally, the number of assessments submitted was the most influential feature in the SHAP analysis, contributing more than four times as much as the next feature. Other prominent features included active days, module FFF, and mean assessment score. I also compared SHAP and LIME on a sample of 40 students. Both methods identified assessments submitted as the leading feature, and six additional features overlapped in their respective top-ten rankings. At the individual level, their average top-five overlap was 0.635, with a standard deviation of 0.197. This indicates partial agreement, rather than complete agreement. That is one reason I retained both methods in the dashboard: they provide complementary perspectives on the model's reasoning. There is also an important caution. These explanations describe how features contribute to the model's prediction. They do not establish that those features cause a student to fail or withdraw. For example, clicks recorded in the 28 days before deadlines showed a counter-intuitive relationship with risk. Their correlation with total clicks was 0.98, suggesting that collinearity may be influencing the attribution. This is precisely why explanations need to be interpreted critically rather than treated as definitive evidence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how the research translates into a working interface. The instructor view presents individual students ranked by risk, with SHAP and LIME explanations displayed side by side for a selected student. The advisor view presents a caseload across modules, with reasoning aggregated across the relevant students. The administrator view provides an institution-level perspective, including model performance and the main drivers identified by the model. The prediction system remains the same, but the way the information is organised changes according to the responsibilities of each role. That is the central design contribution of the dashboard. I should emphasise that these role-specific views were derived from CommonKADS and the literature. Although the system was implemented, real staff have not yet evaluated whether the views meet their needs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makes four main contributions. First, it integrates prediction and explanation into a working system connected to learning management platforms. Second, it demonstrates a role-aware dashboard design that provides individual, caseload, and institution-level views. Third, it applies CommonKADS to the design of an explainable learning analytics system. Fourth, it provides an empirical comparison of where SHAP and LIME agree and differ in explaining the model's predictions. However, these contributions must be considered alongside the limitations. The evaluation used one dataset, the features support retrospective rather than early-warning classification, and no practitioner study was conducted. Additional checks on explanation stability, fidelity, probability calibration, and fairness were also not completed. I consider these limitations important because a technically promising system is not automatically a system that is reliable, fair, or useful in real educational settings.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first research question was addressed by integrating SHAP and LIME into a CommonKADS-informed prediction and explanation pipeline. The methods agreed on the main global driver but showed only partial agreement for individual students. The second question was addressed through the design and implementation of instructor, advisor, and administrator views in Moodle and Canvas. For the third question, the technical evaluation provides evidence of predictive performance and an implemented explanation workflow. However, whether practitioners can use these explanations effectively remains an open question. The next stage of the research would evaluate early-warning performance using data available at weeks two, four, six, and eight; assess probability calibration and fairness across subgroups; and conduct a practitioner study informed by the Technology Acceptance Model. Ultimately, the goal is not simply to predict which students may be at risk. It is to make those predictions more interpretable and appropriately accessible to the people who may be able to support them. Thank you for listening. I welcome your questions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ctrTitle"/>
          </p:nvPr>
        </p:nvSpPr>
        <p:spPr>
          <a:xfrm>
            <a:off x="2267744" y="764704"/>
            <a:ext cx="6421910" cy="1005670"/>
          </a:xfrm>
        </p:spPr>
        <p:txBody>
          <a:bodyPr/>
          <a:lstStyle/>
          <a:p>
            <a:r>
              <a:rPr lang="en-US" smtClean="0"/>
              <a:t>Click to edit Master title style</a:t>
            </a:r>
            <a:endParaRPr lang="en-GB"/>
          </a:p>
        </p:txBody>
      </p:sp>
      <p:sp>
        <p:nvSpPr>
          <p:cNvPr id="3" name="Subtitle 2"/>
          <p:cNvSpPr>
            <a:spLocks noGrp="1"/>
          </p:cNvSpPr>
          <p:nvPr>
            <p:ph type="subTitle" idx="1"/>
          </p:nvPr>
        </p:nvSpPr>
        <p:spPr>
          <a:xfrm>
            <a:off x="2715222" y="2520478"/>
            <a:ext cx="5288632" cy="119898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a:xfrm>
            <a:off x="457200" y="6453336"/>
            <a:ext cx="2133600" cy="268139"/>
          </a:xfrm>
          <a:prstGeom prst="rect">
            <a:avLst/>
          </a:prstGeom>
        </p:spPr>
        <p:txBody>
          <a:bodyPr/>
          <a:lstStyle>
            <a:lvl1pPr>
              <a:defRPr b="1">
                <a:solidFill>
                  <a:schemeClr val="bg1"/>
                </a:solidFill>
              </a:defRPr>
            </a:lvl1pPr>
          </a:lstStyle>
          <a:p>
            <a:fld id="{EA5302B5-21DE-4FBA-8CF9-C4C3BDE1BFE6}" type="datetimeFigureOut">
              <a:rPr lang="en-GB" smtClean="0"/>
              <a:pPr/>
              <a:t>14/02/2018</a:t>
            </a:fld>
            <a:endParaRPr lang="en-GB"/>
          </a:p>
        </p:txBody>
      </p:sp>
      <p:sp>
        <p:nvSpPr>
          <p:cNvPr id="5" name="Footer Placeholder 4"/>
          <p:cNvSpPr>
            <a:spLocks noGrp="1"/>
          </p:cNvSpPr>
          <p:nvPr>
            <p:ph type="ftr" sz="quarter" idx="11"/>
          </p:nvPr>
        </p:nvSpPr>
        <p:spPr>
          <a:xfrm>
            <a:off x="3124200" y="6453336"/>
            <a:ext cx="2895600" cy="268139"/>
          </a:xfrm>
          <a:prstGeom prst="rect">
            <a:avLst/>
          </a:prstGeom>
        </p:spPr>
        <p:txBody>
          <a:bodyPr/>
          <a:lstStyle>
            <a:lvl1pPr>
              <a:defRPr b="1">
                <a:solidFill>
                  <a:schemeClr val="bg1"/>
                </a:solidFill>
              </a:defRPr>
            </a:lvl1pPr>
          </a:lstStyle>
          <a:p>
            <a:endParaRPr lang="en-GB"/>
          </a:p>
        </p:txBody>
      </p:sp>
      <p:sp>
        <p:nvSpPr>
          <p:cNvPr id="6" name="Slide Number Placeholder 5"/>
          <p:cNvSpPr>
            <a:spLocks noGrp="1"/>
          </p:cNvSpPr>
          <p:nvPr>
            <p:ph type="sldNum" sz="quarter" idx="12"/>
          </p:nvPr>
        </p:nvSpPr>
        <p:spPr>
          <a:xfrm>
            <a:off x="6553200" y="6453336"/>
            <a:ext cx="2133600" cy="268139"/>
          </a:xfrm>
          <a:prstGeom prst="rect">
            <a:avLst/>
          </a:prstGeom>
        </p:spPr>
        <p:txBody>
          <a:bodyPr/>
          <a:lstStyle>
            <a:lvl1pPr>
              <a:defRPr b="1">
                <a:solidFill>
                  <a:schemeClr val="bg1"/>
                </a:solidFill>
              </a:defRPr>
            </a:lvl1pPr>
          </a:lstStyle>
          <a:p>
            <a:fld id="{0C464BB3-966C-49F7-8D8F-C9590D0D1052}"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123728" y="448064"/>
            <a:ext cx="6563072"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2123728" y="1773626"/>
            <a:ext cx="6563072" cy="460770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8" name="Date Placeholder 3"/>
          <p:cNvSpPr>
            <a:spLocks noGrp="1"/>
          </p:cNvSpPr>
          <p:nvPr>
            <p:ph type="dt" sz="half" idx="10"/>
          </p:nvPr>
        </p:nvSpPr>
        <p:spPr>
          <a:xfrm>
            <a:off x="457200" y="6453336"/>
            <a:ext cx="2133600" cy="268139"/>
          </a:xfrm>
        </p:spPr>
        <p:txBody>
          <a:bodyPr/>
          <a:lstStyle>
            <a:lvl1pPr>
              <a:defRPr b="1">
                <a:solidFill>
                  <a:schemeClr val="bg1"/>
                </a:solidFill>
              </a:defRPr>
            </a:lvl1pPr>
          </a:lstStyle>
          <a:p>
            <a:fld id="{EA5302B5-21DE-4FBA-8CF9-C4C3BDE1BFE6}" type="datetimeFigureOut">
              <a:rPr lang="en-GB" smtClean="0"/>
              <a:pPr/>
              <a:t>14/02/2018</a:t>
            </a:fld>
            <a:endParaRPr lang="en-GB"/>
          </a:p>
        </p:txBody>
      </p:sp>
      <p:sp>
        <p:nvSpPr>
          <p:cNvPr id="9" name="Footer Placeholder 4"/>
          <p:cNvSpPr>
            <a:spLocks noGrp="1"/>
          </p:cNvSpPr>
          <p:nvPr>
            <p:ph type="ftr" sz="quarter" idx="11"/>
          </p:nvPr>
        </p:nvSpPr>
        <p:spPr>
          <a:xfrm>
            <a:off x="3124200" y="6453336"/>
            <a:ext cx="2895600" cy="268139"/>
          </a:xfrm>
        </p:spPr>
        <p:txBody>
          <a:bodyPr/>
          <a:lstStyle>
            <a:lvl1pPr>
              <a:defRPr b="1">
                <a:solidFill>
                  <a:schemeClr val="bg1"/>
                </a:solidFill>
              </a:defRPr>
            </a:lvl1pPr>
          </a:lstStyle>
          <a:p>
            <a:endParaRPr lang="en-GB"/>
          </a:p>
        </p:txBody>
      </p:sp>
      <p:sp>
        <p:nvSpPr>
          <p:cNvPr id="10" name="Slide Number Placeholder 5"/>
          <p:cNvSpPr>
            <a:spLocks noGrp="1"/>
          </p:cNvSpPr>
          <p:nvPr>
            <p:ph type="sldNum" sz="quarter" idx="12"/>
          </p:nvPr>
        </p:nvSpPr>
        <p:spPr>
          <a:xfrm>
            <a:off x="6553200" y="6453336"/>
            <a:ext cx="2133600" cy="268139"/>
          </a:xfrm>
        </p:spPr>
        <p:txBody>
          <a:bodyPr/>
          <a:lstStyle>
            <a:lvl1pPr>
              <a:defRPr b="1">
                <a:solidFill>
                  <a:schemeClr val="bg1"/>
                </a:solidFill>
              </a:defRPr>
            </a:lvl1pPr>
          </a:lstStyle>
          <a:p>
            <a:fld id="{0C464BB3-966C-49F7-8D8F-C9590D0D1052}"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195735" y="4406900"/>
            <a:ext cx="6408713"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2195735" y="692697"/>
            <a:ext cx="6408713" cy="3714204"/>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453336"/>
            <a:ext cx="2133600" cy="268139"/>
          </a:xfrm>
          <a:prstGeom prst="rect">
            <a:avLst/>
          </a:prstGeom>
        </p:spPr>
        <p:txBody>
          <a:bodyPr/>
          <a:lstStyle/>
          <a:p>
            <a:fld id="{EA5302B5-21DE-4FBA-8CF9-C4C3BDE1BFE6}" type="datetimeFigureOut">
              <a:rPr lang="en-GB" smtClean="0"/>
              <a:pPr/>
              <a:t>14/02/2018</a:t>
            </a:fld>
            <a:endParaRPr lang="en-GB"/>
          </a:p>
        </p:txBody>
      </p:sp>
      <p:sp>
        <p:nvSpPr>
          <p:cNvPr id="5" name="Footer Placeholder 4"/>
          <p:cNvSpPr>
            <a:spLocks noGrp="1"/>
          </p:cNvSpPr>
          <p:nvPr>
            <p:ph type="ftr" sz="quarter" idx="11"/>
          </p:nvPr>
        </p:nvSpPr>
        <p:spPr>
          <a:xfrm>
            <a:off x="3124200" y="6453336"/>
            <a:ext cx="2895600" cy="268139"/>
          </a:xfrm>
          <a:prstGeom prst="rect">
            <a:avLst/>
          </a:prstGeom>
        </p:spPr>
        <p:txBody>
          <a:bodyPr/>
          <a:lstStyle/>
          <a:p>
            <a:endParaRPr lang="en-GB"/>
          </a:p>
        </p:txBody>
      </p:sp>
      <p:sp>
        <p:nvSpPr>
          <p:cNvPr id="6" name="Slide Number Placeholder 5"/>
          <p:cNvSpPr>
            <a:spLocks noGrp="1"/>
          </p:cNvSpPr>
          <p:nvPr>
            <p:ph type="sldNum" sz="quarter" idx="12"/>
          </p:nvPr>
        </p:nvSpPr>
        <p:spPr>
          <a:xfrm>
            <a:off x="6553200" y="6453336"/>
            <a:ext cx="2133600" cy="268139"/>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195736" y="404664"/>
            <a:ext cx="6491064" cy="1012974"/>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2199928" y="1600200"/>
            <a:ext cx="30921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5508104" y="1600200"/>
            <a:ext cx="30921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a:xfrm>
            <a:off x="457200" y="6453336"/>
            <a:ext cx="2133600" cy="268139"/>
          </a:xfrm>
          <a:prstGeom prst="rect">
            <a:avLst/>
          </a:prstGeom>
        </p:spPr>
        <p:txBody>
          <a:bodyPr/>
          <a:lstStyle/>
          <a:p>
            <a:fld id="{EA5302B5-21DE-4FBA-8CF9-C4C3BDE1BFE6}" type="datetimeFigureOut">
              <a:rPr lang="en-GB" smtClean="0"/>
              <a:pPr/>
              <a:t>14/02/2018</a:t>
            </a:fld>
            <a:endParaRPr lang="en-GB"/>
          </a:p>
        </p:txBody>
      </p:sp>
      <p:sp>
        <p:nvSpPr>
          <p:cNvPr id="6" name="Footer Placeholder 5"/>
          <p:cNvSpPr>
            <a:spLocks noGrp="1"/>
          </p:cNvSpPr>
          <p:nvPr>
            <p:ph type="ftr" sz="quarter" idx="11"/>
          </p:nvPr>
        </p:nvSpPr>
        <p:spPr>
          <a:xfrm>
            <a:off x="3124200" y="6453336"/>
            <a:ext cx="2895600" cy="268139"/>
          </a:xfrm>
          <a:prstGeom prst="rect">
            <a:avLst/>
          </a:prstGeom>
        </p:spPr>
        <p:txBody>
          <a:bodyPr/>
          <a:lstStyle/>
          <a:p>
            <a:endParaRPr lang="en-GB"/>
          </a:p>
        </p:txBody>
      </p:sp>
      <p:sp>
        <p:nvSpPr>
          <p:cNvPr id="7" name="Slide Number Placeholder 6"/>
          <p:cNvSpPr>
            <a:spLocks noGrp="1"/>
          </p:cNvSpPr>
          <p:nvPr>
            <p:ph type="sldNum" sz="quarter" idx="12"/>
          </p:nvPr>
        </p:nvSpPr>
        <p:spPr>
          <a:xfrm>
            <a:off x="6553200" y="6453336"/>
            <a:ext cx="2133600" cy="268139"/>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123728" y="404664"/>
            <a:ext cx="6552728" cy="1012974"/>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2148438" y="1646262"/>
            <a:ext cx="315546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148438" y="2286024"/>
            <a:ext cx="315546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5472453" y="1646262"/>
            <a:ext cx="315670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472453" y="2286024"/>
            <a:ext cx="31567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a:xfrm>
            <a:off x="457200" y="6453336"/>
            <a:ext cx="2133600" cy="268139"/>
          </a:xfrm>
          <a:prstGeom prst="rect">
            <a:avLst/>
          </a:prstGeom>
        </p:spPr>
        <p:txBody>
          <a:bodyPr/>
          <a:lstStyle/>
          <a:p>
            <a:fld id="{EA5302B5-21DE-4FBA-8CF9-C4C3BDE1BFE6}" type="datetimeFigureOut">
              <a:rPr lang="en-GB" smtClean="0"/>
              <a:pPr/>
              <a:t>14/02/2018</a:t>
            </a:fld>
            <a:endParaRPr lang="en-GB"/>
          </a:p>
        </p:txBody>
      </p:sp>
      <p:sp>
        <p:nvSpPr>
          <p:cNvPr id="8" name="Footer Placeholder 7"/>
          <p:cNvSpPr>
            <a:spLocks noGrp="1"/>
          </p:cNvSpPr>
          <p:nvPr>
            <p:ph type="ftr" sz="quarter" idx="11"/>
          </p:nvPr>
        </p:nvSpPr>
        <p:spPr>
          <a:xfrm>
            <a:off x="3124200" y="6453336"/>
            <a:ext cx="2895600" cy="268139"/>
          </a:xfrm>
          <a:prstGeom prst="rect">
            <a:avLst/>
          </a:prstGeom>
        </p:spPr>
        <p:txBody>
          <a:bodyPr/>
          <a:lstStyle/>
          <a:p>
            <a:endParaRPr lang="en-GB"/>
          </a:p>
        </p:txBody>
      </p:sp>
      <p:sp>
        <p:nvSpPr>
          <p:cNvPr id="9" name="Slide Number Placeholder 8"/>
          <p:cNvSpPr>
            <a:spLocks noGrp="1"/>
          </p:cNvSpPr>
          <p:nvPr>
            <p:ph type="sldNum" sz="quarter" idx="12"/>
          </p:nvPr>
        </p:nvSpPr>
        <p:spPr>
          <a:xfrm>
            <a:off x="6553200" y="6453336"/>
            <a:ext cx="2133600" cy="268139"/>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2" descr="E:\AUN COVER PAGE landscape4.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2051720" y="404664"/>
            <a:ext cx="6635080" cy="1012974"/>
          </a:xfrm>
        </p:spPr>
        <p:txBody>
          <a:bodyPr/>
          <a:lstStyle/>
          <a:p>
            <a:r>
              <a:rPr lang="en-US" smtClean="0"/>
              <a:t>Click to edit Master title style</a:t>
            </a:r>
            <a:endParaRPr lang="en-GB"/>
          </a:p>
        </p:txBody>
      </p:sp>
      <p:sp>
        <p:nvSpPr>
          <p:cNvPr id="3" name="Date Placeholder 2"/>
          <p:cNvSpPr>
            <a:spLocks noGrp="1"/>
          </p:cNvSpPr>
          <p:nvPr>
            <p:ph type="dt" sz="half" idx="10"/>
          </p:nvPr>
        </p:nvSpPr>
        <p:spPr>
          <a:xfrm>
            <a:off x="457200" y="6453336"/>
            <a:ext cx="2133600" cy="268139"/>
          </a:xfrm>
          <a:prstGeom prst="rect">
            <a:avLst/>
          </a:prstGeom>
        </p:spPr>
        <p:txBody>
          <a:bodyPr/>
          <a:lstStyle/>
          <a:p>
            <a:fld id="{EA5302B5-21DE-4FBA-8CF9-C4C3BDE1BFE6}" type="datetimeFigureOut">
              <a:rPr lang="en-GB" smtClean="0"/>
              <a:pPr/>
              <a:t>14/02/2018</a:t>
            </a:fld>
            <a:endParaRPr lang="en-GB"/>
          </a:p>
        </p:txBody>
      </p:sp>
      <p:sp>
        <p:nvSpPr>
          <p:cNvPr id="4" name="Footer Placeholder 3"/>
          <p:cNvSpPr>
            <a:spLocks noGrp="1"/>
          </p:cNvSpPr>
          <p:nvPr>
            <p:ph type="ftr" sz="quarter" idx="11"/>
          </p:nvPr>
        </p:nvSpPr>
        <p:spPr>
          <a:xfrm>
            <a:off x="3124200" y="6453336"/>
            <a:ext cx="2895600" cy="268139"/>
          </a:xfrm>
          <a:prstGeom prst="rect">
            <a:avLst/>
          </a:prstGeom>
        </p:spPr>
        <p:txBody>
          <a:bodyPr/>
          <a:lstStyle/>
          <a:p>
            <a:endParaRPr lang="en-GB"/>
          </a:p>
        </p:txBody>
      </p:sp>
      <p:sp>
        <p:nvSpPr>
          <p:cNvPr id="5" name="Slide Number Placeholder 4"/>
          <p:cNvSpPr>
            <a:spLocks noGrp="1"/>
          </p:cNvSpPr>
          <p:nvPr>
            <p:ph type="sldNum" sz="quarter" idx="12"/>
          </p:nvPr>
        </p:nvSpPr>
        <p:spPr>
          <a:xfrm>
            <a:off x="6553200" y="6453336"/>
            <a:ext cx="2133600" cy="268139"/>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075" name="Picture 3" descr="E:\AUN COVER PAGE landscape.jpg"/>
          <p:cNvPicPr>
            <a:picLocks noChangeAspect="1" noChangeArrowheads="1"/>
          </p:cNvPicPr>
          <p:nvPr userDrawn="1"/>
        </p:nvPicPr>
        <p:blipFill>
          <a:blip r:embed="rId2" cstate="print"/>
          <a:srcRect/>
          <a:stretch>
            <a:fillRect/>
          </a:stretch>
        </p:blipFill>
        <p:spPr bwMode="auto">
          <a:xfrm>
            <a:off x="-774700" y="-352425"/>
            <a:ext cx="10694988" cy="7564438"/>
          </a:xfrm>
          <a:prstGeom prst="rect">
            <a:avLst/>
          </a:prstGeom>
          <a:noFill/>
        </p:spPr>
      </p:pic>
      <p:sp>
        <p:nvSpPr>
          <p:cNvPr id="7" name="Title 6"/>
          <p:cNvSpPr>
            <a:spLocks noGrp="1"/>
          </p:cNvSpPr>
          <p:nvPr>
            <p:ph type="title"/>
          </p:nvPr>
        </p:nvSpPr>
        <p:spPr>
          <a:xfrm>
            <a:off x="1187624" y="274638"/>
            <a:ext cx="7499176" cy="1143000"/>
          </a:xfrm>
        </p:spPr>
        <p:txBody>
          <a:bodyPr/>
          <a:lstStyle/>
          <a:p>
            <a:r>
              <a:rPr lang="en-US" dirty="0" smtClean="0"/>
              <a:t>Click to edit Master title style</a:t>
            </a:r>
            <a:endParaRPr lang="en-GB" dirty="0"/>
          </a:p>
        </p:txBody>
      </p:sp>
      <p:sp>
        <p:nvSpPr>
          <p:cNvPr id="11" name="Text Placeholder 10"/>
          <p:cNvSpPr>
            <a:spLocks noGrp="1"/>
          </p:cNvSpPr>
          <p:nvPr>
            <p:ph type="body" sz="quarter" idx="14"/>
          </p:nvPr>
        </p:nvSpPr>
        <p:spPr>
          <a:xfrm>
            <a:off x="2843212" y="1773238"/>
            <a:ext cx="5977259" cy="914400"/>
          </a:xfrm>
        </p:spPr>
        <p:txBody>
          <a:bodyPr/>
          <a:lstStyle>
            <a:lvl1pPr>
              <a:buNone/>
              <a:defRPr/>
            </a:lvl1pPr>
          </a:lstStyle>
          <a:p>
            <a:pPr lvl="0"/>
            <a:endParaRPr lang="en-GB" dirty="0"/>
          </a:p>
        </p:txBody>
      </p:sp>
      <p:sp>
        <p:nvSpPr>
          <p:cNvPr id="17" name="Text Placeholder 16"/>
          <p:cNvSpPr>
            <a:spLocks noGrp="1"/>
          </p:cNvSpPr>
          <p:nvPr>
            <p:ph type="body" sz="quarter" idx="15" hasCustomPrompt="1"/>
          </p:nvPr>
        </p:nvSpPr>
        <p:spPr>
          <a:xfrm>
            <a:off x="5436096" y="5300662"/>
            <a:ext cx="3707904" cy="1368697"/>
          </a:xfrm>
        </p:spPr>
        <p:txBody>
          <a:bodyPr/>
          <a:lstStyle>
            <a:lvl1pPr>
              <a:defRPr sz="2800" b="1"/>
            </a:lvl1pPr>
            <a:lvl2pPr>
              <a:buNone/>
              <a:defRPr/>
            </a:lvl2pPr>
          </a:lstStyle>
          <a:p>
            <a:pPr lvl="0"/>
            <a:r>
              <a:rPr lang="en-US" dirty="0" smtClean="0"/>
              <a:t>Abba </a:t>
            </a:r>
            <a:r>
              <a:rPr lang="en-US" dirty="0" err="1" smtClean="0"/>
              <a:t>Tahir</a:t>
            </a:r>
            <a:endParaRPr lang="en-US" dirty="0" smtClean="0"/>
          </a:p>
          <a:p>
            <a:pPr lvl="1"/>
            <a:r>
              <a:rPr lang="en-US" dirty="0" smtClean="0"/>
              <a:t>abba@aun.edu.ng</a:t>
            </a:r>
          </a:p>
          <a:p>
            <a:pPr lvl="0"/>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EA5302B5-21DE-4FBA-8CF9-C4C3BDE1BFE6}" type="datetimeFigureOut">
              <a:rPr lang="en-GB" smtClean="0"/>
              <a:pPr/>
              <a:t>14/02/2018</a:t>
            </a:fld>
            <a:endParaRPr lang="en-GB"/>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EA5302B5-21DE-4FBA-8CF9-C4C3BDE1BFE6}" type="datetimeFigureOut">
              <a:rPr lang="en-GB" smtClean="0"/>
              <a:pPr/>
              <a:t>14/02/2018</a:t>
            </a:fld>
            <a:endParaRPr lang="en-GB"/>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EA5302B5-21DE-4FBA-8CF9-C4C3BDE1BFE6}" type="datetimeFigureOut">
              <a:rPr lang="en-GB" smtClean="0"/>
              <a:pPr/>
              <a:t>14/02/2018</a:t>
            </a:fld>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EA5302B5-21DE-4FBA-8CF9-C4C3BDE1BFE6}" type="datetimeFigureOut">
              <a:rPr lang="en-GB" smtClean="0"/>
              <a:pPr/>
              <a:t>14/02/2018</a:t>
            </a:fld>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C464BB3-966C-49F7-8D8F-C9590D0D1052}"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050" name="Picture 2" descr="E:\AUN COVER PAGE landscape...jpg"/>
          <p:cNvPicPr>
            <a:picLocks noChangeAspect="1" noChangeArrowheads="1"/>
          </p:cNvPicPr>
          <p:nvPr userDrawn="1"/>
        </p:nvPicPr>
        <p:blipFill>
          <a:blip r:embed="rId2" cstate="print"/>
          <a:srcRect/>
          <a:stretch>
            <a:fillRect/>
          </a:stretch>
        </p:blipFill>
        <p:spPr bwMode="auto">
          <a:xfrm>
            <a:off x="-180528" y="0"/>
            <a:ext cx="9324528" cy="6858000"/>
          </a:xfrm>
          <a:prstGeom prst="rect">
            <a:avLst/>
          </a:prstGeom>
          <a:noFill/>
        </p:spPr>
      </p:pic>
      <p:sp>
        <p:nvSpPr>
          <p:cNvPr id="3" name="Date Placeholder 2"/>
          <p:cNvSpPr>
            <a:spLocks noGrp="1"/>
          </p:cNvSpPr>
          <p:nvPr>
            <p:ph type="dt" sz="half" idx="10"/>
          </p:nvPr>
        </p:nvSpPr>
        <p:spPr/>
        <p:txBody>
          <a:bodyPr/>
          <a:lstStyle/>
          <a:p>
            <a:fld id="{EA5302B5-21DE-4FBA-8CF9-C4C3BDE1BFE6}" type="datetimeFigureOut">
              <a:rPr lang="en-GB" smtClean="0"/>
              <a:pPr/>
              <a:t>14/02/2018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C464BB3-966C-49F7-8D8F-C9590D0D1052}" type="slidenum">
              <a:rPr lang="en-GB" smtClean="0"/>
              <a:pPr/>
              <a:t>‹#›</a:t>
            </a:fld>
            <a:endParaRPr lang="en-GB"/>
          </a:p>
        </p:txBody>
      </p:sp>
      <p:sp>
        <p:nvSpPr>
          <p:cNvPr id="8" name="Text Placeholder 7"/>
          <p:cNvSpPr>
            <a:spLocks noGrp="1"/>
          </p:cNvSpPr>
          <p:nvPr>
            <p:ph type="body" sz="quarter" idx="13"/>
          </p:nvPr>
        </p:nvSpPr>
        <p:spPr>
          <a:xfrm>
            <a:off x="1403648" y="1628800"/>
            <a:ext cx="7272808" cy="194421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9" name="Title 8"/>
          <p:cNvSpPr>
            <a:spLocks noGrp="1"/>
          </p:cNvSpPr>
          <p:nvPr>
            <p:ph type="title"/>
          </p:nvPr>
        </p:nvSpPr>
        <p:spPr>
          <a:xfrm>
            <a:off x="1403648" y="404664"/>
            <a:ext cx="7283152" cy="1012974"/>
          </a:xfrm>
        </p:spPr>
        <p:txBody>
          <a:bodyPr/>
          <a:lstStyle>
            <a:lvl1pPr>
              <a:defRPr>
                <a:solidFill>
                  <a:schemeClr val="bg1"/>
                </a:solidFill>
              </a:defRPr>
            </a:lvl1pPr>
          </a:lstStyle>
          <a:p>
            <a:r>
              <a:rPr lang="en-US" smtClean="0"/>
              <a:t>Click to edit Master title style</a:t>
            </a:r>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677FA41-CDBD-4E3A-B324-6BBBCA1966F6}" type="datetimeFigureOut">
              <a:rPr lang="en-GB" smtClean="0"/>
              <a:pPr/>
              <a:t>14/02/2018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C44AE36-21C1-406F-A08D-BFA7A984A49B}"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2" name="Date Placeholder 3"/>
          <p:cNvSpPr>
            <a:spLocks noGrp="1"/>
          </p:cNvSpPr>
          <p:nvPr>
            <p:ph type="dt" sz="half" idx="2"/>
          </p:nvPr>
        </p:nvSpPr>
        <p:spPr>
          <a:xfrm>
            <a:off x="457200" y="6453336"/>
            <a:ext cx="2133600" cy="268139"/>
          </a:xfrm>
          <a:prstGeom prst="rect">
            <a:avLst/>
          </a:prstGeom>
        </p:spPr>
        <p:txBody>
          <a:bodyPr/>
          <a:lstStyle>
            <a:lvl1pPr>
              <a:defRPr b="1">
                <a:solidFill>
                  <a:schemeClr val="bg1"/>
                </a:solidFill>
              </a:defRPr>
            </a:lvl1pPr>
          </a:lstStyle>
          <a:p>
            <a:fld id="{EA5302B5-21DE-4FBA-8CF9-C4C3BDE1BFE6}" type="datetimeFigureOut">
              <a:rPr lang="en-GB" smtClean="0"/>
              <a:pPr/>
              <a:t>14/02/2018</a:t>
            </a:fld>
            <a:endParaRPr lang="en-GB"/>
          </a:p>
        </p:txBody>
      </p:sp>
      <p:sp>
        <p:nvSpPr>
          <p:cNvPr id="13" name="Footer Placeholder 4"/>
          <p:cNvSpPr>
            <a:spLocks noGrp="1"/>
          </p:cNvSpPr>
          <p:nvPr>
            <p:ph type="ftr" sz="quarter" idx="3"/>
          </p:nvPr>
        </p:nvSpPr>
        <p:spPr>
          <a:xfrm>
            <a:off x="3124200" y="6453336"/>
            <a:ext cx="2895600" cy="268139"/>
          </a:xfrm>
          <a:prstGeom prst="rect">
            <a:avLst/>
          </a:prstGeom>
        </p:spPr>
        <p:txBody>
          <a:bodyPr/>
          <a:lstStyle>
            <a:lvl1pPr>
              <a:defRPr b="1">
                <a:solidFill>
                  <a:schemeClr val="bg1"/>
                </a:solidFill>
              </a:defRPr>
            </a:lvl1pPr>
          </a:lstStyle>
          <a:p>
            <a:endParaRPr lang="en-GB"/>
          </a:p>
        </p:txBody>
      </p:sp>
      <p:sp>
        <p:nvSpPr>
          <p:cNvPr id="14" name="Slide Number Placeholder 5"/>
          <p:cNvSpPr>
            <a:spLocks noGrp="1"/>
          </p:cNvSpPr>
          <p:nvPr>
            <p:ph type="sldNum" sz="quarter" idx="4"/>
          </p:nvPr>
        </p:nvSpPr>
        <p:spPr>
          <a:xfrm>
            <a:off x="6553200" y="6453336"/>
            <a:ext cx="2133600" cy="268139"/>
          </a:xfrm>
          <a:prstGeom prst="rect">
            <a:avLst/>
          </a:prstGeom>
        </p:spPr>
        <p:txBody>
          <a:bodyPr/>
          <a:lstStyle>
            <a:lvl1pPr>
              <a:defRPr b="1">
                <a:solidFill>
                  <a:schemeClr val="bg1"/>
                </a:solidFill>
              </a:defRPr>
            </a:lvl1pPr>
          </a:lstStyle>
          <a:p>
            <a:fld id="{0C464BB3-966C-49F7-8D8F-C9590D0D1052}"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7FA41-CDBD-4E3A-B324-6BBBCA1966F6}" type="datetimeFigureOut">
              <a:rPr lang="en-GB" smtClean="0"/>
              <a:pPr/>
              <a:t>14/02/2018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44AE36-21C1-406F-A08D-BFA7A984A49B}"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1403648" y="2514600"/>
            <a:ext cx="7272808" cy="1905000"/>
          </a:xfrm>
        </p:spPr>
        <p:txBody>
          <a:bodyPr>
            <a:normAutofit/>
          </a:bodyPr>
          <a:lstStyle/>
          <a:p>
            <a:pPr algn="ctr" marL="0" indent="0">
              <a:buNone/>
            </a:pPr>
            <a:r>
              <a:rPr lang="en-US" sz="6600" b="1" dirty="0" smtClean="0">
                <a:latin typeface="Copperplate Gothic Bold" pitchFamily="34" charset="0"/>
              </a:rPr>
              <a:t>THANK YOU</a:t>
            </a:r>
          </a:p>
        </p:txBody>
      </p:sp>
      <p:sp>
        <p:nvSpPr>
          <p:cNvPr id="3" name="Questions line"/>
          <p:cNvSpPr txBox="1"/>
          <p:nvPr/>
        </p:nvSpPr>
        <p:spPr>
          <a:xfrm>
            <a:off x="1403604" y="4526280"/>
            <a:ext cx="6647688" cy="548640"/>
          </a:xfrm>
          <a:prstGeom prst="rect">
            <a:avLst/>
          </a:prstGeom>
          <a:noFill/>
        </p:spPr>
        <p:txBody>
          <a:bodyPr wrap="square" anchor="t" lIns="0" rIns="0" tIns="0" bIns="0">
            <a:spAutoFit/>
          </a:bodyPr>
          <a:lstStyle/>
          <a:p>
            <a:pPr algn="ctr">
              <a:spcAft>
                <a:spcPts val="600"/>
              </a:spcAft>
            </a:pPr>
            <a:r>
              <a:rPr sz="2200" b="0" i="0">
                <a:solidFill>
                  <a:srgbClr val="FFFFFF"/>
                </a:solidFill>
                <a:latin typeface="Calibri"/>
              </a:rPr>
              <a:t>Questions and comments are welcome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1234440"/>
            <a:ext cx="6217920" cy="1737360"/>
          </a:xfrm>
        </p:spPr>
        <p:txBody>
          <a:bodyPr wrap="square" anchor="t" lIns="0" rIns="0"/>
          <a:lstStyle/>
          <a:p>
            <a:pPr algn="l"/>
            <a:r>
              <a:rPr sz="3000" b="1" i="0">
                <a:solidFill>
                  <a:srgbClr val="1F3864"/>
                </a:solidFill>
                <a:latin typeface="Calibri"/>
              </a:rPr>
              <a:t>A Role-Aware Explainable AI Dashboard for Student At-Risk Classification in Learning Management Systems</a:t>
            </a:r>
          </a:p>
        </p:txBody>
      </p:sp>
      <p:sp>
        <p:nvSpPr>
          <p:cNvPr id="3" name="Cover label"/>
          <p:cNvSpPr txBox="1"/>
          <p:nvPr/>
        </p:nvSpPr>
        <p:spPr>
          <a:xfrm>
            <a:off x="2286000" y="822960"/>
            <a:ext cx="6217920" cy="320040"/>
          </a:xfrm>
          <a:prstGeom prst="rect">
            <a:avLst/>
          </a:prstGeom>
          <a:noFill/>
        </p:spPr>
        <p:txBody>
          <a:bodyPr wrap="square" anchor="t" lIns="0" rIns="0" tIns="0" bIns="0">
            <a:spAutoFit/>
          </a:bodyPr>
          <a:lstStyle/>
          <a:p>
            <a:pPr algn="l">
              <a:spcAft>
                <a:spcPts val="600"/>
              </a:spcAft>
            </a:pPr>
            <a:r>
              <a:rPr sz="1400" b="1" i="0">
                <a:solidFill>
                  <a:srgbClr val="C00000"/>
                </a:solidFill>
                <a:latin typeface="Calibri"/>
              </a:rPr>
              <a:t>MSc THESIS  |  INTERNAL DEFENSE</a:t>
            </a:r>
          </a:p>
        </p:txBody>
      </p:sp>
      <p:sp>
        <p:nvSpPr>
          <p:cNvPr id="4" name="Cover details"/>
          <p:cNvSpPr txBox="1"/>
          <p:nvPr/>
        </p:nvSpPr>
        <p:spPr>
          <a:xfrm>
            <a:off x="2286000" y="3429000"/>
            <a:ext cx="6217920" cy="2194560"/>
          </a:xfrm>
          <a:prstGeom prst="rect">
            <a:avLst/>
          </a:prstGeom>
          <a:noFill/>
        </p:spPr>
        <p:txBody>
          <a:bodyPr wrap="square" anchor="t" lIns="0" rIns="0" tIns="0" bIns="0">
            <a:spAutoFit/>
          </a:bodyPr>
          <a:lstStyle/>
          <a:p>
            <a:pPr algn="l">
              <a:spcAft>
                <a:spcPts val="800"/>
              </a:spcAft>
            </a:pPr>
            <a:r>
              <a:rPr sz="2000" b="1" i="0">
                <a:solidFill>
                  <a:srgbClr val="1F3864"/>
                </a:solidFill>
                <a:latin typeface="Calibri"/>
              </a:rPr>
              <a:t>Daniel Larry  |  A00020528</a:t>
            </a:r>
          </a:p>
          <a:p>
            <a:pPr algn="l">
              <a:spcAft>
                <a:spcPts val="800"/>
              </a:spcAft>
            </a:pPr>
            <a:r>
              <a:rPr sz="1600" b="0" i="0">
                <a:solidFill>
                  <a:srgbClr val="26262E"/>
                </a:solidFill>
                <a:latin typeface="Calibri"/>
              </a:rPr>
              <a:t>Supervisor: Dr. Zainab Shamsiya Usman</a:t>
            </a:r>
          </a:p>
          <a:p>
            <a:pPr algn="l">
              <a:spcAft>
                <a:spcPts val="800"/>
              </a:spcAft>
            </a:pPr>
            <a:r>
              <a:rPr sz="1600" b="0" i="0">
                <a:solidFill>
                  <a:srgbClr val="26262E"/>
                </a:solidFill>
                <a:latin typeface="Calibri"/>
              </a:rPr>
              <a:t>Department of Computer Science</a:t>
            </a:r>
          </a:p>
          <a:p>
            <a:pPr algn="l">
              <a:spcAft>
                <a:spcPts val="800"/>
              </a:spcAft>
            </a:pPr>
            <a:r>
              <a:rPr sz="1500" b="0" i="0">
                <a:solidFill>
                  <a:srgbClr val="59595F"/>
                </a:solidFill>
                <a:latin typeface="Calibri"/>
              </a:rPr>
              <a:t>American University of Nigeria  |  October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Presentation Outline</a:t>
            </a:r>
          </a:p>
        </p:txBody>
      </p:sp>
      <p:sp>
        <p:nvSpPr>
          <p:cNvPr id="3" name="Outline"/>
          <p:cNvSpPr txBox="1"/>
          <p:nvPr/>
        </p:nvSpPr>
        <p:spPr>
          <a:xfrm>
            <a:off x="2286000" y="1463040"/>
            <a:ext cx="6217920" cy="4754880"/>
          </a:xfrm>
          <a:prstGeom prst="rect">
            <a:avLst/>
          </a:prstGeom>
          <a:noFill/>
        </p:spPr>
        <p:txBody>
          <a:bodyPr wrap="square" anchor="t" lIns="0" rIns="0" tIns="0" bIns="0">
            <a:spAutoFit/>
          </a:bodyPr>
          <a:lstStyle/>
          <a:p>
            <a:pPr algn="l">
              <a:spcAft>
                <a:spcPts val="1200"/>
              </a:spcAft>
            </a:pPr>
            <a:r>
              <a:rPr sz="2100" b="1" i="0">
                <a:solidFill>
                  <a:srgbClr val="C00000"/>
                </a:solidFill>
                <a:latin typeface="Calibri"/>
              </a:rPr>
              <a:t>1.  </a:t>
            </a:r>
            <a:r>
              <a:rPr sz="2100" b="0" i="0">
                <a:solidFill>
                  <a:srgbClr val="26262E"/>
                </a:solidFill>
                <a:latin typeface="Calibri"/>
              </a:rPr>
              <a:t>Background &amp; Problem Statement</a:t>
            </a:r>
          </a:p>
          <a:p>
            <a:pPr algn="l">
              <a:spcAft>
                <a:spcPts val="1200"/>
              </a:spcAft>
            </a:pPr>
            <a:r>
              <a:rPr sz="2100" b="1" i="0">
                <a:solidFill>
                  <a:srgbClr val="C00000"/>
                </a:solidFill>
                <a:latin typeface="Calibri"/>
              </a:rPr>
              <a:t>2.  </a:t>
            </a:r>
            <a:r>
              <a:rPr sz="2100" b="0" i="0">
                <a:solidFill>
                  <a:srgbClr val="26262E"/>
                </a:solidFill>
                <a:latin typeface="Calibri"/>
              </a:rPr>
              <a:t>Aim, Objectives &amp; Research Questions</a:t>
            </a:r>
          </a:p>
          <a:p>
            <a:pPr algn="l">
              <a:spcAft>
                <a:spcPts val="1200"/>
              </a:spcAft>
            </a:pPr>
            <a:r>
              <a:rPr sz="2100" b="1" i="0">
                <a:solidFill>
                  <a:srgbClr val="C00000"/>
                </a:solidFill>
                <a:latin typeface="Calibri"/>
              </a:rPr>
              <a:t>3.  </a:t>
            </a:r>
            <a:r>
              <a:rPr sz="2100" b="0" i="0">
                <a:solidFill>
                  <a:srgbClr val="26262E"/>
                </a:solidFill>
                <a:latin typeface="Calibri"/>
              </a:rPr>
              <a:t>Methodology: Knowledge Engineering</a:t>
            </a:r>
          </a:p>
          <a:p>
            <a:pPr algn="l">
              <a:spcAft>
                <a:spcPts val="1200"/>
              </a:spcAft>
            </a:pPr>
            <a:r>
              <a:rPr sz="2100" b="1" i="0">
                <a:solidFill>
                  <a:srgbClr val="C00000"/>
                </a:solidFill>
                <a:latin typeface="Calibri"/>
              </a:rPr>
              <a:t>4.  </a:t>
            </a:r>
            <a:r>
              <a:rPr sz="2100" b="0" i="0">
                <a:solidFill>
                  <a:srgbClr val="26262E"/>
                </a:solidFill>
                <a:latin typeface="Calibri"/>
              </a:rPr>
              <a:t>System Architecture &amp; Implementation</a:t>
            </a:r>
          </a:p>
          <a:p>
            <a:pPr algn="l">
              <a:spcAft>
                <a:spcPts val="1200"/>
              </a:spcAft>
            </a:pPr>
            <a:r>
              <a:rPr sz="2100" b="1" i="0">
                <a:solidFill>
                  <a:srgbClr val="C00000"/>
                </a:solidFill>
                <a:latin typeface="Calibri"/>
              </a:rPr>
              <a:t>5.  </a:t>
            </a:r>
            <a:r>
              <a:rPr sz="2100" b="0" i="0">
                <a:solidFill>
                  <a:srgbClr val="26262E"/>
                </a:solidFill>
                <a:latin typeface="Calibri"/>
              </a:rPr>
              <a:t>Dataset &amp; Evaluation Protocol</a:t>
            </a:r>
          </a:p>
          <a:p>
            <a:pPr algn="l">
              <a:spcAft>
                <a:spcPts val="1200"/>
              </a:spcAft>
            </a:pPr>
            <a:r>
              <a:rPr sz="2100" b="1" i="0">
                <a:solidFill>
                  <a:srgbClr val="C00000"/>
                </a:solidFill>
                <a:latin typeface="Calibri"/>
              </a:rPr>
              <a:t>6.  </a:t>
            </a:r>
            <a:r>
              <a:rPr sz="2100" b="0" i="0">
                <a:solidFill>
                  <a:srgbClr val="26262E"/>
                </a:solidFill>
                <a:latin typeface="Calibri"/>
              </a:rPr>
              <a:t>Results: Prediction &amp; Explainability</a:t>
            </a:r>
          </a:p>
          <a:p>
            <a:pPr algn="l">
              <a:spcAft>
                <a:spcPts val="1200"/>
              </a:spcAft>
            </a:pPr>
            <a:r>
              <a:rPr sz="2100" b="1" i="0">
                <a:solidFill>
                  <a:srgbClr val="C00000"/>
                </a:solidFill>
                <a:latin typeface="Calibri"/>
              </a:rPr>
              <a:t>7.  </a:t>
            </a:r>
            <a:r>
              <a:rPr sz="2100" b="0" i="0">
                <a:solidFill>
                  <a:srgbClr val="26262E"/>
                </a:solidFill>
                <a:latin typeface="Calibri"/>
              </a:rPr>
              <a:t>The Role-Aware Dashboard in Moodle</a:t>
            </a:r>
          </a:p>
          <a:p>
            <a:pPr algn="l">
              <a:spcAft>
                <a:spcPts val="1200"/>
              </a:spcAft>
            </a:pPr>
            <a:r>
              <a:rPr sz="2100" b="1" i="0">
                <a:solidFill>
                  <a:srgbClr val="C00000"/>
                </a:solidFill>
                <a:latin typeface="Calibri"/>
              </a:rPr>
              <a:t>8.  </a:t>
            </a:r>
            <a:r>
              <a:rPr sz="2100" b="0" i="0">
                <a:solidFill>
                  <a:srgbClr val="26262E"/>
                </a:solidFill>
                <a:latin typeface="Calibri"/>
              </a:rPr>
              <a:t>Contributions, Limitations &amp; Conclusion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Background &amp; Problem Statement</a:t>
            </a:r>
          </a:p>
        </p:txBody>
      </p:sp>
      <p:sp>
        <p:nvSpPr>
          <p:cNvPr id="3" name="Key message"/>
          <p:cNvSpPr txBox="1"/>
          <p:nvPr/>
        </p:nvSpPr>
        <p:spPr>
          <a:xfrm>
            <a:off x="2286000" y="1371600"/>
            <a:ext cx="6217920" cy="731520"/>
          </a:xfrm>
          <a:prstGeom prst="rect">
            <a:avLst/>
          </a:prstGeom>
          <a:noFill/>
        </p:spPr>
        <p:txBody>
          <a:bodyPr wrap="square" anchor="t" lIns="0" rIns="0" tIns="0" bIns="0">
            <a:spAutoFit/>
          </a:bodyPr>
          <a:lstStyle/>
          <a:p>
            <a:pPr algn="l">
              <a:spcAft>
                <a:spcPts val="600"/>
              </a:spcAft>
            </a:pPr>
            <a:r>
              <a:rPr sz="1900" b="1" i="0">
                <a:solidFill>
                  <a:srgbClr val="1F3864"/>
                </a:solidFill>
                <a:latin typeface="Calibri"/>
              </a:rPr>
              <a:t>The challenge is not obtaining a prediction; it is what happens after it.</a:t>
            </a:r>
          </a:p>
        </p:txBody>
      </p:sp>
      <p:sp>
        <p:nvSpPr>
          <p:cNvPr id="4" name="Problem"/>
          <p:cNvSpPr txBox="1"/>
          <p:nvPr/>
        </p:nvSpPr>
        <p:spPr>
          <a:xfrm>
            <a:off x="2286000" y="2240280"/>
            <a:ext cx="2926080" cy="20116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PROBLEM STATEMENT</a:t>
            </a:r>
          </a:p>
          <a:p>
            <a:pPr algn="l" marL="201168" indent="-201168">
              <a:spcAft>
                <a:spcPts val="600"/>
              </a:spcAft>
              <a:buClr>
                <a:srgbClr val="1F3864"/>
              </a:buClr>
              <a:buFont typeface="Arial"/>
              <a:buChar char="•"/>
            </a:pPr>
            <a:r>
              <a:rPr sz="1700" b="0" i="0">
                <a:solidFill>
                  <a:srgbClr val="26262E"/>
                </a:solidFill>
                <a:latin typeface="Calibri"/>
              </a:rPr>
              <a:t>LMS data enable accurate at-risk prediction</a:t>
            </a:r>
          </a:p>
          <a:p>
            <a:pPr algn="l" marL="201168" indent="-201168">
              <a:spcAft>
                <a:spcPts val="600"/>
              </a:spcAft>
              <a:buClr>
                <a:srgbClr val="1F3864"/>
              </a:buClr>
              <a:buFont typeface="Arial"/>
              <a:buChar char="•"/>
            </a:pPr>
            <a:r>
              <a:rPr sz="1700" b="0" i="0">
                <a:solidFill>
                  <a:srgbClr val="26262E"/>
                </a:solidFill>
                <a:latin typeface="Calibri"/>
              </a:rPr>
              <a:t>Risk scores are delivered without explanation</a:t>
            </a:r>
          </a:p>
          <a:p>
            <a:pPr algn="l" marL="201168" indent="-201168">
              <a:spcAft>
                <a:spcPts val="600"/>
              </a:spcAft>
              <a:buClr>
                <a:srgbClr val="1F3864"/>
              </a:buClr>
              <a:buFont typeface="Arial"/>
              <a:buChar char="•"/>
            </a:pPr>
            <a:r>
              <a:rPr sz="1700" b="0" i="0">
                <a:solidFill>
                  <a:srgbClr val="26262E"/>
                </a:solidFill>
                <a:latin typeface="Calibri"/>
              </a:rPr>
              <a:t>SHAP and LIME are rarely built into dashboards</a:t>
            </a:r>
          </a:p>
        </p:txBody>
      </p:sp>
      <p:sp>
        <p:nvSpPr>
          <p:cNvPr id="5" name="Needs"/>
          <p:cNvSpPr txBox="1"/>
          <p:nvPr/>
        </p:nvSpPr>
        <p:spPr>
          <a:xfrm>
            <a:off x="5577840" y="2240280"/>
            <a:ext cx="2926080" cy="20116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DISTINCT STAFF NEEDS</a:t>
            </a:r>
          </a:p>
          <a:p>
            <a:pPr algn="l" marL="201168" indent="-201168">
              <a:spcAft>
                <a:spcPts val="600"/>
              </a:spcAft>
              <a:buClr>
                <a:srgbClr val="1F3864"/>
              </a:buClr>
              <a:buFont typeface="Arial"/>
              <a:buChar char="•"/>
            </a:pPr>
            <a:r>
              <a:rPr sz="1700" b="1" i="0">
                <a:solidFill>
                  <a:srgbClr val="26262E"/>
                </a:solidFill>
                <a:latin typeface="Calibri"/>
              </a:rPr>
              <a:t>Instructor: </a:t>
            </a:r>
            <a:r>
              <a:rPr sz="1700" b="0" i="0">
                <a:solidFill>
                  <a:srgbClr val="26262E"/>
                </a:solidFill>
                <a:latin typeface="Calibri"/>
              </a:rPr>
              <a:t>individual students</a:t>
            </a:r>
          </a:p>
          <a:p>
            <a:pPr algn="l" marL="201168" indent="-201168">
              <a:spcAft>
                <a:spcPts val="600"/>
              </a:spcAft>
              <a:buClr>
                <a:srgbClr val="1F3864"/>
              </a:buClr>
              <a:buFont typeface="Arial"/>
              <a:buChar char="•"/>
            </a:pPr>
            <a:r>
              <a:rPr sz="1700" b="1" i="0">
                <a:solidFill>
                  <a:srgbClr val="26262E"/>
                </a:solidFill>
                <a:latin typeface="Calibri"/>
              </a:rPr>
              <a:t>Advisor: </a:t>
            </a:r>
            <a:r>
              <a:rPr sz="1700" b="0" i="0">
                <a:solidFill>
                  <a:srgbClr val="26262E"/>
                </a:solidFill>
                <a:latin typeface="Calibri"/>
              </a:rPr>
              <a:t>caseload across modules</a:t>
            </a:r>
          </a:p>
          <a:p>
            <a:pPr algn="l" marL="201168" indent="-201168">
              <a:spcAft>
                <a:spcPts val="600"/>
              </a:spcAft>
              <a:buClr>
                <a:srgbClr val="1F3864"/>
              </a:buClr>
              <a:buFont typeface="Arial"/>
              <a:buChar char="•"/>
            </a:pPr>
            <a:r>
              <a:rPr sz="1700" b="1" i="0">
                <a:solidFill>
                  <a:srgbClr val="26262E"/>
                </a:solidFill>
                <a:latin typeface="Calibri"/>
              </a:rPr>
              <a:t>Administrator: </a:t>
            </a:r>
            <a:r>
              <a:rPr sz="1700" b="0" i="0">
                <a:solidFill>
                  <a:srgbClr val="26262E"/>
                </a:solidFill>
                <a:latin typeface="Calibri"/>
              </a:rPr>
              <a:t>institution-wide picture</a:t>
            </a:r>
          </a:p>
        </p:txBody>
      </p:sp>
      <p:sp>
        <p:nvSpPr>
          <p:cNvPr id="6" name="Gap"/>
          <p:cNvSpPr txBox="1"/>
          <p:nvPr/>
        </p:nvSpPr>
        <p:spPr>
          <a:xfrm>
            <a:off x="2286000" y="4434840"/>
            <a:ext cx="6217920" cy="173736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RESEARCH GAP</a:t>
            </a:r>
          </a:p>
          <a:p>
            <a:pPr algn="l" marL="201168" indent="-201168">
              <a:spcAft>
                <a:spcPts val="600"/>
              </a:spcAft>
              <a:buClr>
                <a:srgbClr val="1F3864"/>
              </a:buClr>
              <a:buFont typeface="Arial"/>
              <a:buChar char="•"/>
            </a:pPr>
            <a:r>
              <a:rPr sz="1700" b="0" i="0">
                <a:solidFill>
                  <a:srgbClr val="26262E"/>
                </a:solidFill>
                <a:latin typeface="Calibri"/>
              </a:rPr>
              <a:t>In the literature reviewed, no system served instructors, advisors and administrators from a single prediction model with role-specific explanations</a:t>
            </a:r>
          </a:p>
          <a:p>
            <a:pPr algn="l" marL="201168" indent="-201168">
              <a:spcAft>
                <a:spcPts val="600"/>
              </a:spcAft>
              <a:buClr>
                <a:srgbClr val="1F3864"/>
              </a:buClr>
              <a:buFont typeface="Arial"/>
              <a:buChar char="•"/>
            </a:pPr>
            <a:r>
              <a:rPr sz="1700" b="0" i="0">
                <a:solidFill>
                  <a:srgbClr val="26262E"/>
                </a:solidFill>
                <a:latin typeface="Calibri"/>
              </a:rPr>
              <a:t>Existing XAI dashboards target a single user group (e.g., students: Afzaal et al.,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Aim, Objectives &amp; Research Questions</a:t>
            </a:r>
          </a:p>
        </p:txBody>
      </p:sp>
      <p:sp>
        <p:nvSpPr>
          <p:cNvPr id="3" name="Aim"/>
          <p:cNvSpPr txBox="1"/>
          <p:nvPr/>
        </p:nvSpPr>
        <p:spPr>
          <a:xfrm>
            <a:off x="2286000" y="1417320"/>
            <a:ext cx="6217920" cy="777240"/>
          </a:xfrm>
          <a:prstGeom prst="rect">
            <a:avLst/>
          </a:prstGeom>
          <a:noFill/>
        </p:spPr>
        <p:txBody>
          <a:bodyPr wrap="square" anchor="t" lIns="0" rIns="0" tIns="0" bIns="0">
            <a:spAutoFit/>
          </a:bodyPr>
          <a:lstStyle/>
          <a:p>
            <a:pPr algn="l">
              <a:spcAft>
                <a:spcPts val="600"/>
              </a:spcAft>
            </a:pPr>
            <a:r>
              <a:rPr sz="1700" b="1" i="0">
                <a:solidFill>
                  <a:srgbClr val="C00000"/>
                </a:solidFill>
                <a:latin typeface="Calibri"/>
              </a:rPr>
              <a:t>Aim: </a:t>
            </a:r>
            <a:r>
              <a:rPr sz="1700" b="0" i="0">
                <a:solidFill>
                  <a:srgbClr val="1F3864"/>
                </a:solidFill>
                <a:latin typeface="Calibri"/>
              </a:rPr>
              <a:t>to investigate how a role-aware explainable AI dashboard can support at-risk student prediction in LMS environments, using OULAD</a:t>
            </a:r>
          </a:p>
        </p:txBody>
      </p:sp>
      <p:sp>
        <p:nvSpPr>
          <p:cNvPr id="4" name="Objectives"/>
          <p:cNvSpPr txBox="1"/>
          <p:nvPr/>
        </p:nvSpPr>
        <p:spPr>
          <a:xfrm>
            <a:off x="2286000" y="2331720"/>
            <a:ext cx="2148840" cy="2743200"/>
          </a:xfrm>
          <a:prstGeom prst="rect">
            <a:avLst/>
          </a:prstGeom>
          <a:noFill/>
        </p:spPr>
        <p:txBody>
          <a:bodyPr wrap="square" anchor="t" lIns="0" rIns="0" tIns="0" bIns="0">
            <a:spAutoFit/>
          </a:bodyPr>
          <a:lstStyle/>
          <a:p>
            <a:pPr algn="l">
              <a:spcAft>
                <a:spcPts val="800"/>
              </a:spcAft>
            </a:pPr>
            <a:r>
              <a:rPr sz="1300" b="1" i="0">
                <a:solidFill>
                  <a:srgbClr val="C00000"/>
                </a:solidFill>
                <a:latin typeface="Calibri"/>
              </a:rPr>
              <a:t>SPECIFIC OBJECTIVES</a:t>
            </a:r>
          </a:p>
          <a:p>
            <a:pPr algn="l" marL="201168" indent="-201168">
              <a:spcAft>
                <a:spcPts val="800"/>
              </a:spcAft>
              <a:buClr>
                <a:srgbClr val="1F3864"/>
              </a:buClr>
              <a:buFont typeface="Arial"/>
              <a:buChar char="•"/>
            </a:pPr>
            <a:r>
              <a:rPr sz="1500" b="1" i="0">
                <a:solidFill>
                  <a:srgbClr val="26262E"/>
                </a:solidFill>
                <a:latin typeface="Calibri"/>
              </a:rPr>
              <a:t>O1 </a:t>
            </a:r>
            <a:r>
              <a:rPr sz="1500" b="0" i="0">
                <a:solidFill>
                  <a:srgbClr val="26262E"/>
                </a:solidFill>
                <a:latin typeface="Calibri"/>
              </a:rPr>
              <a:t>Review the literature on risk prediction, ML and XAI</a:t>
            </a:r>
          </a:p>
          <a:p>
            <a:pPr algn="l" marL="201168" indent="-201168">
              <a:spcAft>
                <a:spcPts val="800"/>
              </a:spcAft>
              <a:buClr>
                <a:srgbClr val="1F3864"/>
              </a:buClr>
              <a:buFont typeface="Arial"/>
              <a:buChar char="•"/>
            </a:pPr>
            <a:r>
              <a:rPr sz="1500" b="1" i="0">
                <a:solidFill>
                  <a:srgbClr val="26262E"/>
                </a:solidFill>
                <a:latin typeface="Calibri"/>
              </a:rPr>
              <a:t>O2 </a:t>
            </a:r>
            <a:r>
              <a:rPr sz="1500" b="0" i="0">
                <a:solidFill>
                  <a:srgbClr val="26262E"/>
                </a:solidFill>
                <a:latin typeface="Calibri"/>
              </a:rPr>
              <a:t>Build and evaluate an ensemble model with SHAP and LIME</a:t>
            </a:r>
          </a:p>
          <a:p>
            <a:pPr algn="l" marL="201168" indent="-201168">
              <a:spcAft>
                <a:spcPts val="800"/>
              </a:spcAft>
              <a:buClr>
                <a:srgbClr val="1F3864"/>
              </a:buClr>
              <a:buFont typeface="Arial"/>
              <a:buChar char="•"/>
            </a:pPr>
            <a:r>
              <a:rPr sz="1500" b="1" i="0">
                <a:solidFill>
                  <a:srgbClr val="26262E"/>
                </a:solidFill>
                <a:latin typeface="Calibri"/>
              </a:rPr>
              <a:t>O3 </a:t>
            </a:r>
            <a:r>
              <a:rPr sz="1500" b="0" i="0">
                <a:solidFill>
                  <a:srgbClr val="26262E"/>
                </a:solidFill>
                <a:latin typeface="Calibri"/>
              </a:rPr>
              <a:t>Design, implement and technically evaluate a role-aware dashboard</a:t>
            </a:r>
          </a:p>
        </p:txBody>
      </p:sp>
      <p:sp>
        <p:nvSpPr>
          <p:cNvPr id="5" name="Scope note"/>
          <p:cNvSpPr txBox="1"/>
          <p:nvPr/>
        </p:nvSpPr>
        <p:spPr>
          <a:xfrm>
            <a:off x="2286000" y="5166360"/>
            <a:ext cx="2148840" cy="1005840"/>
          </a:xfrm>
          <a:prstGeom prst="rect">
            <a:avLst/>
          </a:prstGeom>
          <a:noFill/>
        </p:spPr>
        <p:txBody>
          <a:bodyPr wrap="square" anchor="t" lIns="0" rIns="0" tIns="0" bIns="0">
            <a:spAutoFit/>
          </a:bodyPr>
          <a:lstStyle/>
          <a:p>
            <a:pPr algn="l">
              <a:spcAft>
                <a:spcPts val="600"/>
              </a:spcAft>
            </a:pPr>
            <a:r>
              <a:rPr sz="1400" b="1" i="0">
                <a:solidFill>
                  <a:srgbClr val="C00000"/>
                </a:solidFill>
                <a:latin typeface="Calibri"/>
              </a:rPr>
              <a:t>Scope: </a:t>
            </a:r>
            <a:r>
              <a:rPr sz="1400" b="0" i="0">
                <a:solidFill>
                  <a:srgbClr val="26262E"/>
                </a:solidFill>
                <a:latin typeface="Calibri"/>
              </a:rPr>
              <a:t>technical evaluation only; no practitioner study</a:t>
            </a:r>
          </a:p>
        </p:txBody>
      </p:sp>
      <p:sp>
        <p:nvSpPr>
          <p:cNvPr id="6" name="Research questions"/>
          <p:cNvSpPr txBox="1"/>
          <p:nvPr/>
        </p:nvSpPr>
        <p:spPr>
          <a:xfrm>
            <a:off x="4709159" y="2331720"/>
            <a:ext cx="3794760" cy="4023360"/>
          </a:xfrm>
          <a:prstGeom prst="rect">
            <a:avLst/>
          </a:prstGeom>
          <a:noFill/>
        </p:spPr>
        <p:txBody>
          <a:bodyPr wrap="square" anchor="t" lIns="0" rIns="0" tIns="0" bIns="0">
            <a:spAutoFit/>
          </a:bodyPr>
          <a:lstStyle/>
          <a:p>
            <a:pPr algn="l">
              <a:spcAft>
                <a:spcPts val="800"/>
              </a:spcAft>
            </a:pPr>
            <a:r>
              <a:rPr sz="1300" b="1" i="0">
                <a:solidFill>
                  <a:srgbClr val="C00000"/>
                </a:solidFill>
                <a:latin typeface="Calibri"/>
              </a:rPr>
              <a:t>RESEARCH QUESTIONS</a:t>
            </a:r>
          </a:p>
          <a:p>
            <a:pPr algn="l" marL="201168" indent="-201168">
              <a:spcAft>
                <a:spcPts val="800"/>
              </a:spcAft>
              <a:buClr>
                <a:srgbClr val="1F3864"/>
              </a:buClr>
              <a:buFont typeface="Arial"/>
              <a:buChar char="•"/>
            </a:pPr>
            <a:r>
              <a:rPr sz="1400" b="1" i="0">
                <a:solidFill>
                  <a:srgbClr val="26262E"/>
                </a:solidFill>
                <a:latin typeface="Calibri"/>
              </a:rPr>
              <a:t>RQ1 </a:t>
            </a:r>
            <a:r>
              <a:rPr sz="1400" b="0" i="0">
                <a:solidFill>
                  <a:srgbClr val="26262E"/>
                </a:solidFill>
                <a:latin typeface="Calibri"/>
              </a:rPr>
              <a:t>How can explainable AI techniques (specifically SHAP and LIME) be integrated into a knowledge engineering pipeline to improve transparency in student at-risk prediction models?</a:t>
            </a:r>
          </a:p>
          <a:p>
            <a:pPr algn="l" marL="201168" indent="-201168">
              <a:spcAft>
                <a:spcPts val="800"/>
              </a:spcAft>
              <a:buClr>
                <a:srgbClr val="1F3864"/>
              </a:buClr>
              <a:buFont typeface="Arial"/>
              <a:buChar char="•"/>
            </a:pPr>
            <a:r>
              <a:rPr sz="1400" b="1" i="0">
                <a:solidFill>
                  <a:srgbClr val="26262E"/>
                </a:solidFill>
                <a:latin typeface="Calibri"/>
              </a:rPr>
              <a:t>RQ2 </a:t>
            </a:r>
            <a:r>
              <a:rPr sz="1400" b="0" i="0">
                <a:solidFill>
                  <a:srgbClr val="26262E"/>
                </a:solidFill>
                <a:latin typeface="Calibri"/>
              </a:rPr>
              <a:t>What dashboard features and explanation structures, based on the CommonKADS Agent Model and the learning analytics dashboard literature, can be specified to support the different information needs of instructors, advisors, and administrators within an LMS?</a:t>
            </a:r>
          </a:p>
          <a:p>
            <a:pPr algn="l" marL="201168" indent="-201168">
              <a:spcAft>
                <a:spcPts val="800"/>
              </a:spcAft>
              <a:buClr>
                <a:srgbClr val="1F3864"/>
              </a:buClr>
              <a:buFont typeface="Arial"/>
              <a:buChar char="•"/>
            </a:pPr>
            <a:r>
              <a:rPr sz="1400" b="1" i="0">
                <a:solidFill>
                  <a:srgbClr val="26262E"/>
                </a:solidFill>
                <a:latin typeface="Calibri"/>
              </a:rPr>
              <a:t>RQ3 </a:t>
            </a:r>
            <a:r>
              <a:rPr sz="1400" b="0" i="0">
                <a:solidFill>
                  <a:srgbClr val="26262E"/>
                </a:solidFill>
                <a:latin typeface="Calibri"/>
              </a:rPr>
              <a:t>What do the predictive performance and explainability findings indicate about the technical potential of the proposed role-aware explainable dashboard to support practitioner interpretation and decision-making?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Methodology: Knowledge Engineering</a:t>
            </a:r>
          </a:p>
        </p:txBody>
      </p:sp>
      <p:sp>
        <p:nvSpPr>
          <p:cNvPr id="3" name="Key message"/>
          <p:cNvSpPr txBox="1"/>
          <p:nvPr/>
        </p:nvSpPr>
        <p:spPr>
          <a:xfrm>
            <a:off x="2286000" y="1371600"/>
            <a:ext cx="6217920" cy="731520"/>
          </a:xfrm>
          <a:prstGeom prst="rect">
            <a:avLst/>
          </a:prstGeom>
          <a:noFill/>
        </p:spPr>
        <p:txBody>
          <a:bodyPr wrap="square" anchor="t" lIns="0" rIns="0" tIns="0" bIns="0">
            <a:spAutoFit/>
          </a:bodyPr>
          <a:lstStyle/>
          <a:p>
            <a:pPr algn="l">
              <a:spcAft>
                <a:spcPts val="600"/>
              </a:spcAft>
            </a:pPr>
            <a:r>
              <a:rPr sz="1900" b="1" i="0">
                <a:solidFill>
                  <a:srgbClr val="1F3864"/>
                </a:solidFill>
                <a:latin typeface="Calibri"/>
              </a:rPr>
              <a:t>Representing the knowledge behind each prediction, and communicating it to each role.</a:t>
            </a:r>
          </a:p>
        </p:txBody>
      </p:sp>
      <p:sp>
        <p:nvSpPr>
          <p:cNvPr id="4" name="CommonKADS"/>
          <p:cNvSpPr txBox="1"/>
          <p:nvPr/>
        </p:nvSpPr>
        <p:spPr>
          <a:xfrm>
            <a:off x="2286000" y="2240280"/>
            <a:ext cx="2926080" cy="228600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PRIMARY METHODOLOGY</a:t>
            </a:r>
          </a:p>
          <a:p>
            <a:pPr algn="l" marL="201168" indent="-201168">
              <a:spcAft>
                <a:spcPts val="600"/>
              </a:spcAft>
              <a:buClr>
                <a:srgbClr val="1F3864"/>
              </a:buClr>
              <a:buFont typeface="Arial"/>
              <a:buChar char="•"/>
            </a:pPr>
            <a:r>
              <a:rPr sz="1600" b="1" i="0">
                <a:solidFill>
                  <a:srgbClr val="26262E"/>
                </a:solidFill>
                <a:latin typeface="Calibri"/>
              </a:rPr>
              <a:t>CommonKADS </a:t>
            </a:r>
            <a:r>
              <a:rPr sz="1600" b="0" i="0">
                <a:solidFill>
                  <a:srgbClr val="26262E"/>
                </a:solidFill>
                <a:latin typeface="Calibri"/>
              </a:rPr>
              <a:t>(Schreiber et al., 2000): structures how system knowledge is represented and delivered</a:t>
            </a:r>
          </a:p>
          <a:p>
            <a:pPr algn="l" marL="201168" indent="-201168">
              <a:spcAft>
                <a:spcPts val="600"/>
              </a:spcAft>
              <a:buClr>
                <a:srgbClr val="1F3864"/>
              </a:buClr>
              <a:buFont typeface="Arial"/>
              <a:buChar char="•"/>
            </a:pPr>
            <a:r>
              <a:rPr sz="1600" b="0" i="0">
                <a:solidFill>
                  <a:srgbClr val="26262E"/>
                </a:solidFill>
                <a:latin typeface="Calibri"/>
              </a:rPr>
              <a:t>Six models: organisation, task, agent, knowledge, communication, design</a:t>
            </a:r>
          </a:p>
        </p:txBody>
      </p:sp>
      <p:sp>
        <p:nvSpPr>
          <p:cNvPr id="5" name="Phases"/>
          <p:cNvSpPr txBox="1"/>
          <p:nvPr/>
        </p:nvSpPr>
        <p:spPr>
          <a:xfrm>
            <a:off x="5577840" y="2240280"/>
            <a:ext cx="2926080" cy="2377440"/>
          </a:xfrm>
          <a:prstGeom prst="rect">
            <a:avLst/>
          </a:prstGeom>
          <a:noFill/>
        </p:spPr>
        <p:txBody>
          <a:bodyPr wrap="square" anchor="t" lIns="0" rIns="0" tIns="0" bIns="0">
            <a:spAutoFit/>
          </a:bodyPr>
          <a:lstStyle/>
          <a:p>
            <a:pPr algn="l">
              <a:spcAft>
                <a:spcPts val="800"/>
              </a:spcAft>
            </a:pPr>
            <a:r>
              <a:rPr sz="1300" b="1" i="0">
                <a:solidFill>
                  <a:srgbClr val="C00000"/>
                </a:solidFill>
                <a:latin typeface="Calibri"/>
              </a:rPr>
              <a:t>RESEARCH PHASES</a:t>
            </a:r>
          </a:p>
          <a:p>
            <a:pPr algn="l">
              <a:spcAft>
                <a:spcPts val="800"/>
              </a:spcAft>
            </a:pPr>
            <a:r>
              <a:rPr sz="1600" b="1" i="0">
                <a:solidFill>
                  <a:srgbClr val="C00000"/>
                </a:solidFill>
                <a:latin typeface="Calibri"/>
              </a:rPr>
              <a:t>1.  </a:t>
            </a:r>
            <a:r>
              <a:rPr sz="1600" b="0" i="0">
                <a:solidFill>
                  <a:srgbClr val="26262E"/>
                </a:solidFill>
                <a:latin typeface="Calibri"/>
              </a:rPr>
              <a:t>Knowledge acquisition and organisational analysis</a:t>
            </a:r>
          </a:p>
          <a:p>
            <a:pPr algn="l">
              <a:spcAft>
                <a:spcPts val="800"/>
              </a:spcAft>
            </a:pPr>
            <a:r>
              <a:rPr sz="1600" b="1" i="0">
                <a:solidFill>
                  <a:srgbClr val="C00000"/>
                </a:solidFill>
                <a:latin typeface="Calibri"/>
              </a:rPr>
              <a:t>2.  </a:t>
            </a:r>
            <a:r>
              <a:rPr sz="1600" b="0" i="0">
                <a:solidFill>
                  <a:srgbClr val="26262E"/>
                </a:solidFill>
                <a:latin typeface="Calibri"/>
              </a:rPr>
              <a:t>Knowledge and system modelling</a:t>
            </a:r>
          </a:p>
          <a:p>
            <a:pPr algn="l">
              <a:spcAft>
                <a:spcPts val="800"/>
              </a:spcAft>
            </a:pPr>
            <a:r>
              <a:rPr sz="1600" b="1" i="0">
                <a:solidFill>
                  <a:srgbClr val="C00000"/>
                </a:solidFill>
                <a:latin typeface="Calibri"/>
              </a:rPr>
              <a:t>3.  </a:t>
            </a:r>
            <a:r>
              <a:rPr sz="1600" b="0" i="0">
                <a:solidFill>
                  <a:srgbClr val="26262E"/>
                </a:solidFill>
                <a:latin typeface="Calibri"/>
              </a:rPr>
              <a:t>Artefact design and development</a:t>
            </a:r>
          </a:p>
          <a:p>
            <a:pPr algn="l">
              <a:spcAft>
                <a:spcPts val="800"/>
              </a:spcAft>
            </a:pPr>
            <a:r>
              <a:rPr sz="1600" b="1" i="0">
                <a:solidFill>
                  <a:srgbClr val="C00000"/>
                </a:solidFill>
                <a:latin typeface="Calibri"/>
              </a:rPr>
              <a:t>4.  </a:t>
            </a:r>
            <a:r>
              <a:rPr sz="1600" b="0" i="0">
                <a:solidFill>
                  <a:srgbClr val="26262E"/>
                </a:solidFill>
                <a:latin typeface="Calibri"/>
              </a:rPr>
              <a:t>Technical evaluation</a:t>
            </a:r>
          </a:p>
        </p:txBody>
      </p:sp>
      <p:sp>
        <p:nvSpPr>
          <p:cNvPr id="6" name="Supporting"/>
          <p:cNvSpPr txBox="1"/>
          <p:nvPr/>
        </p:nvSpPr>
        <p:spPr>
          <a:xfrm>
            <a:off x="2286000" y="4663440"/>
            <a:ext cx="2926080" cy="15544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SUPPORTING FRAMEWORKS</a:t>
            </a:r>
          </a:p>
          <a:p>
            <a:pPr algn="l" marL="201168" indent="-201168">
              <a:spcAft>
                <a:spcPts val="600"/>
              </a:spcAft>
              <a:buClr>
                <a:srgbClr val="1F3864"/>
              </a:buClr>
              <a:buFont typeface="Arial"/>
              <a:buChar char="•"/>
            </a:pPr>
            <a:r>
              <a:rPr sz="1500" b="1" i="0">
                <a:solidFill>
                  <a:srgbClr val="26262E"/>
                </a:solidFill>
                <a:latin typeface="Calibri"/>
              </a:rPr>
              <a:t>DSRM </a:t>
            </a:r>
            <a:r>
              <a:rPr sz="1500" b="0" i="0">
                <a:solidFill>
                  <a:srgbClr val="26262E"/>
                </a:solidFill>
                <a:latin typeface="Calibri"/>
              </a:rPr>
              <a:t>(Peffers et al., 2007): overarching research process</a:t>
            </a:r>
          </a:p>
          <a:p>
            <a:pPr algn="l" marL="201168" indent="-201168">
              <a:spcAft>
                <a:spcPts val="600"/>
              </a:spcAft>
              <a:buClr>
                <a:srgbClr val="1F3864"/>
              </a:buClr>
              <a:buFont typeface="Arial"/>
              <a:buChar char="•"/>
            </a:pPr>
            <a:r>
              <a:rPr sz="1500" b="1" i="0">
                <a:solidFill>
                  <a:srgbClr val="26262E"/>
                </a:solidFill>
                <a:latin typeface="Calibri"/>
              </a:rPr>
              <a:t>TAM </a:t>
            </a:r>
            <a:r>
              <a:rPr sz="1500" b="0" i="0">
                <a:solidFill>
                  <a:srgbClr val="26262E"/>
                </a:solidFill>
                <a:latin typeface="Calibri"/>
              </a:rPr>
              <a:t>(Davis, 1989): design lens; not empirically tested</a:t>
            </a:r>
          </a:p>
        </p:txBody>
      </p:sp>
      <p:sp>
        <p:nvSpPr>
          <p:cNvPr id="7" name="Scope"/>
          <p:cNvSpPr txBox="1"/>
          <p:nvPr/>
        </p:nvSpPr>
        <p:spPr>
          <a:xfrm>
            <a:off x="5577840" y="4663440"/>
            <a:ext cx="2926080" cy="15544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SCOPE AND DELIMITATIONS</a:t>
            </a:r>
          </a:p>
          <a:p>
            <a:pPr algn="l" marL="201168" indent="-201168">
              <a:spcAft>
                <a:spcPts val="600"/>
              </a:spcAft>
              <a:buClr>
                <a:srgbClr val="1F3864"/>
              </a:buClr>
              <a:buFont typeface="Arial"/>
              <a:buChar char="•"/>
            </a:pPr>
            <a:r>
              <a:rPr sz="1500" b="0" i="0">
                <a:solidFill>
                  <a:srgbClr val="26262E"/>
                </a:solidFill>
                <a:latin typeface="Calibri"/>
              </a:rPr>
              <a:t>Requirements derived from literature, not user research</a:t>
            </a:r>
          </a:p>
          <a:p>
            <a:pPr algn="l" marL="201168" indent="-201168">
              <a:spcAft>
                <a:spcPts val="600"/>
              </a:spcAft>
              <a:buClr>
                <a:srgbClr val="1F3864"/>
              </a:buClr>
              <a:buFont typeface="Arial"/>
              <a:buChar char="•"/>
            </a:pPr>
            <a:r>
              <a:rPr sz="1500" b="0" i="0">
                <a:solidFill>
                  <a:srgbClr val="26262E"/>
                </a:solidFill>
                <a:latin typeface="Calibri"/>
              </a:rPr>
              <a:t>No practitioner data; usability and trust not assessed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System Architecture &amp; Implementation</a:t>
            </a:r>
          </a:p>
        </p:txBody>
      </p:sp>
      <p:sp>
        <p:nvSpPr>
          <p:cNvPr id="3" name="Key message"/>
          <p:cNvSpPr txBox="1"/>
          <p:nvPr/>
        </p:nvSpPr>
        <p:spPr>
          <a:xfrm>
            <a:off x="2286000" y="1371600"/>
            <a:ext cx="6217920" cy="731520"/>
          </a:xfrm>
          <a:prstGeom prst="rect">
            <a:avLst/>
          </a:prstGeom>
          <a:noFill/>
        </p:spPr>
        <p:txBody>
          <a:bodyPr wrap="square" anchor="t" lIns="0" rIns="0" tIns="0" bIns="0">
            <a:spAutoFit/>
          </a:bodyPr>
          <a:lstStyle/>
          <a:p>
            <a:pPr algn="l">
              <a:spcAft>
                <a:spcPts val="600"/>
              </a:spcAft>
            </a:pPr>
            <a:r>
              <a:rPr sz="1900" b="1" i="0">
                <a:solidFill>
                  <a:srgbClr val="1F3864"/>
                </a:solidFill>
                <a:latin typeface="Calibri"/>
              </a:rPr>
              <a:t>One integrated system, not only a trained model.</a:t>
            </a:r>
          </a:p>
        </p:txBody>
      </p:sp>
      <p:sp>
        <p:nvSpPr>
          <p:cNvPr id="4" name="Flow 1"/>
          <p:cNvSpPr txBox="1"/>
          <p:nvPr/>
        </p:nvSpPr>
        <p:spPr>
          <a:xfrm>
            <a:off x="2286000" y="2103120"/>
            <a:ext cx="877824" cy="868680"/>
          </a:xfrm>
          <a:prstGeom prst="rect">
            <a:avLst/>
          </a:prstGeom>
          <a:noFill/>
        </p:spPr>
        <p:txBody>
          <a:bodyPr wrap="square" anchor="t" lIns="0" rIns="0" tIns="0" bIns="0">
            <a:spAutoFit/>
          </a:bodyPr>
          <a:lstStyle/>
          <a:p>
            <a:pPr algn="l">
              <a:spcAft>
                <a:spcPts val="0"/>
              </a:spcAft>
            </a:pPr>
            <a:r>
              <a:rPr sz="1800" b="1" i="0">
                <a:solidFill>
                  <a:srgbClr val="1F3864"/>
                </a:solidFill>
                <a:latin typeface="Calibri"/>
              </a:rPr>
              <a:t>Data</a:t>
            </a:r>
          </a:p>
          <a:p>
            <a:pPr algn="l">
              <a:spcAft>
                <a:spcPts val="0"/>
              </a:spcAft>
            </a:pPr>
            <a:r>
              <a:rPr sz="1300" b="0" i="0">
                <a:solidFill>
                  <a:srgbClr val="59595F"/>
                </a:solidFill>
                <a:latin typeface="Calibri"/>
              </a:rPr>
              <a:t>feature engineering</a:t>
            </a:r>
          </a:p>
        </p:txBody>
      </p:sp>
      <p:cxnSp>
        <p:nvCxnSpPr>
          <p:cNvPr id="5" name="Flow arrow 1"/>
          <p:cNvCxnSpPr/>
          <p:nvPr/>
        </p:nvCxnSpPr>
        <p:spPr>
          <a:xfrm>
            <a:off x="3182112" y="2286000"/>
            <a:ext cx="256032" cy="0"/>
          </a:xfrm>
          <a:prstGeom prst="line">
            <a:avLst/>
          </a:prstGeom>
          <a:ln w="19050">
            <a:solidFill>
              <a:srgbClr val="5959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Flow 2"/>
          <p:cNvSpPr txBox="1"/>
          <p:nvPr/>
        </p:nvSpPr>
        <p:spPr>
          <a:xfrm>
            <a:off x="3529584" y="2103120"/>
            <a:ext cx="877824" cy="868680"/>
          </a:xfrm>
          <a:prstGeom prst="rect">
            <a:avLst/>
          </a:prstGeom>
          <a:noFill/>
        </p:spPr>
        <p:txBody>
          <a:bodyPr wrap="square" anchor="t" lIns="0" rIns="0" tIns="0" bIns="0">
            <a:spAutoFit/>
          </a:bodyPr>
          <a:lstStyle/>
          <a:p>
            <a:pPr algn="l">
              <a:spcAft>
                <a:spcPts val="0"/>
              </a:spcAft>
            </a:pPr>
            <a:r>
              <a:rPr sz="1800" b="1" i="0">
                <a:solidFill>
                  <a:srgbClr val="1F3864"/>
                </a:solidFill>
                <a:latin typeface="Calibri"/>
              </a:rPr>
              <a:t>Model</a:t>
            </a:r>
          </a:p>
          <a:p>
            <a:pPr algn="l">
              <a:spcAft>
                <a:spcPts val="0"/>
              </a:spcAft>
            </a:pPr>
            <a:r>
              <a:rPr sz="1300" b="0" i="0">
                <a:solidFill>
                  <a:srgbClr val="59595F"/>
                </a:solidFill>
                <a:latin typeface="Calibri"/>
              </a:rPr>
              <a:t>risk classification</a:t>
            </a:r>
          </a:p>
        </p:txBody>
      </p:sp>
      <p:cxnSp>
        <p:nvCxnSpPr>
          <p:cNvPr id="7" name="Flow arrow 2"/>
          <p:cNvCxnSpPr/>
          <p:nvPr/>
        </p:nvCxnSpPr>
        <p:spPr>
          <a:xfrm>
            <a:off x="4425696" y="2286000"/>
            <a:ext cx="256032" cy="0"/>
          </a:xfrm>
          <a:prstGeom prst="line">
            <a:avLst/>
          </a:prstGeom>
          <a:ln w="19050">
            <a:solidFill>
              <a:srgbClr val="5959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low 3"/>
          <p:cNvSpPr txBox="1"/>
          <p:nvPr/>
        </p:nvSpPr>
        <p:spPr>
          <a:xfrm>
            <a:off x="4773168" y="2103120"/>
            <a:ext cx="877824" cy="868680"/>
          </a:xfrm>
          <a:prstGeom prst="rect">
            <a:avLst/>
          </a:prstGeom>
          <a:noFill/>
        </p:spPr>
        <p:txBody>
          <a:bodyPr wrap="square" anchor="t" lIns="0" rIns="0" tIns="0" bIns="0">
            <a:spAutoFit/>
          </a:bodyPr>
          <a:lstStyle/>
          <a:p>
            <a:pPr algn="l">
              <a:spcAft>
                <a:spcPts val="0"/>
              </a:spcAft>
            </a:pPr>
            <a:r>
              <a:rPr sz="1800" b="1" i="0">
                <a:solidFill>
                  <a:srgbClr val="1F3864"/>
                </a:solidFill>
                <a:latin typeface="Calibri"/>
              </a:rPr>
              <a:t>Explain</a:t>
            </a:r>
          </a:p>
          <a:p>
            <a:pPr algn="l">
              <a:spcAft>
                <a:spcPts val="0"/>
              </a:spcAft>
            </a:pPr>
            <a:r>
              <a:rPr sz="1300" b="0" i="0">
                <a:solidFill>
                  <a:srgbClr val="59595F"/>
                </a:solidFill>
                <a:latin typeface="Calibri"/>
              </a:rPr>
              <a:t>SHAP and LIME</a:t>
            </a:r>
          </a:p>
        </p:txBody>
      </p:sp>
      <p:cxnSp>
        <p:nvCxnSpPr>
          <p:cNvPr id="9" name="Flow arrow 3"/>
          <p:cNvCxnSpPr/>
          <p:nvPr/>
        </p:nvCxnSpPr>
        <p:spPr>
          <a:xfrm>
            <a:off x="5669280" y="2286000"/>
            <a:ext cx="256032" cy="0"/>
          </a:xfrm>
          <a:prstGeom prst="line">
            <a:avLst/>
          </a:prstGeom>
          <a:ln w="19050">
            <a:solidFill>
              <a:srgbClr val="5959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Flow 4"/>
          <p:cNvSpPr txBox="1"/>
          <p:nvPr/>
        </p:nvSpPr>
        <p:spPr>
          <a:xfrm>
            <a:off x="6016752" y="2103120"/>
            <a:ext cx="877824" cy="868680"/>
          </a:xfrm>
          <a:prstGeom prst="rect">
            <a:avLst/>
          </a:prstGeom>
          <a:noFill/>
        </p:spPr>
        <p:txBody>
          <a:bodyPr wrap="square" anchor="t" lIns="0" rIns="0" tIns="0" bIns="0">
            <a:spAutoFit/>
          </a:bodyPr>
          <a:lstStyle/>
          <a:p>
            <a:pPr algn="l">
              <a:spcAft>
                <a:spcPts val="0"/>
              </a:spcAft>
            </a:pPr>
            <a:r>
              <a:rPr sz="1800" b="1" i="0">
                <a:solidFill>
                  <a:srgbClr val="1F3864"/>
                </a:solidFill>
                <a:latin typeface="Calibri"/>
              </a:rPr>
              <a:t>API</a:t>
            </a:r>
          </a:p>
          <a:p>
            <a:pPr algn="l">
              <a:spcAft>
                <a:spcPts val="0"/>
              </a:spcAft>
            </a:pPr>
            <a:r>
              <a:rPr sz="1300" b="0" i="0">
                <a:solidFill>
                  <a:srgbClr val="59595F"/>
                </a:solidFill>
                <a:latin typeface="Calibri"/>
              </a:rPr>
              <a:t>role-based access</a:t>
            </a:r>
          </a:p>
        </p:txBody>
      </p:sp>
      <p:cxnSp>
        <p:nvCxnSpPr>
          <p:cNvPr id="11" name="Flow arrow 4"/>
          <p:cNvCxnSpPr/>
          <p:nvPr/>
        </p:nvCxnSpPr>
        <p:spPr>
          <a:xfrm>
            <a:off x="6912864" y="2286000"/>
            <a:ext cx="256032" cy="0"/>
          </a:xfrm>
          <a:prstGeom prst="line">
            <a:avLst/>
          </a:prstGeom>
          <a:ln w="19050">
            <a:solidFill>
              <a:srgbClr val="5959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Flow 5"/>
          <p:cNvSpPr txBox="1"/>
          <p:nvPr/>
        </p:nvSpPr>
        <p:spPr>
          <a:xfrm>
            <a:off x="7260336" y="2103120"/>
            <a:ext cx="877824" cy="868680"/>
          </a:xfrm>
          <a:prstGeom prst="rect">
            <a:avLst/>
          </a:prstGeom>
          <a:noFill/>
        </p:spPr>
        <p:txBody>
          <a:bodyPr wrap="square" anchor="t" lIns="0" rIns="0" tIns="0" bIns="0">
            <a:spAutoFit/>
          </a:bodyPr>
          <a:lstStyle/>
          <a:p>
            <a:pPr algn="l">
              <a:spcAft>
                <a:spcPts val="0"/>
              </a:spcAft>
            </a:pPr>
            <a:r>
              <a:rPr sz="1800" b="1" i="0">
                <a:solidFill>
                  <a:srgbClr val="1F3864"/>
                </a:solidFill>
                <a:latin typeface="Calibri"/>
              </a:rPr>
              <a:t>Views</a:t>
            </a:r>
          </a:p>
          <a:p>
            <a:pPr algn="l">
              <a:spcAft>
                <a:spcPts val="0"/>
              </a:spcAft>
            </a:pPr>
            <a:r>
              <a:rPr sz="1300" b="0" i="0">
                <a:solidFill>
                  <a:srgbClr val="59595F"/>
                </a:solidFill>
                <a:latin typeface="Calibri"/>
              </a:rPr>
              <a:t>role-specific dashboards</a:t>
            </a:r>
          </a:p>
        </p:txBody>
      </p:sp>
      <p:sp>
        <p:nvSpPr>
          <p:cNvPr id="13" name="How it works"/>
          <p:cNvSpPr txBox="1"/>
          <p:nvPr/>
        </p:nvSpPr>
        <p:spPr>
          <a:xfrm>
            <a:off x="2286000" y="3108960"/>
            <a:ext cx="6217920" cy="15544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IMPLEMENTATION DETAILS</a:t>
            </a:r>
          </a:p>
          <a:p>
            <a:pPr algn="l" marL="201168" indent="-201168">
              <a:spcAft>
                <a:spcPts val="600"/>
              </a:spcAft>
              <a:buClr>
                <a:srgbClr val="1F3864"/>
              </a:buClr>
              <a:buFont typeface="Arial"/>
              <a:buChar char="•"/>
            </a:pPr>
            <a:r>
              <a:rPr sz="1500" b="1" i="0">
                <a:solidFill>
                  <a:srgbClr val="26262E"/>
                </a:solidFill>
                <a:latin typeface="Calibri"/>
              </a:rPr>
              <a:t>XGBoost: </a:t>
            </a:r>
            <a:r>
              <a:rPr sz="1500" b="0" i="0">
                <a:solidFill>
                  <a:srgbClr val="26262E"/>
                </a:solidFill>
                <a:latin typeface="Calibri"/>
              </a:rPr>
              <a:t>gradient-boosted ensemble of 300 decision trees (maximum depth 5)</a:t>
            </a:r>
          </a:p>
          <a:p>
            <a:pPr algn="l" marL="201168" indent="-201168">
              <a:spcAft>
                <a:spcPts val="600"/>
              </a:spcAft>
              <a:buClr>
                <a:srgbClr val="1F3864"/>
              </a:buClr>
              <a:buFont typeface="Arial"/>
              <a:buChar char="•"/>
            </a:pPr>
            <a:r>
              <a:rPr sz="1500" b="1" i="0">
                <a:solidFill>
                  <a:srgbClr val="26262E"/>
                </a:solidFill>
                <a:latin typeface="Calibri"/>
              </a:rPr>
              <a:t>Explanations: </a:t>
            </a:r>
            <a:r>
              <a:rPr sz="1500" b="0" i="0">
                <a:solidFill>
                  <a:srgbClr val="26262E"/>
                </a:solidFill>
                <a:latin typeface="Calibri"/>
              </a:rPr>
              <a:t>global TreeSHAP values cached; LIME generated on request</a:t>
            </a:r>
          </a:p>
          <a:p>
            <a:pPr algn="l" marL="201168" indent="-201168">
              <a:spcAft>
                <a:spcPts val="600"/>
              </a:spcAft>
              <a:buClr>
                <a:srgbClr val="1F3864"/>
              </a:buClr>
              <a:buFont typeface="Arial"/>
              <a:buChar char="•"/>
            </a:pPr>
            <a:r>
              <a:rPr sz="1500" b="1" i="0">
                <a:solidFill>
                  <a:srgbClr val="26262E"/>
                </a:solidFill>
                <a:latin typeface="Calibri"/>
              </a:rPr>
              <a:t>Access: </a:t>
            </a:r>
            <a:r>
              <a:rPr sz="1500" b="0" i="0">
                <a:solidFill>
                  <a:srgbClr val="26262E"/>
                </a:solidFill>
                <a:latin typeface="Calibri"/>
              </a:rPr>
              <a:t>Flask API with JWT authentication and role-based access control</a:t>
            </a:r>
          </a:p>
        </p:txBody>
      </p:sp>
      <p:sp>
        <p:nvSpPr>
          <p:cNvPr id="14" name="LMS"/>
          <p:cNvSpPr txBox="1"/>
          <p:nvPr/>
        </p:nvSpPr>
        <p:spPr>
          <a:xfrm>
            <a:off x="2286000" y="4709160"/>
            <a:ext cx="6217920" cy="146304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LMS INTEGRATION AND DEPLOYMENT</a:t>
            </a:r>
          </a:p>
          <a:p>
            <a:pPr algn="l" marL="201168" indent="-201168">
              <a:spcAft>
                <a:spcPts val="600"/>
              </a:spcAft>
              <a:buClr>
                <a:srgbClr val="1F3864"/>
              </a:buClr>
              <a:buFont typeface="Arial"/>
              <a:buChar char="•"/>
            </a:pPr>
            <a:r>
              <a:rPr sz="1500" b="1" i="0">
                <a:solidFill>
                  <a:srgbClr val="26262E"/>
                </a:solidFill>
                <a:latin typeface="Calibri"/>
              </a:rPr>
              <a:t>Moodle 5.2: </a:t>
            </a:r>
            <a:r>
              <a:rPr sz="1500" b="0" i="0">
                <a:solidFill>
                  <a:srgbClr val="26262E"/>
                </a:solidFill>
                <a:latin typeface="Calibri"/>
              </a:rPr>
              <a:t>native plugin using existing login, roles and enrolments</a:t>
            </a:r>
          </a:p>
          <a:p>
            <a:pPr algn="l" marL="201168" indent="-201168">
              <a:spcAft>
                <a:spcPts val="600"/>
              </a:spcAft>
              <a:buClr>
                <a:srgbClr val="1F3864"/>
              </a:buClr>
              <a:buFont typeface="Arial"/>
              <a:buChar char="•"/>
            </a:pPr>
            <a:r>
              <a:rPr sz="1500" b="1" i="0">
                <a:solidFill>
                  <a:srgbClr val="26262E"/>
                </a:solidFill>
                <a:latin typeface="Calibri"/>
              </a:rPr>
              <a:t>Canvas: </a:t>
            </a:r>
            <a:r>
              <a:rPr sz="1500" b="0" i="0">
                <a:solidFill>
                  <a:srgbClr val="26262E"/>
                </a:solidFill>
                <a:latin typeface="Calibri"/>
              </a:rPr>
              <a:t>dashboard embedded as an External URL module item</a:t>
            </a:r>
          </a:p>
          <a:p>
            <a:pPr algn="l" marL="201168" indent="-201168">
              <a:spcAft>
                <a:spcPts val="600"/>
              </a:spcAft>
              <a:buClr>
                <a:srgbClr val="1F3864"/>
              </a:buClr>
              <a:buFont typeface="Arial"/>
              <a:buChar char="•"/>
            </a:pPr>
            <a:r>
              <a:rPr sz="1500" b="1" i="0">
                <a:solidFill>
                  <a:srgbClr val="26262E"/>
                </a:solidFill>
                <a:latin typeface="Calibri"/>
              </a:rPr>
              <a:t>Deployment: </a:t>
            </a:r>
            <a:r>
              <a:rPr sz="1500" b="0" i="0">
                <a:solidFill>
                  <a:srgbClr val="26262E"/>
                </a:solidFill>
                <a:latin typeface="Calibri"/>
              </a:rPr>
              <a:t>React dashboard; containerised with Docker Compose for reproducibility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Dataset &amp; Evaluation Protocol</a:t>
            </a:r>
          </a:p>
        </p:txBody>
      </p:sp>
      <p:sp>
        <p:nvSpPr>
          <p:cNvPr id="3" name="Number 1"/>
          <p:cNvSpPr txBox="1"/>
          <p:nvPr/>
        </p:nvSpPr>
        <p:spPr>
          <a:xfrm>
            <a:off x="2286000" y="1417320"/>
            <a:ext cx="1463040" cy="1325880"/>
          </a:xfrm>
          <a:prstGeom prst="rect">
            <a:avLst/>
          </a:prstGeom>
          <a:noFill/>
        </p:spPr>
        <p:txBody>
          <a:bodyPr wrap="square" anchor="t" lIns="0" rIns="0" tIns="0" bIns="0">
            <a:spAutoFit/>
          </a:bodyPr>
          <a:lstStyle/>
          <a:p>
            <a:pPr algn="l">
              <a:spcAft>
                <a:spcPts val="0"/>
              </a:spcAft>
            </a:pPr>
            <a:r>
              <a:rPr sz="3200" b="1" i="0">
                <a:solidFill>
                  <a:srgbClr val="1F3864"/>
                </a:solidFill>
                <a:latin typeface="Calibri"/>
              </a:rPr>
              <a:t>32,593</a:t>
            </a:r>
          </a:p>
          <a:p>
            <a:pPr algn="l">
              <a:spcAft>
                <a:spcPts val="0"/>
              </a:spcAft>
            </a:pPr>
            <a:r>
              <a:rPr sz="1200" b="0" i="0">
                <a:solidFill>
                  <a:srgbClr val="59595F"/>
                </a:solidFill>
                <a:latin typeface="Calibri"/>
              </a:rPr>
              <a:t>student-module-</a:t>
            </a:r>
          </a:p>
          <a:p>
            <a:pPr algn="l">
              <a:spcAft>
                <a:spcPts val="0"/>
              </a:spcAft>
            </a:pPr>
            <a:r>
              <a:rPr sz="1200" b="0" i="0">
                <a:solidFill>
                  <a:srgbClr val="59595F"/>
                </a:solidFill>
                <a:latin typeface="Calibri"/>
              </a:rPr>
              <a:t>presentation records</a:t>
            </a:r>
          </a:p>
        </p:txBody>
      </p:sp>
      <p:sp>
        <p:nvSpPr>
          <p:cNvPr id="4" name="Number 2"/>
          <p:cNvSpPr txBox="1"/>
          <p:nvPr/>
        </p:nvSpPr>
        <p:spPr>
          <a:xfrm>
            <a:off x="3840480" y="1417320"/>
            <a:ext cx="1463040" cy="1325880"/>
          </a:xfrm>
          <a:prstGeom prst="rect">
            <a:avLst/>
          </a:prstGeom>
          <a:noFill/>
        </p:spPr>
        <p:txBody>
          <a:bodyPr wrap="square" anchor="t" lIns="0" rIns="0" tIns="0" bIns="0">
            <a:spAutoFit/>
          </a:bodyPr>
          <a:lstStyle/>
          <a:p>
            <a:pPr algn="l">
              <a:spcAft>
                <a:spcPts val="0"/>
              </a:spcAft>
            </a:pPr>
            <a:r>
              <a:rPr sz="3200" b="1" i="0">
                <a:solidFill>
                  <a:srgbClr val="1F3864"/>
                </a:solidFill>
                <a:latin typeface="Calibri"/>
              </a:rPr>
              <a:t>22</a:t>
            </a:r>
          </a:p>
          <a:p>
            <a:pPr algn="l">
              <a:spcAft>
                <a:spcPts val="0"/>
              </a:spcAft>
            </a:pPr>
            <a:r>
              <a:rPr sz="1200" b="0" i="0">
                <a:solidFill>
                  <a:srgbClr val="59595F"/>
                </a:solidFill>
                <a:latin typeface="Calibri"/>
              </a:rPr>
              <a:t>module presentations</a:t>
            </a:r>
          </a:p>
          <a:p>
            <a:pPr algn="l">
              <a:spcAft>
                <a:spcPts val="0"/>
              </a:spcAft>
            </a:pPr>
            <a:r>
              <a:rPr sz="1200" b="0" i="0">
                <a:solidFill>
                  <a:srgbClr val="59595F"/>
                </a:solidFill>
                <a:latin typeface="Calibri"/>
              </a:rPr>
              <a:t>(7 modules, 4 semesters)</a:t>
            </a:r>
          </a:p>
        </p:txBody>
      </p:sp>
      <p:sp>
        <p:nvSpPr>
          <p:cNvPr id="5" name="Number 3"/>
          <p:cNvSpPr txBox="1"/>
          <p:nvPr/>
        </p:nvSpPr>
        <p:spPr>
          <a:xfrm>
            <a:off x="5394960" y="1417320"/>
            <a:ext cx="1463040" cy="1325880"/>
          </a:xfrm>
          <a:prstGeom prst="rect">
            <a:avLst/>
          </a:prstGeom>
          <a:noFill/>
        </p:spPr>
        <p:txBody>
          <a:bodyPr wrap="square" anchor="t" lIns="0" rIns="0" tIns="0" bIns="0">
            <a:spAutoFit/>
          </a:bodyPr>
          <a:lstStyle/>
          <a:p>
            <a:pPr algn="l">
              <a:spcAft>
                <a:spcPts val="0"/>
              </a:spcAft>
            </a:pPr>
            <a:r>
              <a:rPr sz="3200" b="1" i="0">
                <a:solidFill>
                  <a:srgbClr val="1F3864"/>
                </a:solidFill>
                <a:latin typeface="Calibri"/>
              </a:rPr>
              <a:t>52.8%</a:t>
            </a:r>
          </a:p>
          <a:p>
            <a:pPr algn="l">
              <a:spcAft>
                <a:spcPts val="0"/>
              </a:spcAft>
            </a:pPr>
            <a:r>
              <a:rPr sz="1200" b="0" i="0">
                <a:solidFill>
                  <a:srgbClr val="59595F"/>
                </a:solidFill>
                <a:latin typeface="Calibri"/>
              </a:rPr>
              <a:t>at-risk rate</a:t>
            </a:r>
          </a:p>
          <a:p>
            <a:pPr algn="l">
              <a:spcAft>
                <a:spcPts val="0"/>
              </a:spcAft>
            </a:pPr>
            <a:r>
              <a:rPr sz="1200" b="0" i="0">
                <a:solidFill>
                  <a:srgbClr val="59595F"/>
                </a:solidFill>
                <a:latin typeface="Calibri"/>
              </a:rPr>
              <a:t>(withdrew or failed)</a:t>
            </a:r>
          </a:p>
        </p:txBody>
      </p:sp>
      <p:sp>
        <p:nvSpPr>
          <p:cNvPr id="6" name="Number 4"/>
          <p:cNvSpPr txBox="1"/>
          <p:nvPr/>
        </p:nvSpPr>
        <p:spPr>
          <a:xfrm>
            <a:off x="6949440" y="1417320"/>
            <a:ext cx="1463040" cy="1325880"/>
          </a:xfrm>
          <a:prstGeom prst="rect">
            <a:avLst/>
          </a:prstGeom>
          <a:noFill/>
        </p:spPr>
        <p:txBody>
          <a:bodyPr wrap="square" anchor="t" lIns="0" rIns="0" tIns="0" bIns="0">
            <a:spAutoFit/>
          </a:bodyPr>
          <a:lstStyle/>
          <a:p>
            <a:pPr algn="l">
              <a:spcAft>
                <a:spcPts val="0"/>
              </a:spcAft>
            </a:pPr>
            <a:r>
              <a:rPr sz="3200" b="1" i="0">
                <a:solidFill>
                  <a:srgbClr val="1F3864"/>
                </a:solidFill>
                <a:latin typeface="Calibri"/>
              </a:rPr>
              <a:t>59</a:t>
            </a:r>
          </a:p>
          <a:p>
            <a:pPr algn="l">
              <a:spcAft>
                <a:spcPts val="0"/>
              </a:spcAft>
            </a:pPr>
            <a:r>
              <a:rPr sz="1200" b="0" i="0">
                <a:solidFill>
                  <a:srgbClr val="59595F"/>
                </a:solidFill>
                <a:latin typeface="Calibri"/>
              </a:rPr>
              <a:t>features after</a:t>
            </a:r>
          </a:p>
          <a:p>
            <a:pPr algn="l">
              <a:spcAft>
                <a:spcPts val="0"/>
              </a:spcAft>
            </a:pPr>
            <a:r>
              <a:rPr sz="1200" b="0" i="0">
                <a:solidFill>
                  <a:srgbClr val="59595F"/>
                </a:solidFill>
                <a:latin typeface="Calibri"/>
              </a:rPr>
              <a:t>encoding</a:t>
            </a:r>
          </a:p>
        </p:txBody>
      </p:sp>
      <p:sp>
        <p:nvSpPr>
          <p:cNvPr id="7" name="Dataset"/>
          <p:cNvSpPr txBox="1"/>
          <p:nvPr/>
        </p:nvSpPr>
        <p:spPr>
          <a:xfrm>
            <a:off x="2286000" y="2788920"/>
            <a:ext cx="6217920" cy="8686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DATASET</a:t>
            </a:r>
          </a:p>
          <a:p>
            <a:pPr algn="l" marL="201168" indent="-201168">
              <a:spcAft>
                <a:spcPts val="600"/>
              </a:spcAft>
              <a:buClr>
                <a:srgbClr val="1F3864"/>
              </a:buClr>
              <a:buFont typeface="Arial"/>
              <a:buChar char="•"/>
            </a:pPr>
            <a:r>
              <a:rPr sz="1600" b="0" i="0">
                <a:solidFill>
                  <a:srgbClr val="26262E"/>
                </a:solidFill>
                <a:latin typeface="Calibri"/>
              </a:rPr>
              <a:t>OULAD (Kuzilek et al., 2017): public, anonymised; engagement, assessment and demographic features</a:t>
            </a:r>
          </a:p>
        </p:txBody>
      </p:sp>
      <p:sp>
        <p:nvSpPr>
          <p:cNvPr id="8" name="Protocol"/>
          <p:cNvSpPr txBox="1"/>
          <p:nvPr/>
        </p:nvSpPr>
        <p:spPr>
          <a:xfrm>
            <a:off x="2286000" y="3657600"/>
            <a:ext cx="6217920" cy="8686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VALIDATION PROTOCOL</a:t>
            </a:r>
          </a:p>
          <a:p>
            <a:pPr algn="l" marL="201168" indent="-201168">
              <a:spcAft>
                <a:spcPts val="600"/>
              </a:spcAft>
              <a:buClr>
                <a:srgbClr val="1F3864"/>
              </a:buClr>
              <a:buFont typeface="Arial"/>
              <a:buChar char="•"/>
            </a:pPr>
            <a:r>
              <a:rPr sz="1600" b="0" i="0">
                <a:solidFill>
                  <a:srgbClr val="26262E"/>
                </a:solidFill>
                <a:latin typeface="Calibri"/>
              </a:rPr>
              <a:t>Four-fold GroupKFold by course presentation: each test presentation unseen in training</a:t>
            </a:r>
          </a:p>
        </p:txBody>
      </p:sp>
      <p:sp>
        <p:nvSpPr>
          <p:cNvPr id="9" name="Recall"/>
          <p:cNvSpPr txBox="1"/>
          <p:nvPr/>
        </p:nvSpPr>
        <p:spPr>
          <a:xfrm>
            <a:off x="2286000" y="4572000"/>
            <a:ext cx="2926080" cy="164592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PRIMARY METRIC: RECALL</a:t>
            </a:r>
          </a:p>
          <a:p>
            <a:pPr algn="l" marL="201168" indent="-201168">
              <a:spcAft>
                <a:spcPts val="600"/>
              </a:spcAft>
              <a:buClr>
                <a:srgbClr val="1F3864"/>
              </a:buClr>
              <a:buFont typeface="Arial"/>
              <a:buChar char="•"/>
            </a:pPr>
            <a:r>
              <a:rPr sz="1500" b="0" i="0">
                <a:solidFill>
                  <a:srgbClr val="26262E"/>
                </a:solidFill>
                <a:latin typeface="Calibri"/>
              </a:rPr>
              <a:t>False negatives: at-risk students receive no attention</a:t>
            </a:r>
          </a:p>
          <a:p>
            <a:pPr algn="l" marL="201168" indent="-201168">
              <a:spcAft>
                <a:spcPts val="600"/>
              </a:spcAft>
              <a:buClr>
                <a:srgbClr val="1F3864"/>
              </a:buClr>
              <a:buFont typeface="Arial"/>
              <a:buChar char="•"/>
            </a:pPr>
            <a:r>
              <a:rPr sz="1500" b="0" i="0">
                <a:solidFill>
                  <a:srgbClr val="26262E"/>
                </a:solidFill>
                <a:latin typeface="Calibri"/>
              </a:rPr>
              <a:t>False positives: incur only a staff review</a:t>
            </a:r>
          </a:p>
        </p:txBody>
      </p:sp>
      <p:sp>
        <p:nvSpPr>
          <p:cNvPr id="10" name="Limit"/>
          <p:cNvSpPr txBox="1"/>
          <p:nvPr/>
        </p:nvSpPr>
        <p:spPr>
          <a:xfrm>
            <a:off x="5577840" y="4572000"/>
            <a:ext cx="2926080" cy="164592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METHODOLOGICAL LIMITATION</a:t>
            </a:r>
          </a:p>
          <a:p>
            <a:pPr algn="l" marL="201168" indent="-201168">
              <a:spcAft>
                <a:spcPts val="600"/>
              </a:spcAft>
              <a:buClr>
                <a:srgbClr val="1F3864"/>
              </a:buClr>
              <a:buFont typeface="Arial"/>
              <a:buChar char="•"/>
            </a:pPr>
            <a:r>
              <a:rPr sz="1500" b="0" i="0">
                <a:solidFill>
                  <a:srgbClr val="26262E"/>
                </a:solidFill>
                <a:latin typeface="Calibri"/>
              </a:rPr>
              <a:t>Features aggregate the full presentation</a:t>
            </a:r>
          </a:p>
          <a:p>
            <a:pPr algn="l" marL="201168" indent="-201168">
              <a:spcAft>
                <a:spcPts val="600"/>
              </a:spcAft>
              <a:buClr>
                <a:srgbClr val="1F3864"/>
              </a:buClr>
              <a:buFont typeface="Arial"/>
              <a:buChar char="•"/>
            </a:pPr>
            <a:r>
              <a:rPr sz="1500" b="0" i="0">
                <a:solidFill>
                  <a:srgbClr val="26262E"/>
                </a:solidFill>
                <a:latin typeface="Calibri"/>
              </a:rPr>
              <a:t>Retrospective classification, not early warning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Results: Predictive Performance</a:t>
            </a:r>
          </a:p>
        </p:txBody>
      </p:sp>
      <p:sp>
        <p:nvSpPr>
          <p:cNvPr id="3" name="Number 1"/>
          <p:cNvSpPr txBox="1"/>
          <p:nvPr/>
        </p:nvSpPr>
        <p:spPr>
          <a:xfrm>
            <a:off x="2286000" y="1417320"/>
            <a:ext cx="1981200" cy="1325880"/>
          </a:xfrm>
          <a:prstGeom prst="rect">
            <a:avLst/>
          </a:prstGeom>
          <a:noFill/>
        </p:spPr>
        <p:txBody>
          <a:bodyPr wrap="square" anchor="t" lIns="0" rIns="0" tIns="0" bIns="0">
            <a:spAutoFit/>
          </a:bodyPr>
          <a:lstStyle/>
          <a:p>
            <a:pPr algn="l">
              <a:spcAft>
                <a:spcPts val="0"/>
              </a:spcAft>
            </a:pPr>
            <a:r>
              <a:rPr sz="4000" b="1" i="0">
                <a:solidFill>
                  <a:srgbClr val="1F3864"/>
                </a:solidFill>
                <a:latin typeface="Calibri"/>
              </a:rPr>
              <a:t>0.909</a:t>
            </a:r>
          </a:p>
          <a:p>
            <a:pPr algn="l">
              <a:spcAft>
                <a:spcPts val="0"/>
              </a:spcAft>
            </a:pPr>
            <a:r>
              <a:rPr sz="1200" b="0" i="0">
                <a:solidFill>
                  <a:srgbClr val="59595F"/>
                </a:solidFill>
                <a:latin typeface="Calibri"/>
              </a:rPr>
              <a:t>Recall</a:t>
            </a:r>
          </a:p>
          <a:p>
            <a:pPr algn="l">
              <a:spcAft>
                <a:spcPts val="0"/>
              </a:spcAft>
            </a:pPr>
            <a:r>
              <a:rPr sz="1200" b="0" i="0">
                <a:solidFill>
                  <a:srgbClr val="59595F"/>
                </a:solidFill>
                <a:latin typeface="Calibri"/>
              </a:rPr>
              <a:t>Share of at-risk students</a:t>
            </a:r>
          </a:p>
          <a:p>
            <a:pPr algn="l">
              <a:spcAft>
                <a:spcPts val="0"/>
              </a:spcAft>
            </a:pPr>
            <a:r>
              <a:rPr sz="1200" b="0" i="0">
                <a:solidFill>
                  <a:srgbClr val="59595F"/>
                </a:solidFill>
                <a:latin typeface="Calibri"/>
              </a:rPr>
              <a:t>correctly identified</a:t>
            </a:r>
          </a:p>
        </p:txBody>
      </p:sp>
      <p:sp>
        <p:nvSpPr>
          <p:cNvPr id="4" name="Number 2"/>
          <p:cNvSpPr txBox="1"/>
          <p:nvPr/>
        </p:nvSpPr>
        <p:spPr>
          <a:xfrm>
            <a:off x="4358640" y="1417320"/>
            <a:ext cx="1981200" cy="1325880"/>
          </a:xfrm>
          <a:prstGeom prst="rect">
            <a:avLst/>
          </a:prstGeom>
          <a:noFill/>
        </p:spPr>
        <p:txBody>
          <a:bodyPr wrap="square" anchor="t" lIns="0" rIns="0" tIns="0" bIns="0">
            <a:spAutoFit/>
          </a:bodyPr>
          <a:lstStyle/>
          <a:p>
            <a:pPr algn="l">
              <a:spcAft>
                <a:spcPts val="0"/>
              </a:spcAft>
            </a:pPr>
            <a:r>
              <a:rPr sz="4000" b="1" i="0">
                <a:solidFill>
                  <a:srgbClr val="1F3864"/>
                </a:solidFill>
                <a:latin typeface="Calibri"/>
              </a:rPr>
              <a:t>0.887</a:t>
            </a:r>
          </a:p>
          <a:p>
            <a:pPr algn="l">
              <a:spcAft>
                <a:spcPts val="0"/>
              </a:spcAft>
            </a:pPr>
            <a:r>
              <a:rPr sz="1200" b="0" i="0">
                <a:solidFill>
                  <a:srgbClr val="59595F"/>
                </a:solidFill>
                <a:latin typeface="Calibri"/>
              </a:rPr>
              <a:t>F1-score</a:t>
            </a:r>
          </a:p>
          <a:p>
            <a:pPr algn="l">
              <a:spcAft>
                <a:spcPts val="0"/>
              </a:spcAft>
            </a:pPr>
            <a:r>
              <a:rPr sz="1200" b="0" i="0">
                <a:solidFill>
                  <a:srgbClr val="59595F"/>
                </a:solidFill>
                <a:latin typeface="Calibri"/>
              </a:rPr>
              <a:t>Balance between precision</a:t>
            </a:r>
          </a:p>
          <a:p>
            <a:pPr algn="l">
              <a:spcAft>
                <a:spcPts val="0"/>
              </a:spcAft>
            </a:pPr>
            <a:r>
              <a:rPr sz="1200" b="0" i="0">
                <a:solidFill>
                  <a:srgbClr val="59595F"/>
                </a:solidFill>
                <a:latin typeface="Calibri"/>
              </a:rPr>
              <a:t>and recall</a:t>
            </a:r>
          </a:p>
        </p:txBody>
      </p:sp>
      <p:sp>
        <p:nvSpPr>
          <p:cNvPr id="5" name="Number 3"/>
          <p:cNvSpPr txBox="1"/>
          <p:nvPr/>
        </p:nvSpPr>
        <p:spPr>
          <a:xfrm>
            <a:off x="6431280" y="1417320"/>
            <a:ext cx="1981200" cy="1325880"/>
          </a:xfrm>
          <a:prstGeom prst="rect">
            <a:avLst/>
          </a:prstGeom>
          <a:noFill/>
        </p:spPr>
        <p:txBody>
          <a:bodyPr wrap="square" anchor="t" lIns="0" rIns="0" tIns="0" bIns="0">
            <a:spAutoFit/>
          </a:bodyPr>
          <a:lstStyle/>
          <a:p>
            <a:pPr algn="l">
              <a:spcAft>
                <a:spcPts val="0"/>
              </a:spcAft>
            </a:pPr>
            <a:r>
              <a:rPr sz="4000" b="1" i="0">
                <a:solidFill>
                  <a:srgbClr val="1F3864"/>
                </a:solidFill>
                <a:latin typeface="Calibri"/>
              </a:rPr>
              <a:t>0.962</a:t>
            </a:r>
          </a:p>
          <a:p>
            <a:pPr algn="l">
              <a:spcAft>
                <a:spcPts val="0"/>
              </a:spcAft>
            </a:pPr>
            <a:r>
              <a:rPr sz="1200" b="0" i="0">
                <a:solidFill>
                  <a:srgbClr val="59595F"/>
                </a:solidFill>
                <a:latin typeface="Calibri"/>
              </a:rPr>
              <a:t>ROC-AUC</a:t>
            </a:r>
          </a:p>
          <a:p>
            <a:pPr algn="l">
              <a:spcAft>
                <a:spcPts val="0"/>
              </a:spcAft>
            </a:pPr>
            <a:r>
              <a:rPr sz="1200" b="0" i="0">
                <a:solidFill>
                  <a:srgbClr val="59595F"/>
                </a:solidFill>
                <a:latin typeface="Calibri"/>
              </a:rPr>
              <a:t>Ability to rank at-risk students</a:t>
            </a:r>
          </a:p>
          <a:p>
            <a:pPr algn="l">
              <a:spcAft>
                <a:spcPts val="0"/>
              </a:spcAft>
            </a:pPr>
            <a:r>
              <a:rPr sz="1200" b="0" i="0">
                <a:solidFill>
                  <a:srgbClr val="59595F"/>
                </a:solidFill>
                <a:latin typeface="Calibri"/>
              </a:rPr>
              <a:t>above not-at-risk students</a:t>
            </a:r>
          </a:p>
        </p:txBody>
      </p:sp>
      <p:sp>
        <p:nvSpPr>
          <p:cNvPr id="6" name="Outcomes"/>
          <p:cNvSpPr txBox="1"/>
          <p:nvPr/>
        </p:nvSpPr>
        <p:spPr>
          <a:xfrm>
            <a:off x="2286000" y="3063240"/>
            <a:ext cx="6217920" cy="118872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CLASSIFICATION OUTCOMES (N = 32,593)</a:t>
            </a:r>
          </a:p>
          <a:p>
            <a:pPr algn="l" marL="201168" indent="-201168">
              <a:spcAft>
                <a:spcPts val="600"/>
              </a:spcAft>
              <a:buClr>
                <a:srgbClr val="1F3864"/>
              </a:buClr>
              <a:buFont typeface="Arial"/>
              <a:buChar char="•"/>
            </a:pPr>
            <a:r>
              <a:rPr sz="1500" b="0" i="0">
                <a:solidFill>
                  <a:srgbClr val="26262E"/>
                </a:solidFill>
                <a:latin typeface="Calibri"/>
              </a:rPr>
              <a:t>Identified </a:t>
            </a:r>
            <a:r>
              <a:rPr sz="1500" b="1" i="0">
                <a:solidFill>
                  <a:srgbClr val="26262E"/>
                </a:solidFill>
                <a:latin typeface="Calibri"/>
              </a:rPr>
              <a:t>15,634 of 17,208</a:t>
            </a:r>
            <a:r>
              <a:rPr sz="1500" b="0" i="0">
                <a:solidFill>
                  <a:srgbClr val="26262E"/>
                </a:solidFill>
                <a:latin typeface="Calibri"/>
              </a:rPr>
              <a:t> at-risk students; </a:t>
            </a:r>
            <a:r>
              <a:rPr sz="1500" b="1" i="0">
                <a:solidFill>
                  <a:srgbClr val="26262E"/>
                </a:solidFill>
                <a:latin typeface="Calibri"/>
              </a:rPr>
              <a:t>1,574</a:t>
            </a:r>
            <a:r>
              <a:rPr sz="1500" b="0" i="0">
                <a:solidFill>
                  <a:srgbClr val="26262E"/>
                </a:solidFill>
                <a:latin typeface="Calibri"/>
              </a:rPr>
              <a:t> missed; </a:t>
            </a:r>
            <a:r>
              <a:rPr sz="1500" b="1" i="0">
                <a:solidFill>
                  <a:srgbClr val="26262E"/>
                </a:solidFill>
                <a:latin typeface="Calibri"/>
              </a:rPr>
              <a:t>2,422</a:t>
            </a:r>
            <a:r>
              <a:rPr sz="1500" b="0" i="0">
                <a:solidFill>
                  <a:srgbClr val="26262E"/>
                </a:solidFill>
                <a:latin typeface="Calibri"/>
              </a:rPr>
              <a:t> false alarms (15.7% of not-at-risk)</a:t>
            </a:r>
          </a:p>
          <a:p>
            <a:pPr algn="l" marL="201168" indent="-201168">
              <a:spcAft>
                <a:spcPts val="600"/>
              </a:spcAft>
              <a:buClr>
                <a:srgbClr val="1F3864"/>
              </a:buClr>
              <a:buFont typeface="Arial"/>
              <a:buChar char="•"/>
            </a:pPr>
            <a:r>
              <a:rPr sz="1500" b="0" i="0">
                <a:solidFill>
                  <a:srgbClr val="26262E"/>
                </a:solidFill>
                <a:latin typeface="Calibri"/>
              </a:rPr>
              <a:t>Precision 0.866: share of flagged students truly at risk; accuracy 0.877</a:t>
            </a:r>
          </a:p>
        </p:txBody>
      </p:sp>
      <p:sp>
        <p:nvSpPr>
          <p:cNvPr id="7" name="Comparison"/>
          <p:cNvSpPr txBox="1"/>
          <p:nvPr/>
        </p:nvSpPr>
        <p:spPr>
          <a:xfrm>
            <a:off x="2286000" y="4343400"/>
            <a:ext cx="6217920" cy="10972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MODEL SELECTION RATIONALE</a:t>
            </a:r>
          </a:p>
          <a:p>
            <a:pPr algn="l" marL="201168" indent="-201168">
              <a:spcAft>
                <a:spcPts val="600"/>
              </a:spcAft>
              <a:buClr>
                <a:srgbClr val="1F3864"/>
              </a:buClr>
              <a:buFont typeface="Arial"/>
              <a:buChar char="•"/>
            </a:pPr>
            <a:r>
              <a:rPr sz="1500" b="1" i="0">
                <a:solidFill>
                  <a:srgbClr val="26262E"/>
                </a:solidFill>
                <a:latin typeface="Calibri"/>
              </a:rPr>
              <a:t>Random Forest: </a:t>
            </a:r>
            <a:r>
              <a:rPr sz="1500" b="0" i="0">
                <a:solidFill>
                  <a:srgbClr val="26262E"/>
                </a:solidFill>
                <a:latin typeface="Calibri"/>
              </a:rPr>
              <a:t>highest F1-score (0.898)</a:t>
            </a:r>
          </a:p>
          <a:p>
            <a:pPr algn="l" marL="201168" indent="-201168">
              <a:spcAft>
                <a:spcPts val="600"/>
              </a:spcAft>
              <a:buClr>
                <a:srgbClr val="1F3864"/>
              </a:buClr>
              <a:buFont typeface="Arial"/>
              <a:buChar char="•"/>
            </a:pPr>
            <a:r>
              <a:rPr sz="1500" b="1" i="0">
                <a:solidFill>
                  <a:srgbClr val="26262E"/>
                </a:solidFill>
                <a:latin typeface="Calibri"/>
              </a:rPr>
              <a:t>XGBoost: </a:t>
            </a:r>
            <a:r>
              <a:rPr sz="1500" b="0" i="0">
                <a:solidFill>
                  <a:srgbClr val="26262E"/>
                </a:solidFill>
                <a:latin typeface="Calibri"/>
              </a:rPr>
              <a:t>highest recall (0.909), retained by the pre-set criterion</a:t>
            </a:r>
          </a:p>
        </p:txBody>
      </p:sp>
      <p:sp>
        <p:nvSpPr>
          <p:cNvPr id="8" name="Variability"/>
          <p:cNvSpPr txBox="1"/>
          <p:nvPr/>
        </p:nvSpPr>
        <p:spPr>
          <a:xfrm>
            <a:off x="2286000" y="5486400"/>
            <a:ext cx="6217920" cy="82296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VARIABILITY BY PRESENTATION</a:t>
            </a:r>
          </a:p>
          <a:p>
            <a:pPr algn="l" marL="201168" indent="-201168">
              <a:spcAft>
                <a:spcPts val="600"/>
              </a:spcAft>
              <a:buClr>
                <a:srgbClr val="1F3864"/>
              </a:buClr>
              <a:buFont typeface="Arial"/>
              <a:buChar char="•"/>
            </a:pPr>
            <a:r>
              <a:rPr sz="1500" b="0" i="0">
                <a:solidFill>
                  <a:srgbClr val="26262E"/>
                </a:solidFill>
                <a:latin typeface="Calibri"/>
              </a:rPr>
              <a:t>Accuracy 0.846 to 0.916: pooled results should be interpreted with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Results: Explainability (SHAP &amp; LIME)</a:t>
            </a:r>
          </a:p>
        </p:txBody>
      </p:sp>
      <p:sp>
        <p:nvSpPr>
          <p:cNvPr id="3" name="Key message"/>
          <p:cNvSpPr txBox="1"/>
          <p:nvPr/>
        </p:nvSpPr>
        <p:spPr>
          <a:xfrm>
            <a:off x="2286000" y="1371600"/>
            <a:ext cx="6217920" cy="731520"/>
          </a:xfrm>
          <a:prstGeom prst="rect">
            <a:avLst/>
          </a:prstGeom>
          <a:noFill/>
        </p:spPr>
        <p:txBody>
          <a:bodyPr wrap="square" anchor="t" lIns="0" rIns="0" tIns="0" bIns="0">
            <a:spAutoFit/>
          </a:bodyPr>
          <a:lstStyle/>
          <a:p>
            <a:pPr algn="l">
              <a:spcAft>
                <a:spcPts val="600"/>
              </a:spcAft>
            </a:pPr>
            <a:r>
              <a:rPr sz="1900" b="1" i="0">
                <a:solidFill>
                  <a:srgbClr val="1F3864"/>
                </a:solidFill>
                <a:latin typeface="Calibri"/>
              </a:rPr>
              <a:t>Assessments submitted: the strongest feature, over four times the next.</a:t>
            </a:r>
          </a:p>
        </p:txBody>
      </p:sp>
      <p:sp>
        <p:nvSpPr>
          <p:cNvPr id="4" name="Methods"/>
          <p:cNvSpPr txBox="1"/>
          <p:nvPr/>
        </p:nvSpPr>
        <p:spPr>
          <a:xfrm>
            <a:off x="2286000" y="2194560"/>
            <a:ext cx="2926080" cy="173736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EXPLANATION METHODS</a:t>
            </a:r>
          </a:p>
          <a:p>
            <a:pPr algn="l" marL="201168" indent="-201168">
              <a:spcAft>
                <a:spcPts val="600"/>
              </a:spcAft>
              <a:buClr>
                <a:srgbClr val="1F3864"/>
              </a:buClr>
              <a:buFont typeface="Arial"/>
              <a:buChar char="•"/>
            </a:pPr>
            <a:r>
              <a:rPr sz="1500" b="1" i="0">
                <a:solidFill>
                  <a:srgbClr val="26262E"/>
                </a:solidFill>
                <a:latin typeface="Calibri"/>
              </a:rPr>
              <a:t>SHAP: </a:t>
            </a:r>
            <a:r>
              <a:rPr sz="1500" b="0" i="0">
                <a:solidFill>
                  <a:srgbClr val="26262E"/>
                </a:solidFill>
                <a:latin typeface="Calibri"/>
              </a:rPr>
              <a:t>additive feature attributions for each prediction</a:t>
            </a:r>
          </a:p>
          <a:p>
            <a:pPr algn="l" marL="201168" indent="-201168">
              <a:spcAft>
                <a:spcPts val="600"/>
              </a:spcAft>
              <a:buClr>
                <a:srgbClr val="1F3864"/>
              </a:buClr>
              <a:buFont typeface="Arial"/>
              <a:buChar char="•"/>
            </a:pPr>
            <a:r>
              <a:rPr sz="1500" b="1" i="0">
                <a:solidFill>
                  <a:srgbClr val="26262E"/>
                </a:solidFill>
                <a:latin typeface="Calibri"/>
              </a:rPr>
              <a:t>LIME: </a:t>
            </a:r>
            <a:r>
              <a:rPr sz="1500" b="0" i="0">
                <a:solidFill>
                  <a:srgbClr val="26262E"/>
                </a:solidFill>
                <a:latin typeface="Calibri"/>
              </a:rPr>
              <a:t>local surrogate explanation for comparison</a:t>
            </a:r>
          </a:p>
        </p:txBody>
      </p:sp>
      <p:sp>
        <p:nvSpPr>
          <p:cNvPr id="5" name="Example"/>
          <p:cNvSpPr txBox="1"/>
          <p:nvPr/>
        </p:nvSpPr>
        <p:spPr>
          <a:xfrm>
            <a:off x="5577840" y="2194560"/>
            <a:ext cx="2926080" cy="173736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LOCAL EXPLANATION: S678287</a:t>
            </a:r>
          </a:p>
          <a:p>
            <a:pPr algn="l" marL="201168" indent="-201168">
              <a:spcAft>
                <a:spcPts val="600"/>
              </a:spcAft>
              <a:buClr>
                <a:srgbClr val="1F3864"/>
              </a:buClr>
              <a:buFont typeface="Arial"/>
              <a:buChar char="•"/>
            </a:pPr>
            <a:r>
              <a:rPr sz="1500" b="0" i="0">
                <a:solidFill>
                  <a:srgbClr val="26262E"/>
                </a:solidFill>
                <a:latin typeface="Calibri"/>
              </a:rPr>
              <a:t>Predicted risk &gt;99.9%</a:t>
            </a:r>
          </a:p>
          <a:p>
            <a:pPr algn="l" marL="201168" indent="-201168">
              <a:spcAft>
                <a:spcPts val="600"/>
              </a:spcAft>
              <a:buClr>
                <a:srgbClr val="1F3864"/>
              </a:buClr>
              <a:buFont typeface="Arial"/>
              <a:buChar char="•"/>
            </a:pPr>
            <a:r>
              <a:rPr sz="1500" b="0" i="0">
                <a:solidFill>
                  <a:srgbClr val="26262E"/>
                </a:solidFill>
                <a:latin typeface="Calibri"/>
              </a:rPr>
              <a:t>Assessments submitted: +5.30 log-odds (SHAP)</a:t>
            </a:r>
          </a:p>
          <a:p>
            <a:pPr algn="l" marL="201168" indent="-201168">
              <a:spcAft>
                <a:spcPts val="600"/>
              </a:spcAft>
              <a:buClr>
                <a:srgbClr val="1F3864"/>
              </a:buClr>
              <a:buFont typeface="Arial"/>
              <a:buChar char="•"/>
            </a:pPr>
            <a:r>
              <a:rPr sz="1500" b="0" i="0">
                <a:solidFill>
                  <a:srgbClr val="26262E"/>
                </a:solidFill>
                <a:latin typeface="Calibri"/>
              </a:rPr>
              <a:t>LIME concurs on 4 of the top 5</a:t>
            </a:r>
          </a:p>
        </p:txBody>
      </p:sp>
      <p:sp>
        <p:nvSpPr>
          <p:cNvPr id="6" name="Agreement"/>
          <p:cNvSpPr txBox="1"/>
          <p:nvPr/>
        </p:nvSpPr>
        <p:spPr>
          <a:xfrm>
            <a:off x="2286000" y="3931920"/>
            <a:ext cx="6217920" cy="132588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CROSS-METHOD AGREEMENT (40 STUDENTS)</a:t>
            </a:r>
          </a:p>
          <a:p>
            <a:pPr algn="l" marL="201168" indent="-201168">
              <a:spcAft>
                <a:spcPts val="600"/>
              </a:spcAft>
              <a:buClr>
                <a:srgbClr val="1F3864"/>
              </a:buClr>
              <a:buFont typeface="Arial"/>
              <a:buChar char="•"/>
            </a:pPr>
            <a:r>
              <a:rPr sz="1500" b="0" i="0">
                <a:solidFill>
                  <a:srgbClr val="26262E"/>
                </a:solidFill>
                <a:latin typeface="Calibri"/>
              </a:rPr>
              <a:t>Same leading feature; six further features shared in the top ten; other drivers: active days, module FFF, mean score</a:t>
            </a:r>
          </a:p>
          <a:p>
            <a:pPr algn="l" marL="201168" indent="-201168">
              <a:spcAft>
                <a:spcPts val="600"/>
              </a:spcAft>
              <a:buClr>
                <a:srgbClr val="1F3864"/>
              </a:buClr>
              <a:buFont typeface="Arial"/>
              <a:buChar char="•"/>
            </a:pPr>
            <a:r>
              <a:rPr sz="1500" b="0" i="0">
                <a:solidFill>
                  <a:srgbClr val="26262E"/>
                </a:solidFill>
                <a:latin typeface="Calibri"/>
              </a:rPr>
              <a:t>Mean per-student top-5 overlap </a:t>
            </a:r>
            <a:r>
              <a:rPr sz="1500" b="1" i="0">
                <a:solidFill>
                  <a:srgbClr val="26262E"/>
                </a:solidFill>
                <a:latin typeface="Calibri"/>
              </a:rPr>
              <a:t>0.635</a:t>
            </a:r>
            <a:r>
              <a:rPr sz="1500" b="0" i="0">
                <a:solidFill>
                  <a:srgbClr val="26262E"/>
                </a:solidFill>
                <a:latin typeface="Calibri"/>
              </a:rPr>
              <a:t> (SD 0.197): partial agreement</a:t>
            </a:r>
          </a:p>
        </p:txBody>
      </p:sp>
      <p:sp>
        <p:nvSpPr>
          <p:cNvPr id="7" name="Caution"/>
          <p:cNvSpPr txBox="1"/>
          <p:nvPr/>
        </p:nvSpPr>
        <p:spPr>
          <a:xfrm>
            <a:off x="2286000" y="5349240"/>
            <a:ext cx="6217920" cy="960120"/>
          </a:xfrm>
          <a:prstGeom prst="rect">
            <a:avLst/>
          </a:prstGeom>
          <a:noFill/>
        </p:spPr>
        <p:txBody>
          <a:bodyPr wrap="square" anchor="t" lIns="0" rIns="0" tIns="0" bIns="0">
            <a:spAutoFit/>
          </a:bodyPr>
          <a:lstStyle/>
          <a:p>
            <a:pPr algn="l">
              <a:spcAft>
                <a:spcPts val="600"/>
              </a:spcAft>
            </a:pPr>
            <a:r>
              <a:rPr sz="1300" b="1" i="0">
                <a:solidFill>
                  <a:srgbClr val="C00000"/>
                </a:solidFill>
                <a:latin typeface="Calibri"/>
              </a:rPr>
              <a:t>INTERPRETIVE CAVEATS</a:t>
            </a:r>
          </a:p>
          <a:p>
            <a:pPr algn="l" marL="201168" indent="-201168">
              <a:spcAft>
                <a:spcPts val="600"/>
              </a:spcAft>
              <a:buClr>
                <a:srgbClr val="1F3864"/>
              </a:buClr>
              <a:buFont typeface="Arial"/>
              <a:buChar char="•"/>
            </a:pPr>
            <a:r>
              <a:rPr sz="1500" b="0" i="0">
                <a:solidFill>
                  <a:srgbClr val="26262E"/>
                </a:solidFill>
                <a:latin typeface="Calibri"/>
              </a:rPr>
              <a:t>Attributions describe the model, not causes of failure or withdrawal</a:t>
            </a:r>
          </a:p>
          <a:p>
            <a:pPr algn="l" marL="201168" indent="-201168">
              <a:spcAft>
                <a:spcPts val="600"/>
              </a:spcAft>
              <a:buClr>
                <a:srgbClr val="1F3864"/>
              </a:buClr>
              <a:buFont typeface="Arial"/>
              <a:buChar char="•"/>
            </a:pPr>
            <a:r>
              <a:rPr sz="1500" b="0" i="0">
                <a:solidFill>
                  <a:srgbClr val="26262E"/>
                </a:solidFill>
                <a:latin typeface="Calibri"/>
              </a:rPr>
              <a:t>Clicks 28 days before deadlines vs total clicks: ρ = 0.98 (collinearity)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The Role-Aware Dashboard in Moodle</a:t>
            </a:r>
          </a:p>
        </p:txBody>
      </p:sp>
      <p:pic>
        <p:nvPicPr>
          <p:cNvPr id="3" name="Moodle instructor view" descr="wide_instr.png"/>
          <p:cNvPicPr>
            <a:picLocks noChangeAspect="1"/>
          </p:cNvPicPr>
          <p:nvPr/>
        </p:nvPicPr>
        <p:blipFill>
          <a:blip r:embed="rId3"/>
          <a:stretch>
            <a:fillRect/>
          </a:stretch>
        </p:blipFill>
        <p:spPr>
          <a:xfrm>
            <a:off x="2286000" y="1417320"/>
            <a:ext cx="6217920" cy="3730752"/>
          </a:xfrm>
          <a:prstGeom prst="rect">
            <a:avLst/>
          </a:prstGeom>
          <a:ln w="9525">
            <a:solidFill>
              <a:srgbClr val="C9CAD3"/>
            </a:solidFill>
          </a:ln>
        </p:spPr>
      </p:pic>
      <p:sp>
        <p:nvSpPr>
          <p:cNvPr id="4" name="Roles"/>
          <p:cNvSpPr txBox="1"/>
          <p:nvPr/>
        </p:nvSpPr>
        <p:spPr>
          <a:xfrm>
            <a:off x="2286000" y="5285232"/>
            <a:ext cx="6217920" cy="1188720"/>
          </a:xfrm>
          <a:prstGeom prst="rect">
            <a:avLst/>
          </a:prstGeom>
          <a:noFill/>
        </p:spPr>
        <p:txBody>
          <a:bodyPr wrap="square" anchor="t" lIns="0" rIns="0" tIns="0" bIns="0">
            <a:spAutoFit/>
          </a:bodyPr>
          <a:lstStyle/>
          <a:p>
            <a:pPr algn="l">
              <a:spcAft>
                <a:spcPts val="300"/>
              </a:spcAft>
            </a:pPr>
            <a:r>
              <a:rPr sz="1500" b="1" i="0">
                <a:solidFill>
                  <a:srgbClr val="26262E"/>
                </a:solidFill>
                <a:latin typeface="Calibri"/>
              </a:rPr>
              <a:t>Instructor  </a:t>
            </a:r>
            <a:r>
              <a:rPr sz="1500" b="0" i="0">
                <a:solidFill>
                  <a:srgbClr val="26262E"/>
                </a:solidFill>
                <a:latin typeface="Calibri"/>
              </a:rPr>
              <a:t>individual students, SHAP and LIME side by side</a:t>
            </a:r>
          </a:p>
          <a:p>
            <a:pPr algn="l">
              <a:spcAft>
                <a:spcPts val="300"/>
              </a:spcAft>
            </a:pPr>
            <a:r>
              <a:rPr sz="1500" b="1" i="0">
                <a:solidFill>
                  <a:srgbClr val="26262E"/>
                </a:solidFill>
                <a:latin typeface="Calibri"/>
              </a:rPr>
              <a:t>Advisor  </a:t>
            </a:r>
            <a:r>
              <a:rPr sz="1500" b="0" i="0">
                <a:solidFill>
                  <a:srgbClr val="26262E"/>
                </a:solidFill>
                <a:latin typeface="Calibri"/>
              </a:rPr>
              <a:t>caseload across modules</a:t>
            </a:r>
          </a:p>
          <a:p>
            <a:pPr algn="l">
              <a:spcAft>
                <a:spcPts val="300"/>
              </a:spcAft>
            </a:pPr>
            <a:r>
              <a:rPr sz="1500" b="1" i="0">
                <a:solidFill>
                  <a:srgbClr val="26262E"/>
                </a:solidFill>
                <a:latin typeface="Calibri"/>
              </a:rPr>
              <a:t>Administrator  </a:t>
            </a:r>
            <a:r>
              <a:rPr sz="1500" b="0" i="0">
                <a:solidFill>
                  <a:srgbClr val="26262E"/>
                </a:solidFill>
                <a:latin typeface="Calibri"/>
              </a:rPr>
              <a:t>institution-level performance and drivers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Contributions &amp; Limitations</a:t>
            </a:r>
          </a:p>
        </p:txBody>
      </p:sp>
      <p:sp>
        <p:nvSpPr>
          <p:cNvPr id="3" name="Contributions"/>
          <p:cNvSpPr txBox="1"/>
          <p:nvPr/>
        </p:nvSpPr>
        <p:spPr>
          <a:xfrm>
            <a:off x="2286000" y="1463040"/>
            <a:ext cx="2926080" cy="4754880"/>
          </a:xfrm>
          <a:prstGeom prst="rect">
            <a:avLst/>
          </a:prstGeom>
          <a:noFill/>
        </p:spPr>
        <p:txBody>
          <a:bodyPr wrap="square" anchor="t" lIns="0" rIns="0" tIns="0" bIns="0">
            <a:spAutoFit/>
          </a:bodyPr>
          <a:lstStyle/>
          <a:p>
            <a:pPr algn="l">
              <a:spcAft>
                <a:spcPts val="1400"/>
              </a:spcAft>
            </a:pPr>
            <a:r>
              <a:rPr sz="1300" b="1" i="0">
                <a:solidFill>
                  <a:srgbClr val="C00000"/>
                </a:solidFill>
                <a:latin typeface="Calibri"/>
              </a:rPr>
              <a:t>CONTRIBUTIONS</a:t>
            </a:r>
          </a:p>
          <a:p>
            <a:pPr algn="l" marL="201168" indent="-201168">
              <a:spcAft>
                <a:spcPts val="1400"/>
              </a:spcAft>
              <a:buClr>
                <a:srgbClr val="1F3864"/>
              </a:buClr>
              <a:buFont typeface="Arial"/>
              <a:buChar char="•"/>
            </a:pPr>
            <a:r>
              <a:rPr sz="1800" b="0" i="0">
                <a:solidFill>
                  <a:srgbClr val="26262E"/>
                </a:solidFill>
                <a:latin typeface="Calibri"/>
              </a:rPr>
              <a:t>Prediction and explanation in one LMS-connected system</a:t>
            </a:r>
          </a:p>
          <a:p>
            <a:pPr algn="l" marL="201168" indent="-201168">
              <a:spcAft>
                <a:spcPts val="1400"/>
              </a:spcAft>
              <a:buClr>
                <a:srgbClr val="1F3864"/>
              </a:buClr>
              <a:buFont typeface="Arial"/>
              <a:buChar char="•"/>
            </a:pPr>
            <a:r>
              <a:rPr sz="1800" b="0" i="0">
                <a:solidFill>
                  <a:srgbClr val="26262E"/>
                </a:solidFill>
                <a:latin typeface="Calibri"/>
              </a:rPr>
              <a:t>Individual, caseload and institution-level views</a:t>
            </a:r>
          </a:p>
          <a:p>
            <a:pPr algn="l" marL="201168" indent="-201168">
              <a:spcAft>
                <a:spcPts val="1400"/>
              </a:spcAft>
              <a:buClr>
                <a:srgbClr val="1F3864"/>
              </a:buClr>
              <a:buFont typeface="Arial"/>
              <a:buChar char="•"/>
            </a:pPr>
            <a:r>
              <a:rPr sz="1800" b="0" i="0">
                <a:solidFill>
                  <a:srgbClr val="26262E"/>
                </a:solidFill>
                <a:latin typeface="Calibri"/>
              </a:rPr>
              <a:t>CommonKADS applied to explainable learning analytics</a:t>
            </a:r>
          </a:p>
          <a:p>
            <a:pPr algn="l" marL="201168" indent="-201168">
              <a:spcAft>
                <a:spcPts val="1400"/>
              </a:spcAft>
              <a:buClr>
                <a:srgbClr val="1F3864"/>
              </a:buClr>
              <a:buFont typeface="Arial"/>
              <a:buChar char="•"/>
            </a:pPr>
            <a:r>
              <a:rPr sz="1800" b="0" i="0">
                <a:solidFill>
                  <a:srgbClr val="26262E"/>
                </a:solidFill>
                <a:latin typeface="Calibri"/>
              </a:rPr>
              <a:t>Comparison of SHAP and LIME agreement</a:t>
            </a:r>
          </a:p>
        </p:txBody>
      </p:sp>
      <p:sp>
        <p:nvSpPr>
          <p:cNvPr id="4" name="Limitations"/>
          <p:cNvSpPr txBox="1"/>
          <p:nvPr/>
        </p:nvSpPr>
        <p:spPr>
          <a:xfrm>
            <a:off x="5577840" y="1463040"/>
            <a:ext cx="2926080" cy="4754880"/>
          </a:xfrm>
          <a:prstGeom prst="rect">
            <a:avLst/>
          </a:prstGeom>
          <a:noFill/>
        </p:spPr>
        <p:txBody>
          <a:bodyPr wrap="square" anchor="t" lIns="0" rIns="0" tIns="0" bIns="0">
            <a:spAutoFit/>
          </a:bodyPr>
          <a:lstStyle/>
          <a:p>
            <a:pPr algn="l">
              <a:spcAft>
                <a:spcPts val="1400"/>
              </a:spcAft>
            </a:pPr>
            <a:r>
              <a:rPr sz="1300" b="1" i="0">
                <a:solidFill>
                  <a:srgbClr val="C00000"/>
                </a:solidFill>
                <a:latin typeface="Calibri"/>
              </a:rPr>
              <a:t>LIMITATIONS</a:t>
            </a:r>
          </a:p>
          <a:p>
            <a:pPr algn="l" marL="201168" indent="-201168">
              <a:spcAft>
                <a:spcPts val="1400"/>
              </a:spcAft>
              <a:buClr>
                <a:srgbClr val="1F3864"/>
              </a:buClr>
              <a:buFont typeface="Arial"/>
              <a:buChar char="•"/>
            </a:pPr>
            <a:r>
              <a:rPr sz="1800" b="0" i="0">
                <a:solidFill>
                  <a:srgbClr val="26262E"/>
                </a:solidFill>
                <a:latin typeface="Calibri"/>
              </a:rPr>
              <a:t>One dataset</a:t>
            </a:r>
          </a:p>
          <a:p>
            <a:pPr algn="l" marL="201168" indent="-201168">
              <a:spcAft>
                <a:spcPts val="1400"/>
              </a:spcAft>
              <a:buClr>
                <a:srgbClr val="1F3864"/>
              </a:buClr>
              <a:buFont typeface="Arial"/>
              <a:buChar char="•"/>
            </a:pPr>
            <a:r>
              <a:rPr sz="1800" b="0" i="0">
                <a:solidFill>
                  <a:srgbClr val="26262E"/>
                </a:solidFill>
                <a:latin typeface="Calibri"/>
              </a:rPr>
              <a:t>Retrospective, not early-warning classification</a:t>
            </a:r>
          </a:p>
          <a:p>
            <a:pPr algn="l" marL="201168" indent="-201168">
              <a:spcAft>
                <a:spcPts val="1400"/>
              </a:spcAft>
              <a:buClr>
                <a:srgbClr val="1F3864"/>
              </a:buClr>
              <a:buFont typeface="Arial"/>
              <a:buChar char="•"/>
            </a:pPr>
            <a:r>
              <a:rPr sz="1800" b="0" i="0">
                <a:solidFill>
                  <a:srgbClr val="26262E"/>
                </a:solidFill>
                <a:latin typeface="Calibri"/>
              </a:rPr>
              <a:t>No practitioner study</a:t>
            </a:r>
          </a:p>
          <a:p>
            <a:pPr algn="l" marL="201168" indent="-201168">
              <a:spcAft>
                <a:spcPts val="1400"/>
              </a:spcAft>
              <a:buClr>
                <a:srgbClr val="1F3864"/>
              </a:buClr>
              <a:buFont typeface="Arial"/>
              <a:buChar char="•"/>
            </a:pPr>
            <a:r>
              <a:rPr sz="1800" b="0" i="0">
                <a:solidFill>
                  <a:srgbClr val="26262E"/>
                </a:solidFill>
                <a:latin typeface="Calibri"/>
              </a:rPr>
              <a:t>Stability, fidelity, calibration and fairness not yet assessed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286000" y="502920"/>
            <a:ext cx="6217920" cy="685800"/>
          </a:xfrm>
        </p:spPr>
        <p:txBody>
          <a:bodyPr wrap="square" anchor="b" lIns="0" rIns="0" bIns="0">
            <a:normAutofit/>
          </a:bodyPr>
          <a:lstStyle/>
          <a:p>
            <a:pPr algn="l"/>
            <a:r>
              <a:rPr sz="2800" b="1" i="0">
                <a:solidFill>
                  <a:srgbClr val="1F3864"/>
                </a:solidFill>
                <a:latin typeface="Calibri"/>
              </a:rPr>
              <a:t>Conclusion &amp; Future Work</a:t>
            </a:r>
          </a:p>
        </p:txBody>
      </p:sp>
      <p:sp>
        <p:nvSpPr>
          <p:cNvPr id="3" name="Answers"/>
          <p:cNvSpPr txBox="1"/>
          <p:nvPr/>
        </p:nvSpPr>
        <p:spPr>
          <a:xfrm>
            <a:off x="2286000" y="1463040"/>
            <a:ext cx="3291840" cy="3291840"/>
          </a:xfrm>
          <a:prstGeom prst="rect">
            <a:avLst/>
          </a:prstGeom>
          <a:noFill/>
        </p:spPr>
        <p:txBody>
          <a:bodyPr wrap="square" anchor="t" lIns="0" rIns="0" tIns="0" bIns="0">
            <a:spAutoFit/>
          </a:bodyPr>
          <a:lstStyle/>
          <a:p>
            <a:pPr algn="l">
              <a:spcAft>
                <a:spcPts val="1000"/>
              </a:spcAft>
            </a:pPr>
            <a:r>
              <a:rPr sz="1300" b="1" i="0">
                <a:solidFill>
                  <a:srgbClr val="C00000"/>
                </a:solidFill>
                <a:latin typeface="Calibri"/>
              </a:rPr>
              <a:t>ANSWERS TO THE RESEARCH QUESTIONS</a:t>
            </a:r>
          </a:p>
          <a:p>
            <a:pPr algn="l" marL="201168" indent="-201168">
              <a:spcAft>
                <a:spcPts val="1000"/>
              </a:spcAft>
              <a:buClr>
                <a:srgbClr val="1F3864"/>
              </a:buClr>
              <a:buFont typeface="Arial"/>
              <a:buChar char="•"/>
            </a:pPr>
            <a:r>
              <a:rPr sz="1600" b="1" i="0">
                <a:solidFill>
                  <a:srgbClr val="26262E"/>
                </a:solidFill>
                <a:latin typeface="Calibri"/>
              </a:rPr>
              <a:t>RQ1 </a:t>
            </a:r>
            <a:r>
              <a:rPr sz="1600" b="0" i="0">
                <a:solidFill>
                  <a:srgbClr val="26262E"/>
                </a:solidFill>
                <a:latin typeface="Calibri"/>
              </a:rPr>
              <a:t>SHAP and LIME integrated; agree on the main driver, partly per student</a:t>
            </a:r>
          </a:p>
          <a:p>
            <a:pPr algn="l" marL="201168" indent="-201168">
              <a:spcAft>
                <a:spcPts val="1000"/>
              </a:spcAft>
              <a:buClr>
                <a:srgbClr val="1F3864"/>
              </a:buClr>
              <a:buFont typeface="Arial"/>
              <a:buChar char="•"/>
            </a:pPr>
            <a:r>
              <a:rPr sz="1600" b="1" i="0">
                <a:solidFill>
                  <a:srgbClr val="26262E"/>
                </a:solidFill>
                <a:latin typeface="Calibri"/>
              </a:rPr>
              <a:t>RQ2 </a:t>
            </a:r>
            <a:r>
              <a:rPr sz="1600" b="0" i="0">
                <a:solidFill>
                  <a:srgbClr val="26262E"/>
                </a:solidFill>
                <a:latin typeface="Calibri"/>
              </a:rPr>
              <a:t>instructor, advisor and administrator views in Moodle and Canvas</a:t>
            </a:r>
          </a:p>
          <a:p>
            <a:pPr algn="l" marL="201168" indent="-201168">
              <a:spcAft>
                <a:spcPts val="1000"/>
              </a:spcAft>
              <a:buClr>
                <a:srgbClr val="1F3864"/>
              </a:buClr>
              <a:buFont typeface="Arial"/>
              <a:buChar char="•"/>
            </a:pPr>
            <a:r>
              <a:rPr sz="1600" b="1" i="0">
                <a:solidFill>
                  <a:srgbClr val="26262E"/>
                </a:solidFill>
                <a:latin typeface="Calibri"/>
              </a:rPr>
              <a:t>RQ3 </a:t>
            </a:r>
            <a:r>
              <a:rPr sz="1600" b="0" i="0">
                <a:solidFill>
                  <a:srgbClr val="26262E"/>
                </a:solidFill>
                <a:latin typeface="Calibri"/>
              </a:rPr>
              <a:t>technical evidence established; practitioner use still open</a:t>
            </a:r>
          </a:p>
        </p:txBody>
      </p:sp>
      <p:sp>
        <p:nvSpPr>
          <p:cNvPr id="4" name="Future work"/>
          <p:cNvSpPr txBox="1"/>
          <p:nvPr/>
        </p:nvSpPr>
        <p:spPr>
          <a:xfrm>
            <a:off x="5943600" y="1463040"/>
            <a:ext cx="2560320" cy="3291840"/>
          </a:xfrm>
          <a:prstGeom prst="rect">
            <a:avLst/>
          </a:prstGeom>
          <a:noFill/>
        </p:spPr>
        <p:txBody>
          <a:bodyPr wrap="square" anchor="t" lIns="0" rIns="0" tIns="0" bIns="0">
            <a:spAutoFit/>
          </a:bodyPr>
          <a:lstStyle/>
          <a:p>
            <a:pPr algn="l">
              <a:spcAft>
                <a:spcPts val="1000"/>
              </a:spcAft>
            </a:pPr>
            <a:r>
              <a:rPr sz="1300" b="1" i="0">
                <a:solidFill>
                  <a:srgbClr val="C00000"/>
                </a:solidFill>
                <a:latin typeface="Calibri"/>
              </a:rPr>
              <a:t>FUTURE WORK</a:t>
            </a:r>
          </a:p>
          <a:p>
            <a:pPr algn="l" marL="201168" indent="-201168">
              <a:spcAft>
                <a:spcPts val="1000"/>
              </a:spcAft>
              <a:buClr>
                <a:srgbClr val="1F3864"/>
              </a:buClr>
              <a:buFont typeface="Arial"/>
              <a:buChar char="•"/>
            </a:pPr>
            <a:r>
              <a:rPr sz="1600" b="0" i="0">
                <a:solidFill>
                  <a:srgbClr val="26262E"/>
                </a:solidFill>
                <a:latin typeface="Calibri"/>
              </a:rPr>
              <a:t>Early warning at weeks 2, 4, 6, 8</a:t>
            </a:r>
          </a:p>
          <a:p>
            <a:pPr algn="l" marL="201168" indent="-201168">
              <a:spcAft>
                <a:spcPts val="1000"/>
              </a:spcAft>
              <a:buClr>
                <a:srgbClr val="1F3864"/>
              </a:buClr>
              <a:buFont typeface="Arial"/>
              <a:buChar char="•"/>
            </a:pPr>
            <a:r>
              <a:rPr sz="1600" b="0" i="0">
                <a:solidFill>
                  <a:srgbClr val="26262E"/>
                </a:solidFill>
                <a:latin typeface="Calibri"/>
              </a:rPr>
              <a:t>Calibration and subgroup fairness</a:t>
            </a:r>
          </a:p>
          <a:p>
            <a:pPr algn="l" marL="201168" indent="-201168">
              <a:spcAft>
                <a:spcPts val="1000"/>
              </a:spcAft>
              <a:buClr>
                <a:srgbClr val="1F3864"/>
              </a:buClr>
              <a:buFont typeface="Arial"/>
              <a:buChar char="•"/>
            </a:pPr>
            <a:r>
              <a:rPr sz="1600" b="0" i="0">
                <a:solidFill>
                  <a:srgbClr val="26262E"/>
                </a:solidFill>
                <a:latin typeface="Calibri"/>
              </a:rPr>
              <a:t>Practitioner study (TAM)</a:t>
            </a:r>
          </a:p>
        </p:txBody>
      </p:sp>
      <p:sp>
        <p:nvSpPr>
          <p:cNvPr id="5" name="Closing"/>
          <p:cNvSpPr txBox="1"/>
          <p:nvPr/>
        </p:nvSpPr>
        <p:spPr>
          <a:xfrm>
            <a:off x="2286000" y="5029200"/>
            <a:ext cx="6217920" cy="1005840"/>
          </a:xfrm>
          <a:prstGeom prst="rect">
            <a:avLst/>
          </a:prstGeom>
          <a:noFill/>
        </p:spPr>
        <p:txBody>
          <a:bodyPr wrap="square" anchor="t" lIns="0" rIns="0" tIns="0" bIns="0">
            <a:spAutoFit/>
          </a:bodyPr>
          <a:lstStyle/>
          <a:p>
            <a:pPr algn="l">
              <a:spcAft>
                <a:spcPts val="600"/>
              </a:spcAft>
            </a:pPr>
            <a:r>
              <a:rPr sz="1800" b="1" i="0">
                <a:solidFill>
                  <a:srgbClr val="1F3864"/>
                </a:solidFill>
                <a:latin typeface="Calibri"/>
              </a:rPr>
              <a:t>The goal is not only to predict risk, but to make predictions interpretable and accessible to the people who support students.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402</TotalTime>
  <Words>2</Words>
  <Application>Microsoft Office PowerPoint</Application>
  <PresentationFormat>On-screen Show (4:3)</PresentationFormat>
  <Paragraphs>3</Paragraphs>
  <Slides>2</Slides>
  <Notes>0</Notes>
  <HiddenSlides>0</HiddenSlides>
  <MMClips>0</MMClip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Office Theme</vt:lpstr>
      <vt:lpstr>Custom Design</vt:lpstr>
      <vt:lpstr>     </vt:lpstr>
      <vt:lpstr>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Defense: Role-Aware Explainable AI Dashboard</dc:title>
  <dc:creator>Daniel Larry</dc:creator>
  <cp:lastModifiedBy>Usoh Usoh</cp:lastModifiedBy>
  <cp:revision>46</cp:revision>
  <dcterms:created xsi:type="dcterms:W3CDTF">2012-03-20T13:18:15Z</dcterms:created>
  <dcterms:modified xsi:type="dcterms:W3CDTF">2018-02-14T11:14:47Z</dcterms:modified>
</cp:coreProperties>
</file>