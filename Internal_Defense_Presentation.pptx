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96" r:id="rId30"/>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8E91A8"/>
              </a:solidFill>
            </a:ln>
          </c:spPr>
          <c:marker>
            <c:symbol val="circle"/>
            <c:size val="8"/>
            <c:spPr>
              <a:solidFill>
                <a:srgbClr val="8E91A8"/>
              </a:solidFill>
              <a:ln>
                <a:solidFill>
                  <a:srgbClr val="8E91A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3E3E48"/>
              </a:solidFill>
            </a:ln>
          </c:spPr>
          <c:marker>
            <c:symbol val="circle"/>
            <c:size val="8"/>
            <c:spPr>
              <a:solidFill>
                <a:srgbClr val="3E3E48"/>
              </a:solidFill>
              <a:ln>
                <a:solidFill>
                  <a:srgbClr val="3E3E48"/>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CAD3"/>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is knowledge engineering, using CommonKADS. I chose it because the central design problem is a knowledge problem: how to represent the knowledge the prediction system produces, the predictions and their SHAP and LIME explanations, and deliver it to instructors, advisors and administrators according to what each of them needs. The work ran in four iterative knowledge engineering phases: knowledge acquisition and organisation analysis, knowledge and system modelling, artefact design and development, and technical evaluation. Knowledge acquisition drew on published literature, not interviews, because no practitioners were involved. Design science, following Peffers and colleagues, structures the research steps around the artefact, and the Technology Acceptance Model is only a design lens, not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design idea, shown running inside Moodle. Every role sees the same prediction, but at a different depth. The instructor works inside a running course and sees individual students with SHAP and LIME side by side. The advisor manages a caseload and sees reasoning averaged over students at or above the watch threshold. The administrator directs resources and sees institution-wide performance and the full-population reasoning trail. Moodle supplies the login, the role and the course context. These views were derived from the Agent Model and the literature and have not yet been tested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At-risk insights page of the Moodle plugin in course FFF-2014J. Students are ranked by predicted risk. Selecting one shows the top five SHAP contributions and the top five LIME weights, colour-coded by whether a feature pushes towards or away from at-risk. A note says how many features the two methods share for this student, here four of five, and reminds the instructor that contributions describe the model's reasoning, not the causes of the student's situation, and that the decision stays with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was integrated with two LMSs, both running locally under Docker. In Moodle 5.2 a native plugin, local_xairisk, adds At-risk insights to each course's More menu and uses Moodle's own login, roles and enrolments, calling the API server to server. In Canvas the dashboard is added to every course as an External URL module item and embedded in an iframe, without LTI. All 22 OULAD module presentations were loaded as courses in both systems, with 28,785 students and 32,593 enrolments.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9.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FFFF"/>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knowledge engineering</a:t>
            </a:r>
          </a:p>
        </p:txBody>
      </p:sp>
      <p:sp>
        <p:nvSpPr>
          <p:cNvPr id="12" name="Number 5"/>
          <p:cNvSpPr/>
          <p:nvPr/>
        </p:nvSpPr>
        <p:spPr>
          <a:xfrm>
            <a:off x="2240280" y="361188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343174"/>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ect">
            <a:avLst/>
          </a:prstGeom>
          <a:solidFill>
            <a:srgbClr val="343174"/>
          </a:solidFill>
          <a:ln>
            <a:noFill/>
          </a:ln>
          <a:effectLst/>
        </p:spPr>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C9C8E0"/>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ect">
            <a:avLst/>
          </a:prstGeom>
          <a:solidFill>
            <a:srgbClr val="F2F2F5"/>
          </a:solidFill>
          <a:ln>
            <a:noFill/>
          </a:ln>
          <a:effectLst/>
        </p:spPr>
        <p:txBody>
          <a:bodyPr rtlCol="0" anchor="ctr"/>
          <a:lstStyle/>
          <a:p/>
        </p:txBody>
      </p:sp>
      <p:sp>
        <p:nvSpPr>
          <p:cNvPr id="5" name="Oval 4"/>
          <p:cNvSpPr/>
          <p:nvPr/>
        </p:nvSpPr>
        <p:spPr>
          <a:xfrm>
            <a:off x="2441448" y="17190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ect">
            <a:avLst/>
          </a:prstGeom>
          <a:solidFill>
            <a:srgbClr val="F2F2F5"/>
          </a:solidFill>
          <a:ln>
            <a:noFill/>
          </a:ln>
          <a:effectLst/>
        </p:spPr>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ect">
            <a:avLst/>
          </a:prstGeom>
          <a:solidFill>
            <a:srgbClr val="F2F2F5"/>
          </a:solidFill>
          <a:ln>
            <a:noFill/>
          </a:ln>
          <a:effectLst/>
        </p:spPr>
        <p:txBody>
          <a:bodyPr rtlCol="0" anchor="ctr"/>
          <a:lstStyle/>
          <a:p/>
        </p:txBody>
      </p:sp>
      <p:sp>
        <p:nvSpPr>
          <p:cNvPr id="11" name="Oval 10"/>
          <p:cNvSpPr/>
          <p:nvPr/>
        </p:nvSpPr>
        <p:spPr>
          <a:xfrm>
            <a:off x="2441448" y="44622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ect">
            <a:avLst/>
          </a:prstGeom>
          <a:solidFill>
            <a:srgbClr val="343174"/>
          </a:solidFill>
          <a:ln>
            <a:noFill/>
          </a:ln>
          <a:effectLst/>
        </p:spPr>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C9C8E0"/>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ect">
            <a:avLst/>
          </a:prstGeom>
          <a:solidFill>
            <a:srgbClr val="F2F2F5"/>
          </a:solidFill>
          <a:ln>
            <a:noFill/>
          </a:ln>
          <a:effectLst/>
        </p:spPr>
        <p:txBody>
          <a:bodyPr rtlCol="0" anchor="ctr"/>
          <a:lstStyle/>
          <a:p/>
        </p:txBody>
      </p:sp>
      <p:sp>
        <p:nvSpPr>
          <p:cNvPr id="5" name="RQ label 1"/>
          <p:cNvSpPr/>
          <p:nvPr/>
        </p:nvSpPr>
        <p:spPr>
          <a:xfrm>
            <a:off x="2240280" y="1371600"/>
            <a:ext cx="914400" cy="1353312"/>
          </a:xfrm>
          <a:prstGeom prst="rect">
            <a:avLst/>
          </a:prstGeom>
          <a:solidFill>
            <a:srgbClr val="343174"/>
          </a:solidFill>
          <a:ln>
            <a:noFill/>
          </a:ln>
          <a:effectLst/>
        </p:spPr>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26464"/>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How can explainable AI techniques (specifically SHAP and LIME) be integrated into a knowledge engineering pipeline to improve transparency in student at-risk prediction models?</a:t>
            </a:r>
          </a:p>
        </p:txBody>
      </p:sp>
      <p:sp>
        <p:nvSpPr>
          <p:cNvPr id="8" name="RQ card 2"/>
          <p:cNvSpPr/>
          <p:nvPr/>
        </p:nvSpPr>
        <p:spPr>
          <a:xfrm>
            <a:off x="2240280" y="2907791"/>
            <a:ext cx="6309359" cy="1353312"/>
          </a:xfrm>
          <a:prstGeom prst="rect">
            <a:avLst/>
          </a:prstGeom>
          <a:solidFill>
            <a:srgbClr val="F2F2F5"/>
          </a:solidFill>
          <a:ln>
            <a:noFill/>
          </a:ln>
          <a:effectLst/>
        </p:spPr>
        <p:txBody>
          <a:bodyPr rtlCol="0" anchor="ctr"/>
          <a:lstStyle/>
          <a:p/>
        </p:txBody>
      </p:sp>
      <p:sp>
        <p:nvSpPr>
          <p:cNvPr id="9" name="RQ label 2"/>
          <p:cNvSpPr/>
          <p:nvPr/>
        </p:nvSpPr>
        <p:spPr>
          <a:xfrm>
            <a:off x="2240280" y="2907791"/>
            <a:ext cx="914400" cy="1353312"/>
          </a:xfrm>
          <a:prstGeom prst="rect">
            <a:avLst/>
          </a:prstGeom>
          <a:solidFill>
            <a:srgbClr val="343174"/>
          </a:solidFill>
          <a:ln>
            <a:noFill/>
          </a:ln>
          <a:effectLst/>
        </p:spPr>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62656"/>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p:txBody>
      </p:sp>
      <p:sp>
        <p:nvSpPr>
          <p:cNvPr id="12" name="RQ card 3"/>
          <p:cNvSpPr/>
          <p:nvPr/>
        </p:nvSpPr>
        <p:spPr>
          <a:xfrm>
            <a:off x="2240280" y="4443983"/>
            <a:ext cx="6309359" cy="1353312"/>
          </a:xfrm>
          <a:prstGeom prst="rect">
            <a:avLst/>
          </a:prstGeom>
          <a:solidFill>
            <a:srgbClr val="F2F2F5"/>
          </a:solidFill>
          <a:ln>
            <a:noFill/>
          </a:ln>
          <a:effectLst/>
        </p:spPr>
        <p:txBody>
          <a:bodyPr rtlCol="0" anchor="ctr"/>
          <a:lstStyle/>
          <a:p/>
        </p:txBody>
      </p:sp>
      <p:sp>
        <p:nvSpPr>
          <p:cNvPr id="13" name="RQ label 3"/>
          <p:cNvSpPr/>
          <p:nvPr/>
        </p:nvSpPr>
        <p:spPr>
          <a:xfrm>
            <a:off x="2240280" y="4443983"/>
            <a:ext cx="914400" cy="1353312"/>
          </a:xfrm>
          <a:prstGeom prst="rect">
            <a:avLst/>
          </a:prstGeom>
          <a:solidFill>
            <a:srgbClr val="343174"/>
          </a:solidFill>
          <a:ln>
            <a:noFill/>
          </a:ln>
          <a:effectLst/>
        </p:spPr>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498847"/>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ect">
            <a:avLst/>
          </a:prstGeom>
          <a:solidFill>
            <a:srgbClr val="F2F2F5"/>
          </a:solidFill>
          <a:ln>
            <a:noFill/>
          </a:ln>
          <a:effectLst/>
        </p:spPr>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ect">
            <a:avLst/>
          </a:prstGeom>
          <a:solidFill>
            <a:srgbClr val="F6F6FA"/>
          </a:solidFill>
          <a:ln>
            <a:noFill/>
          </a:ln>
          <a:effectLst/>
        </p:spPr>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ect">
            <a:avLst/>
          </a:prstGeom>
          <a:solidFill>
            <a:srgbClr val="F2F2F5"/>
          </a:solidFill>
          <a:ln>
            <a:noFill/>
          </a:ln>
          <a:effectLst/>
        </p:spPr>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ect">
            <a:avLst/>
          </a:prstGeom>
          <a:solidFill>
            <a:srgbClr val="F6F6FA"/>
          </a:solidFill>
          <a:ln>
            <a:noFill/>
          </a:ln>
          <a:effectLst/>
        </p:spPr>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ect">
            <a:avLst/>
          </a:prstGeom>
          <a:solidFill>
            <a:srgbClr val="F2F2F5"/>
          </a:solidFill>
          <a:ln>
            <a:noFill/>
          </a:ln>
          <a:effectLst/>
        </p:spPr>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 Knowledge Engineering</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KE banner"/>
          <p:cNvSpPr/>
          <p:nvPr/>
        </p:nvSpPr>
        <p:spPr>
          <a:xfrm>
            <a:off x="2240280" y="1371600"/>
            <a:ext cx="6309359" cy="1097280"/>
          </a:xfrm>
          <a:prstGeom prst="rect">
            <a:avLst/>
          </a:prstGeom>
          <a:solidFill>
            <a:srgbClr val="343174"/>
          </a:solidFill>
          <a:ln>
            <a:noFill/>
          </a:ln>
          <a:effectLst/>
        </p:spPr>
        <p:txBody>
          <a:bodyPr rtlCol="0" anchor="ctr"/>
          <a:lstStyle/>
          <a:p/>
        </p:txBody>
      </p:sp>
      <p:sp>
        <p:nvSpPr>
          <p:cNvPr id="5" name="KE banner text"/>
          <p:cNvSpPr txBox="1"/>
          <p:nvPr/>
        </p:nvSpPr>
        <p:spPr>
          <a:xfrm>
            <a:off x="2468880" y="1417320"/>
            <a:ext cx="5852159" cy="1005840"/>
          </a:xfrm>
          <a:prstGeom prst="rect">
            <a:avLst/>
          </a:prstGeom>
          <a:noFill/>
        </p:spPr>
        <p:txBody>
          <a:bodyPr wrap="square" anchor="ctr" lIns="0" rIns="0" tIns="0" bIns="0">
            <a:spAutoFit/>
          </a:bodyPr>
          <a:lstStyle/>
          <a:p>
            <a:pPr algn="l">
              <a:spcAft>
                <a:spcPts val="400"/>
              </a:spcAft>
            </a:pPr>
            <a:r>
              <a:rPr sz="1900" b="1" i="0">
                <a:solidFill>
                  <a:srgbClr val="FFFFFF"/>
                </a:solidFill>
                <a:latin typeface="Calibri"/>
              </a:rPr>
              <a:t>CommonKADS knowledge engineering methodology</a:t>
            </a:r>
          </a:p>
          <a:p>
            <a:pPr algn="l">
              <a:spcAft>
                <a:spcPts val="400"/>
              </a:spcAft>
            </a:pPr>
            <a:r>
              <a:rPr sz="1400" b="0" i="0">
                <a:solidFill>
                  <a:srgbClr val="E4E3F2"/>
                </a:solidFill>
                <a:latin typeface="Calibri"/>
              </a:rPr>
              <a:t>Core problem: represent the knowledge the prediction system produces and deliver it to each role according to its needs</a:t>
            </a:r>
          </a:p>
        </p:txBody>
      </p:sp>
      <p:sp>
        <p:nvSpPr>
          <p:cNvPr id="6" name="KE phase 1"/>
          <p:cNvSpPr/>
          <p:nvPr/>
        </p:nvSpPr>
        <p:spPr>
          <a:xfrm>
            <a:off x="2240280" y="2697480"/>
            <a:ext cx="1371600" cy="1417320"/>
          </a:xfrm>
          <a:prstGeom prst="rect">
            <a:avLst/>
          </a:prstGeom>
          <a:solidFill>
            <a:srgbClr val="F2F2F5"/>
          </a:solidFill>
          <a:ln>
            <a:noFill/>
          </a:ln>
          <a:effectLst/>
        </p:spPr>
        <p:txBody>
          <a:bodyPr rtlCol="0" anchor="ctr"/>
          <a:lstStyle/>
          <a:p/>
        </p:txBody>
      </p:sp>
      <p:sp>
        <p:nvSpPr>
          <p:cNvPr id="7" name="KE phase text 1"/>
          <p:cNvSpPr txBox="1"/>
          <p:nvPr/>
        </p:nvSpPr>
        <p:spPr>
          <a:xfrm>
            <a:off x="229514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1</a:t>
            </a:r>
          </a:p>
          <a:p>
            <a:pPr algn="ctr">
              <a:spcAft>
                <a:spcPts val="200"/>
              </a:spcAft>
            </a:pPr>
            <a:r>
              <a:rPr sz="1400" b="1" i="0">
                <a:solidFill>
                  <a:srgbClr val="22222A"/>
                </a:solidFill>
                <a:latin typeface="Calibri"/>
              </a:rPr>
              <a:t>Knowledge acquisition and organisation analysis</a:t>
            </a:r>
          </a:p>
        </p:txBody>
      </p:sp>
      <p:sp>
        <p:nvSpPr>
          <p:cNvPr id="8" name="Right Arrow 7"/>
          <p:cNvSpPr/>
          <p:nvPr/>
        </p:nvSpPr>
        <p:spPr>
          <a:xfrm>
            <a:off x="3657600" y="3291840"/>
            <a:ext cx="182879" cy="219456"/>
          </a:xfrm>
          <a:prstGeom prst="rightArrow">
            <a:avLst/>
          </a:prstGeom>
          <a:solidFill>
            <a:srgbClr val="555560"/>
          </a:solidFill>
          <a:ln>
            <a:noFill/>
          </a:ln>
          <a:effectLst/>
        </p:spPr>
        <p:txBody>
          <a:bodyPr rtlCol="0" anchor="ctr"/>
          <a:lstStyle/>
          <a:p>
            <a:pPr algn="ctr"/>
          </a:p>
        </p:txBody>
      </p:sp>
      <p:sp>
        <p:nvSpPr>
          <p:cNvPr id="9" name="KE phase 2"/>
          <p:cNvSpPr/>
          <p:nvPr/>
        </p:nvSpPr>
        <p:spPr>
          <a:xfrm>
            <a:off x="3886200" y="2697480"/>
            <a:ext cx="1371600" cy="1417320"/>
          </a:xfrm>
          <a:prstGeom prst="rect">
            <a:avLst/>
          </a:prstGeom>
          <a:solidFill>
            <a:srgbClr val="F2F2F5"/>
          </a:solidFill>
          <a:ln>
            <a:noFill/>
          </a:ln>
          <a:effectLst/>
        </p:spPr>
        <p:txBody>
          <a:bodyPr rtlCol="0" anchor="ctr"/>
          <a:lstStyle/>
          <a:p/>
        </p:txBody>
      </p:sp>
      <p:sp>
        <p:nvSpPr>
          <p:cNvPr id="10" name="KE phase text 2"/>
          <p:cNvSpPr txBox="1"/>
          <p:nvPr/>
        </p:nvSpPr>
        <p:spPr>
          <a:xfrm>
            <a:off x="3941063"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2</a:t>
            </a:r>
          </a:p>
          <a:p>
            <a:pPr algn="ctr">
              <a:spcAft>
                <a:spcPts val="200"/>
              </a:spcAft>
            </a:pPr>
            <a:r>
              <a:rPr sz="1400" b="1" i="0">
                <a:solidFill>
                  <a:srgbClr val="22222A"/>
                </a:solidFill>
                <a:latin typeface="Calibri"/>
              </a:rPr>
              <a:t>Knowledge and system modelling</a:t>
            </a:r>
          </a:p>
        </p:txBody>
      </p:sp>
      <p:sp>
        <p:nvSpPr>
          <p:cNvPr id="11" name="Right Arrow 10"/>
          <p:cNvSpPr/>
          <p:nvPr/>
        </p:nvSpPr>
        <p:spPr>
          <a:xfrm>
            <a:off x="5303520" y="3291840"/>
            <a:ext cx="182879" cy="219456"/>
          </a:xfrm>
          <a:prstGeom prst="rightArrow">
            <a:avLst/>
          </a:prstGeom>
          <a:solidFill>
            <a:srgbClr val="555560"/>
          </a:solidFill>
          <a:ln>
            <a:noFill/>
          </a:ln>
          <a:effectLst/>
        </p:spPr>
        <p:txBody>
          <a:bodyPr rtlCol="0" anchor="ctr"/>
          <a:lstStyle/>
          <a:p>
            <a:pPr algn="ctr"/>
          </a:p>
        </p:txBody>
      </p:sp>
      <p:sp>
        <p:nvSpPr>
          <p:cNvPr id="12" name="KE phase 3"/>
          <p:cNvSpPr/>
          <p:nvPr/>
        </p:nvSpPr>
        <p:spPr>
          <a:xfrm>
            <a:off x="5532120" y="2697480"/>
            <a:ext cx="1371600" cy="1417320"/>
          </a:xfrm>
          <a:prstGeom prst="rect">
            <a:avLst/>
          </a:prstGeom>
          <a:solidFill>
            <a:srgbClr val="F2F2F5"/>
          </a:solidFill>
          <a:ln>
            <a:noFill/>
          </a:ln>
          <a:effectLst/>
        </p:spPr>
        <p:txBody>
          <a:bodyPr rtlCol="0" anchor="ctr"/>
          <a:lstStyle/>
          <a:p/>
        </p:txBody>
      </p:sp>
      <p:sp>
        <p:nvSpPr>
          <p:cNvPr id="13" name="KE phase text 3"/>
          <p:cNvSpPr txBox="1"/>
          <p:nvPr/>
        </p:nvSpPr>
        <p:spPr>
          <a:xfrm>
            <a:off x="558698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3</a:t>
            </a:r>
          </a:p>
          <a:p>
            <a:pPr algn="ctr">
              <a:spcAft>
                <a:spcPts val="200"/>
              </a:spcAft>
            </a:pPr>
            <a:r>
              <a:rPr sz="1400" b="1" i="0">
                <a:solidFill>
                  <a:srgbClr val="22222A"/>
                </a:solidFill>
                <a:latin typeface="Calibri"/>
              </a:rPr>
              <a:t>Artefact design and development</a:t>
            </a:r>
          </a:p>
        </p:txBody>
      </p:sp>
      <p:sp>
        <p:nvSpPr>
          <p:cNvPr id="14" name="Right Arrow 13"/>
          <p:cNvSpPr/>
          <p:nvPr/>
        </p:nvSpPr>
        <p:spPr>
          <a:xfrm>
            <a:off x="6949440" y="3291840"/>
            <a:ext cx="182879" cy="219456"/>
          </a:xfrm>
          <a:prstGeom prst="rightArrow">
            <a:avLst/>
          </a:prstGeom>
          <a:solidFill>
            <a:srgbClr val="555560"/>
          </a:solidFill>
          <a:ln>
            <a:noFill/>
          </a:ln>
          <a:effectLst/>
        </p:spPr>
        <p:txBody>
          <a:bodyPr rtlCol="0" anchor="ctr"/>
          <a:lstStyle/>
          <a:p>
            <a:pPr algn="ctr"/>
          </a:p>
        </p:txBody>
      </p:sp>
      <p:sp>
        <p:nvSpPr>
          <p:cNvPr id="15" name="KE phase 4"/>
          <p:cNvSpPr/>
          <p:nvPr/>
        </p:nvSpPr>
        <p:spPr>
          <a:xfrm>
            <a:off x="7178040" y="2697480"/>
            <a:ext cx="1371600" cy="1417320"/>
          </a:xfrm>
          <a:prstGeom prst="rect">
            <a:avLst/>
          </a:prstGeom>
          <a:solidFill>
            <a:srgbClr val="F2F2F5"/>
          </a:solidFill>
          <a:ln>
            <a:noFill/>
          </a:ln>
          <a:effectLst/>
        </p:spPr>
        <p:txBody>
          <a:bodyPr rtlCol="0" anchor="ctr"/>
          <a:lstStyle/>
          <a:p/>
        </p:txBody>
      </p:sp>
      <p:sp>
        <p:nvSpPr>
          <p:cNvPr id="16" name="KE phase text 4"/>
          <p:cNvSpPr txBox="1"/>
          <p:nvPr/>
        </p:nvSpPr>
        <p:spPr>
          <a:xfrm>
            <a:off x="723290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4</a:t>
            </a:r>
          </a:p>
          <a:p>
            <a:pPr algn="ctr">
              <a:spcAft>
                <a:spcPts val="200"/>
              </a:spcAft>
            </a:pPr>
            <a:r>
              <a:rPr sz="1400" b="1" i="0">
                <a:solidFill>
                  <a:srgbClr val="22222A"/>
                </a:solidFill>
                <a:latin typeface="Calibri"/>
              </a:rPr>
              <a:t>Technical evaluation</a:t>
            </a:r>
          </a:p>
        </p:txBody>
      </p:sp>
      <p:sp>
        <p:nvSpPr>
          <p:cNvPr id="17" name="KE note"/>
          <p:cNvSpPr txBox="1"/>
          <p:nvPr/>
        </p:nvSpPr>
        <p:spPr>
          <a:xfrm>
            <a:off x="2240280" y="4206240"/>
            <a:ext cx="6309359" cy="365760"/>
          </a:xfrm>
          <a:prstGeom prst="rect">
            <a:avLst/>
          </a:prstGeom>
          <a:noFill/>
        </p:spPr>
        <p:txBody>
          <a:bodyPr wrap="square" anchor="t" lIns="0" rIns="0" tIns="0" bIns="0">
            <a:spAutoFit/>
          </a:bodyPr>
          <a:lstStyle/>
          <a:p>
            <a:pPr algn="l">
              <a:spcAft>
                <a:spcPts val="600"/>
              </a:spcAft>
            </a:pPr>
            <a:r>
              <a:rPr sz="1400" b="0" i="1">
                <a:solidFill>
                  <a:srgbClr val="555560"/>
                </a:solidFill>
                <a:latin typeface="Calibri"/>
              </a:rPr>
              <a:t>Iterative, with feedback between phases; knowledge acquired from published literature</a:t>
            </a:r>
          </a:p>
        </p:txBody>
      </p:sp>
      <p:sp>
        <p:nvSpPr>
          <p:cNvPr id="18" name="Framework card 1"/>
          <p:cNvSpPr/>
          <p:nvPr/>
        </p:nvSpPr>
        <p:spPr>
          <a:xfrm>
            <a:off x="2240280" y="4709160"/>
            <a:ext cx="3040379" cy="1234440"/>
          </a:xfrm>
          <a:prstGeom prst="rect">
            <a:avLst/>
          </a:prstGeom>
          <a:solidFill>
            <a:srgbClr val="FFFFFF"/>
          </a:solidFill>
          <a:ln w="12700">
            <a:solidFill>
              <a:srgbClr val="C9CAD3"/>
            </a:solidFill>
          </a:ln>
          <a:effectLst/>
        </p:spPr>
        <p:txBody>
          <a:bodyPr rtlCol="0" anchor="ctr"/>
          <a:lstStyle/>
          <a:p/>
        </p:txBody>
      </p:sp>
      <p:sp>
        <p:nvSpPr>
          <p:cNvPr id="19" name="Framework text 1"/>
          <p:cNvSpPr txBox="1"/>
          <p:nvPr/>
        </p:nvSpPr>
        <p:spPr>
          <a:xfrm>
            <a:off x="240487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Design science (DSRM)</a:t>
            </a:r>
          </a:p>
          <a:p>
            <a:pPr algn="l">
              <a:spcAft>
                <a:spcPts val="400"/>
              </a:spcAft>
            </a:pPr>
            <a:r>
              <a:rPr sz="1500" b="0" i="0">
                <a:solidFill>
                  <a:srgbClr val="22222A"/>
                </a:solidFill>
                <a:latin typeface="Calibri"/>
              </a:rPr>
              <a:t>Structures the research steps around the built artefact</a:t>
            </a:r>
          </a:p>
        </p:txBody>
      </p:sp>
      <p:sp>
        <p:nvSpPr>
          <p:cNvPr id="20" name="Framework card 2"/>
          <p:cNvSpPr/>
          <p:nvPr/>
        </p:nvSpPr>
        <p:spPr>
          <a:xfrm>
            <a:off x="5509260" y="4709160"/>
            <a:ext cx="3040379" cy="1234440"/>
          </a:xfrm>
          <a:prstGeom prst="rect">
            <a:avLst/>
          </a:prstGeom>
          <a:solidFill>
            <a:srgbClr val="FFFFFF"/>
          </a:solidFill>
          <a:ln w="12700">
            <a:solidFill>
              <a:srgbClr val="C9CAD3"/>
            </a:solidFill>
          </a:ln>
          <a:effectLst/>
        </p:spPr>
        <p:txBody>
          <a:bodyPr rtlCol="0" anchor="ctr"/>
          <a:lstStyle/>
          <a:p/>
        </p:txBody>
      </p:sp>
      <p:sp>
        <p:nvSpPr>
          <p:cNvPr id="21" name="Framework text 2"/>
          <p:cNvSpPr txBox="1"/>
          <p:nvPr/>
        </p:nvSpPr>
        <p:spPr>
          <a:xfrm>
            <a:off x="567385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TAM</a:t>
            </a:r>
          </a:p>
          <a:p>
            <a:pPr algn="l">
              <a:spcAft>
                <a:spcPts val="400"/>
              </a:spcAft>
            </a:pPr>
            <a:r>
              <a:rPr sz="1500" b="0" i="0">
                <a:solidFill>
                  <a:srgbClr val="22222A"/>
                </a:solidFill>
                <a:latin typeface="Calibri"/>
              </a:rPr>
              <a:t>Design lens for usefulness and ease of use;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Models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ect">
            <a:avLst/>
          </a:prstGeom>
          <a:solidFill>
            <a:srgbClr val="F2F2F5"/>
          </a:solidFill>
          <a:ln>
            <a:noFill/>
          </a:ln>
          <a:effectLst/>
        </p:spPr>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ect">
            <a:avLst/>
          </a:prstGeom>
          <a:solidFill>
            <a:srgbClr val="F2F2F5"/>
          </a:solidFill>
          <a:ln>
            <a:noFill/>
          </a:ln>
          <a:effectLst/>
        </p:spPr>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ect">
            <a:avLst/>
          </a:prstGeom>
          <a:solidFill>
            <a:srgbClr val="F2F2F5"/>
          </a:solidFill>
          <a:ln>
            <a:noFill/>
          </a:ln>
          <a:effectLst/>
        </p:spPr>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ect">
            <a:avLst/>
          </a:prstGeom>
          <a:solidFill>
            <a:srgbClr val="F2F2F5"/>
          </a:solidFill>
          <a:ln>
            <a:noFill/>
          </a:ln>
          <a:effectLst/>
        </p:spPr>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ect">
            <a:avLst/>
          </a:prstGeom>
          <a:solidFill>
            <a:srgbClr val="F2F2F5"/>
          </a:solidFill>
          <a:ln>
            <a:noFill/>
          </a:ln>
          <a:effectLst/>
        </p:spPr>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ect">
            <a:avLst/>
          </a:prstGeom>
          <a:solidFill>
            <a:srgbClr val="F2F2F5"/>
          </a:solidFill>
          <a:ln>
            <a:noFill/>
          </a:ln>
          <a:effectLst/>
        </p:spPr>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ect">
            <a:avLst/>
          </a:prstGeom>
          <a:solidFill>
            <a:srgbClr val="F2F2F5"/>
          </a:solidFill>
          <a:ln>
            <a:noFill/>
          </a:ln>
          <a:effectLst/>
        </p:spPr>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ect">
            <a:avLst/>
          </a:prstGeom>
          <a:solidFill>
            <a:srgbClr val="F2F2F5"/>
          </a:solidFill>
          <a:ln>
            <a:noFill/>
          </a:ln>
          <a:effectLst/>
        </p:spPr>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ect">
            <a:avLst/>
          </a:prstGeom>
          <a:solidFill>
            <a:srgbClr val="F2F2F5"/>
          </a:solidFill>
          <a:ln>
            <a:noFill/>
          </a:ln>
          <a:effectLst/>
        </p:spPr>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ect">
            <a:avLst/>
          </a:prstGeom>
          <a:solidFill>
            <a:srgbClr val="F2F2F5"/>
          </a:solidFill>
          <a:ln>
            <a:noFill/>
          </a:ln>
          <a:effectLst/>
        </p:spPr>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txBody>
          <a:bodyPr rtlCol="0" anchor="ctr"/>
          <a:lstStyle/>
          <a:p>
            <a:pPr algn="ctr"/>
          </a:p>
        </p:txBody>
      </p:sp>
      <p:sp>
        <p:nvSpPr>
          <p:cNvPr id="14" name="Label target 1"/>
          <p:cNvSpPr/>
          <p:nvPr/>
        </p:nvSpPr>
        <p:spPr>
          <a:xfrm>
            <a:off x="6172200" y="2743200"/>
            <a:ext cx="2377439" cy="457200"/>
          </a:xfrm>
          <a:prstGeom prst="rect">
            <a:avLst/>
          </a:prstGeom>
          <a:solidFill>
            <a:srgbClr val="F2F2F5"/>
          </a:solidFill>
          <a:ln>
            <a:noFill/>
          </a:ln>
          <a:effectLst/>
        </p:spPr>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txBody>
          <a:bodyPr rtlCol="0" anchor="ctr"/>
          <a:lstStyle/>
          <a:p>
            <a:pPr algn="ctr"/>
          </a:p>
        </p:txBody>
      </p:sp>
      <p:sp>
        <p:nvSpPr>
          <p:cNvPr id="18" name="Label target 2"/>
          <p:cNvSpPr/>
          <p:nvPr/>
        </p:nvSpPr>
        <p:spPr>
          <a:xfrm>
            <a:off x="6172200" y="3310128"/>
            <a:ext cx="2377439" cy="457200"/>
          </a:xfrm>
          <a:prstGeom prst="rect">
            <a:avLst/>
          </a:prstGeom>
          <a:solidFill>
            <a:srgbClr val="F2F2F5"/>
          </a:solidFill>
          <a:ln>
            <a:noFill/>
          </a:ln>
          <a:effectLst/>
        </p:spPr>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Not at risk: 15,385</a:t>
            </a:r>
          </a:p>
        </p:txBody>
      </p:sp>
      <p:sp>
        <p:nvSpPr>
          <p:cNvPr id="20" name="Family card 1"/>
          <p:cNvSpPr/>
          <p:nvPr/>
        </p:nvSpPr>
        <p:spPr>
          <a:xfrm>
            <a:off x="2240280" y="4023360"/>
            <a:ext cx="1981199" cy="1600200"/>
          </a:xfrm>
          <a:prstGeom prst="rect">
            <a:avLst/>
          </a:prstGeom>
          <a:solidFill>
            <a:srgbClr val="FFFFFF"/>
          </a:solidFill>
          <a:ln w="12700">
            <a:solidFill>
              <a:srgbClr val="C9CAD3"/>
            </a:solidFill>
          </a:ln>
          <a:effectLst/>
        </p:spPr>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ect">
            <a:avLst/>
          </a:prstGeom>
          <a:solidFill>
            <a:srgbClr val="FFFFFF"/>
          </a:solidFill>
          <a:ln w="12700">
            <a:solidFill>
              <a:srgbClr val="C9CAD3"/>
            </a:solidFill>
          </a:ln>
          <a:effectLst/>
        </p:spPr>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ect">
            <a:avLst/>
          </a:prstGeom>
          <a:solidFill>
            <a:srgbClr val="FFFFFF"/>
          </a:solidFill>
          <a:ln w="12700">
            <a:solidFill>
              <a:srgbClr val="C9CAD3"/>
            </a:solidFill>
          </a:ln>
          <a:effectLst/>
        </p:spPr>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ect">
            <a:avLst/>
          </a:prstGeom>
          <a:solidFill>
            <a:srgbClr val="FFFFFF"/>
          </a:solidFill>
          <a:ln w="12700">
            <a:solidFill>
              <a:srgbClr val="343174"/>
            </a:solidFill>
          </a:ln>
          <a:effectLst/>
        </p:spPr>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ect">
            <a:avLst/>
          </a:prstGeom>
          <a:solidFill>
            <a:srgbClr val="FFFFFF"/>
          </a:solidFill>
          <a:ln w="12700">
            <a:solidFill>
              <a:srgbClr val="343174"/>
            </a:solidFill>
          </a:ln>
          <a:effectLst/>
        </p:spPr>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ect">
            <a:avLst/>
          </a:prstGeom>
          <a:solidFill>
            <a:srgbClr val="FFFFFF"/>
          </a:solidFill>
          <a:ln w="12700">
            <a:solidFill>
              <a:srgbClr val="343174"/>
            </a:solidFill>
          </a:ln>
          <a:effectLst/>
        </p:spPr>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ect">
            <a:avLst/>
          </a:prstGeom>
          <a:solidFill>
            <a:srgbClr val="FFFFFF"/>
          </a:solidFill>
          <a:ln w="12700">
            <a:solidFill>
              <a:srgbClr val="343174"/>
            </a:solidFill>
          </a:ln>
          <a:effectLst/>
        </p:spPr>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ect">
            <a:avLst/>
          </a:prstGeom>
          <a:solidFill>
            <a:srgbClr val="FFFFFF"/>
          </a:solidFill>
          <a:ln w="12700">
            <a:solidFill>
              <a:srgbClr val="555560"/>
            </a:solidFill>
          </a:ln>
          <a:effectLst/>
        </p:spPr>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ect">
            <a:avLst/>
          </a:prstGeom>
          <a:solidFill>
            <a:srgbClr val="F2F2F5"/>
          </a:solidFill>
          <a:ln>
            <a:noFill/>
          </a:ln>
          <a:effectLst/>
        </p:spPr>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ect">
            <a:avLst/>
          </a:prstGeom>
          <a:solidFill>
            <a:srgbClr val="F2F2F5"/>
          </a:solidFill>
          <a:ln>
            <a:noFill/>
          </a:ln>
          <a:effectLst/>
        </p:spPr>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ect">
            <a:avLst/>
          </a:prstGeom>
          <a:solidFill>
            <a:srgbClr val="F2F2F5"/>
          </a:solidFill>
          <a:ln>
            <a:noFill/>
          </a:ln>
          <a:effectLst/>
        </p:spPr>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ect">
            <a:avLst/>
          </a:prstGeom>
          <a:solidFill>
            <a:srgbClr val="F2F2F5"/>
          </a:solidFill>
          <a:ln>
            <a:noFill/>
          </a:ln>
          <a:effectLst/>
        </p:spPr>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ect">
            <a:avLst/>
          </a:prstGeom>
          <a:solidFill>
            <a:srgbClr val="F2F2F5"/>
          </a:solidFill>
          <a:ln>
            <a:noFill/>
          </a:ln>
          <a:effectLst/>
        </p:spPr>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ect">
            <a:avLst/>
          </a:prstGeom>
          <a:solidFill>
            <a:srgbClr val="343174"/>
          </a:solidFill>
          <a:ln>
            <a:noFill/>
          </a:ln>
          <a:effectLst/>
        </p:spPr>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ect">
            <a:avLst/>
          </a:prstGeom>
          <a:solidFill>
            <a:srgbClr val="F2F2F5"/>
          </a:solidFill>
          <a:ln>
            <a:noFill/>
          </a:ln>
          <a:effectLst/>
        </p:spPr>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ect">
            <a:avLst/>
          </a:prstGeom>
          <a:solidFill>
            <a:srgbClr val="F2F2F5"/>
          </a:solidFill>
          <a:ln>
            <a:noFill/>
          </a:ln>
          <a:effectLst/>
        </p:spPr>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DCDDEA"/>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DCDDEA"/>
                    </a:solidFill>
                  </a:tcPr>
                </a:tc>
              </a:tr>
            </a:tbl>
          </a:graphicData>
        </a:graphic>
      </p:graphicFrame>
      <p:sp>
        <p:nvSpPr>
          <p:cNvPr id="16" name="Protocol card"/>
          <p:cNvSpPr/>
          <p:nvPr/>
        </p:nvSpPr>
        <p:spPr>
          <a:xfrm>
            <a:off x="6035040" y="2788920"/>
            <a:ext cx="2514599" cy="2697480"/>
          </a:xfrm>
          <a:prstGeom prst="rect">
            <a:avLst/>
          </a:prstGeom>
          <a:solidFill>
            <a:srgbClr val="FFFFFF"/>
          </a:solidFill>
          <a:ln w="12700">
            <a:solidFill>
              <a:srgbClr val="C9CAD3"/>
            </a:solidFill>
          </a:ln>
          <a:effectLst/>
        </p:spPr>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343174"/>
              </a:buClr>
              <a:buFont typeface="Arial"/>
              <a:buChar char="•"/>
            </a:pPr>
            <a:r>
              <a:rPr sz="1400" b="0" i="0">
                <a:solidFill>
                  <a:srgbClr val="343174"/>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343174"/>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DCDDEA"/>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DCDDEA"/>
                    </a:solidFill>
                  </a:tcPr>
                </a:tc>
                <a:tc>
                  <a:txBody>
                    <a:bodyPr wrap="square"/>
                    <a:lstStyle/>
                    <a:p>
                      <a:pPr algn="ctr"/>
                      <a:r>
                        <a:rPr sz="1500" b="1" i="0">
                          <a:solidFill>
                            <a:srgbClr val="22222A"/>
                          </a:solidFill>
                          <a:latin typeface="Calibri"/>
                        </a:rPr>
                        <a:t>0.900</a:t>
                      </a:r>
                    </a:p>
                  </a:txBody>
                  <a:tcPr marL="73152" marR="73152" marT="36576" marB="36576" anchor="ctr">
                    <a:solidFill>
                      <a:srgbClr val="DCDDEA"/>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DCDDEA"/>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ect">
            <a:avLst/>
          </a:prstGeom>
          <a:solidFill>
            <a:srgbClr val="F2F2F5"/>
          </a:solidFill>
          <a:ln>
            <a:noFill/>
          </a:ln>
          <a:effectLst/>
        </p:spPr>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ect">
            <a:avLst/>
          </a:prstGeom>
          <a:solidFill>
            <a:srgbClr val="F2F2F5"/>
          </a:solidFill>
          <a:ln>
            <a:noFill/>
          </a:ln>
          <a:effectLst/>
        </p:spPr>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ect">
            <a:avLst/>
          </a:prstGeom>
          <a:solidFill>
            <a:srgbClr val="F2F2F5"/>
          </a:solidFill>
          <a:ln>
            <a:noFill/>
          </a:ln>
          <a:effectLst/>
        </p:spPr>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ect">
            <a:avLst/>
          </a:prstGeom>
          <a:solidFill>
            <a:srgbClr val="F2F2F5"/>
          </a:solidFill>
          <a:ln>
            <a:noFill/>
          </a:ln>
          <a:effectLst/>
        </p:spPr>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ect">
            <a:avLst/>
          </a:prstGeom>
          <a:solidFill>
            <a:srgbClr val="F2F2F5"/>
          </a:solidFill>
          <a:ln>
            <a:noFill/>
          </a:ln>
          <a:effectLst/>
        </p:spPr>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Views in Moodle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Moodle screenshot" descr="t_instr.png"/>
          <p:cNvPicPr>
            <a:picLocks noChangeAspect="1"/>
          </p:cNvPicPr>
          <p:nvPr/>
        </p:nvPicPr>
        <p:blipFill>
          <a:blip r:embed="rId3"/>
          <a:stretch>
            <a:fillRect/>
          </a:stretch>
        </p:blipFill>
        <p:spPr>
          <a:xfrm>
            <a:off x="2240280" y="1371600"/>
            <a:ext cx="2011679" cy="1396999"/>
          </a:xfrm>
          <a:prstGeom prst="rect">
            <a:avLst/>
          </a:prstGeom>
          <a:ln w="9525">
            <a:solidFill>
              <a:srgbClr val="C9CAD3"/>
            </a:solidFill>
          </a:ln>
        </p:spPr>
      </p:pic>
      <p:sp>
        <p:nvSpPr>
          <p:cNvPr id="5" name="Instructor name"/>
          <p:cNvSpPr txBox="1"/>
          <p:nvPr/>
        </p:nvSpPr>
        <p:spPr>
          <a:xfrm>
            <a:off x="2240280"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381247"/>
            <a:ext cx="1234440" cy="310896"/>
          </a:xfrm>
          <a:prstGeom prst="rect">
            <a:avLst/>
          </a:prstGeom>
          <a:solidFill>
            <a:srgbClr val="343174"/>
          </a:solidFill>
          <a:ln>
            <a:noFill/>
          </a:ln>
          <a:effectLst/>
        </p:spPr>
        <p:txBody>
          <a:bodyPr rtlCol="0" anchor="ctr"/>
          <a:lstStyle/>
          <a:p/>
        </p:txBody>
      </p:sp>
      <p:sp>
        <p:nvSpPr>
          <p:cNvPr id="7" name="Instructor tag text"/>
          <p:cNvSpPr txBox="1"/>
          <p:nvPr/>
        </p:nvSpPr>
        <p:spPr>
          <a:xfrm>
            <a:off x="2240280"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Moodle screenshot" descr="t_adv.png"/>
          <p:cNvPicPr>
            <a:picLocks noChangeAspect="1"/>
          </p:cNvPicPr>
          <p:nvPr/>
        </p:nvPicPr>
        <p:blipFill>
          <a:blip r:embed="rId4"/>
          <a:stretch>
            <a:fillRect/>
          </a:stretch>
        </p:blipFill>
        <p:spPr>
          <a:xfrm>
            <a:off x="4389120" y="1371600"/>
            <a:ext cx="2011679" cy="1396999"/>
          </a:xfrm>
          <a:prstGeom prst="rect">
            <a:avLst/>
          </a:prstGeom>
          <a:ln w="9525">
            <a:solidFill>
              <a:srgbClr val="C9CAD3"/>
            </a:solidFill>
          </a:ln>
        </p:spPr>
      </p:pic>
      <p:sp>
        <p:nvSpPr>
          <p:cNvPr id="10" name="Advisor name"/>
          <p:cNvSpPr txBox="1"/>
          <p:nvPr/>
        </p:nvSpPr>
        <p:spPr>
          <a:xfrm>
            <a:off x="4389120"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Advisor</a:t>
            </a:r>
          </a:p>
        </p:txBody>
      </p:sp>
      <p:sp>
        <p:nvSpPr>
          <p:cNvPr id="11" name="Advisor tag"/>
          <p:cNvSpPr/>
          <p:nvPr/>
        </p:nvSpPr>
        <p:spPr>
          <a:xfrm>
            <a:off x="4389120" y="3381247"/>
            <a:ext cx="1234440" cy="310896"/>
          </a:xfrm>
          <a:prstGeom prst="rect">
            <a:avLst/>
          </a:prstGeom>
          <a:solidFill>
            <a:srgbClr val="343174"/>
          </a:solidFill>
          <a:ln>
            <a:noFill/>
          </a:ln>
          <a:effectLst/>
        </p:spPr>
        <p:txBody>
          <a:bodyPr rtlCol="0" anchor="ctr"/>
          <a:lstStyle/>
          <a:p/>
        </p:txBody>
      </p:sp>
      <p:sp>
        <p:nvSpPr>
          <p:cNvPr id="12" name="Advisor tag text"/>
          <p:cNvSpPr txBox="1"/>
          <p:nvPr/>
        </p:nvSpPr>
        <p:spPr>
          <a:xfrm>
            <a:off x="4389120"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Moodle screenshot" descr="t_admin.png"/>
          <p:cNvPicPr>
            <a:picLocks noChangeAspect="1"/>
          </p:cNvPicPr>
          <p:nvPr/>
        </p:nvPicPr>
        <p:blipFill>
          <a:blip r:embed="rId5"/>
          <a:stretch>
            <a:fillRect/>
          </a:stretch>
        </p:blipFill>
        <p:spPr>
          <a:xfrm>
            <a:off x="6537959" y="1371600"/>
            <a:ext cx="2011679" cy="1396999"/>
          </a:xfrm>
          <a:prstGeom prst="rect">
            <a:avLst/>
          </a:prstGeom>
          <a:ln w="9525">
            <a:solidFill>
              <a:srgbClr val="C9CAD3"/>
            </a:solidFill>
          </a:ln>
        </p:spPr>
      </p:pic>
      <p:sp>
        <p:nvSpPr>
          <p:cNvPr id="15" name="Administrator name"/>
          <p:cNvSpPr txBox="1"/>
          <p:nvPr/>
        </p:nvSpPr>
        <p:spPr>
          <a:xfrm>
            <a:off x="6537959" y="2951479"/>
            <a:ext cx="2011679" cy="384048"/>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Administrator</a:t>
            </a:r>
          </a:p>
        </p:txBody>
      </p:sp>
      <p:sp>
        <p:nvSpPr>
          <p:cNvPr id="16" name="Administrator tag"/>
          <p:cNvSpPr/>
          <p:nvPr/>
        </p:nvSpPr>
        <p:spPr>
          <a:xfrm>
            <a:off x="6537959" y="3381247"/>
            <a:ext cx="1234440" cy="310896"/>
          </a:xfrm>
          <a:prstGeom prst="rect">
            <a:avLst/>
          </a:prstGeom>
          <a:solidFill>
            <a:srgbClr val="343174"/>
          </a:solidFill>
          <a:ln>
            <a:noFill/>
          </a:ln>
          <a:effectLst/>
        </p:spPr>
        <p:txBody>
          <a:bodyPr rtlCol="0" anchor="ctr"/>
          <a:lstStyle/>
          <a:p/>
        </p:txBody>
      </p:sp>
      <p:sp>
        <p:nvSpPr>
          <p:cNvPr id="17" name="Administrator tag text"/>
          <p:cNvSpPr txBox="1"/>
          <p:nvPr/>
        </p:nvSpPr>
        <p:spPr>
          <a:xfrm>
            <a:off x="6537959" y="3381247"/>
            <a:ext cx="1234440" cy="310896"/>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792727"/>
            <a:ext cx="2011679" cy="16002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623560"/>
            <a:ext cx="6309359" cy="457200"/>
          </a:xfrm>
          <a:prstGeom prst="rect">
            <a:avLst/>
          </a:prstGeom>
          <a:solidFill>
            <a:srgbClr val="F2F2F5"/>
          </a:solidFill>
          <a:ln>
            <a:noFill/>
          </a:ln>
          <a:effectLst/>
        </p:spPr>
        <p:txBody>
          <a:bodyPr rtlCol="0" anchor="ctr"/>
          <a:lstStyle/>
          <a:p/>
        </p:txBody>
      </p:sp>
      <p:sp>
        <p:nvSpPr>
          <p:cNvPr id="20" name="Summary text"/>
          <p:cNvSpPr txBox="1"/>
          <p:nvPr/>
        </p:nvSpPr>
        <p:spPr>
          <a:xfrm>
            <a:off x="2240280" y="5623560"/>
            <a:ext cx="6309359" cy="45720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Moodle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Moodle instructor screenshot" descr="big_instr.png"/>
          <p:cNvPicPr>
            <a:picLocks noChangeAspect="1"/>
          </p:cNvPicPr>
          <p:nvPr/>
        </p:nvPicPr>
        <p:blipFill>
          <a:blip r:embed="rId3"/>
          <a:stretch>
            <a:fillRect/>
          </a:stretch>
        </p:blipFill>
        <p:spPr>
          <a:xfrm>
            <a:off x="2834640" y="1325880"/>
            <a:ext cx="5120640" cy="3342640"/>
          </a:xfrm>
          <a:prstGeom prst="rect">
            <a:avLst/>
          </a:prstGeom>
          <a:ln w="9525">
            <a:solidFill>
              <a:srgbClr val="C9CAD3"/>
            </a:solidFill>
          </a:ln>
        </p:spPr>
      </p:pic>
      <p:sp>
        <p:nvSpPr>
          <p:cNvPr id="5" name="Callout 1"/>
          <p:cNvSpPr/>
          <p:nvPr/>
        </p:nvSpPr>
        <p:spPr>
          <a:xfrm>
            <a:off x="2240280" y="4869687"/>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79192" y="4842255"/>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Students in the Moodle course ranked by predicted risk</a:t>
            </a:r>
          </a:p>
        </p:txBody>
      </p:sp>
      <p:sp>
        <p:nvSpPr>
          <p:cNvPr id="7" name="Callout 2"/>
          <p:cNvSpPr/>
          <p:nvPr/>
        </p:nvSpPr>
        <p:spPr>
          <a:xfrm>
            <a:off x="2240280" y="5272024"/>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79192" y="5244592"/>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SHAP and LIME top 5 for the selected student, with direction of effect</a:t>
            </a:r>
          </a:p>
        </p:txBody>
      </p:sp>
      <p:sp>
        <p:nvSpPr>
          <p:cNvPr id="9" name="Callout 3"/>
          <p:cNvSpPr/>
          <p:nvPr/>
        </p:nvSpPr>
        <p:spPr>
          <a:xfrm>
            <a:off x="2240280" y="5674359"/>
            <a:ext cx="310896" cy="310896"/>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79192" y="5646927"/>
            <a:ext cx="5870448" cy="365760"/>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Running Inside Moodle and Canvas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Moodle 5.2 label"/>
          <p:cNvSpPr txBox="1"/>
          <p:nvPr/>
        </p:nvSpPr>
        <p:spPr>
          <a:xfrm>
            <a:off x="2240280" y="1344168"/>
            <a:ext cx="3040379" cy="36576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Moodle 5.2</a:t>
            </a:r>
          </a:p>
        </p:txBody>
      </p:sp>
      <p:pic>
        <p:nvPicPr>
          <p:cNvPr id="5" name="Moodle 5.2 screenshot" descr="moodle_nav.png"/>
          <p:cNvPicPr>
            <a:picLocks noChangeAspect="1"/>
          </p:cNvPicPr>
          <p:nvPr/>
        </p:nvPicPr>
        <p:blipFill>
          <a:blip r:embed="rId3"/>
          <a:stretch>
            <a:fillRect/>
          </a:stretch>
        </p:blipFill>
        <p:spPr>
          <a:xfrm>
            <a:off x="2240280" y="1783080"/>
            <a:ext cx="3040379" cy="2111374"/>
          </a:xfrm>
          <a:prstGeom prst="rect">
            <a:avLst/>
          </a:prstGeom>
          <a:ln w="9525">
            <a:solidFill>
              <a:srgbClr val="C9CAD3"/>
            </a:solidFill>
          </a:ln>
        </p:spPr>
      </p:pic>
      <p:sp>
        <p:nvSpPr>
          <p:cNvPr id="6" name="Moodle 5.2 caption"/>
          <p:cNvSpPr txBox="1"/>
          <p:nvPr/>
        </p:nvSpPr>
        <p:spPr>
          <a:xfrm>
            <a:off x="2240280" y="4031614"/>
            <a:ext cx="3040379" cy="914400"/>
          </a:xfrm>
          <a:prstGeom prst="rect">
            <a:avLst/>
          </a:prstGeom>
          <a:noFill/>
        </p:spPr>
        <p:txBody>
          <a:bodyPr wrap="square" anchor="t" lIns="0" rIns="0" tIns="0" bIns="0">
            <a:spAutoFit/>
          </a:bodyPr>
          <a:lstStyle/>
          <a:p>
            <a:pPr algn="l">
              <a:spcAft>
                <a:spcPts val="600"/>
              </a:spcAft>
            </a:pPr>
            <a:r>
              <a:rPr sz="1400" b="0" i="0">
                <a:solidFill>
                  <a:srgbClr val="22222A"/>
                </a:solidFill>
                <a:latin typeface="Calibri"/>
              </a:rPr>
              <a:t>Native plugin: At-risk insights in each course's menu, using Moodle login, roles and enrolments</a:t>
            </a:r>
          </a:p>
        </p:txBody>
      </p:sp>
      <p:sp>
        <p:nvSpPr>
          <p:cNvPr id="7" name="Canvas label"/>
          <p:cNvSpPr txBox="1"/>
          <p:nvPr/>
        </p:nvSpPr>
        <p:spPr>
          <a:xfrm>
            <a:off x="5509260" y="1344168"/>
            <a:ext cx="3040379" cy="36576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Canvas</a:t>
            </a:r>
          </a:p>
        </p:txBody>
      </p:sp>
      <p:pic>
        <p:nvPicPr>
          <p:cNvPr id="8" name="Canvas screenshot" descr="canvas_embed.png"/>
          <p:cNvPicPr>
            <a:picLocks noChangeAspect="1"/>
          </p:cNvPicPr>
          <p:nvPr/>
        </p:nvPicPr>
        <p:blipFill>
          <a:blip r:embed="rId4"/>
          <a:stretch>
            <a:fillRect/>
          </a:stretch>
        </p:blipFill>
        <p:spPr>
          <a:xfrm>
            <a:off x="5509260" y="1783080"/>
            <a:ext cx="3040379" cy="2111374"/>
          </a:xfrm>
          <a:prstGeom prst="rect">
            <a:avLst/>
          </a:prstGeom>
          <a:ln w="9525">
            <a:solidFill>
              <a:srgbClr val="C9CAD3"/>
            </a:solidFill>
          </a:ln>
        </p:spPr>
      </p:pic>
      <p:sp>
        <p:nvSpPr>
          <p:cNvPr id="9" name="Canvas caption"/>
          <p:cNvSpPr txBox="1"/>
          <p:nvPr/>
        </p:nvSpPr>
        <p:spPr>
          <a:xfrm>
            <a:off x="5509260" y="4031614"/>
            <a:ext cx="3040379" cy="914400"/>
          </a:xfrm>
          <a:prstGeom prst="rect">
            <a:avLst/>
          </a:prstGeom>
          <a:noFill/>
        </p:spPr>
        <p:txBody>
          <a:bodyPr wrap="square" anchor="t" lIns="0" rIns="0" tIns="0" bIns="0">
            <a:spAutoFit/>
          </a:bodyPr>
          <a:lstStyle/>
          <a:p>
            <a:pPr algn="l">
              <a:spcAft>
                <a:spcPts val="600"/>
              </a:spcAft>
            </a:pPr>
            <a:r>
              <a:rPr sz="1400" b="0" i="0">
                <a:solidFill>
                  <a:srgbClr val="22222A"/>
                </a:solidFill>
                <a:latin typeface="Calibri"/>
              </a:rPr>
              <a:t>Dashboard embedded in the course through an External URL module item</a:t>
            </a:r>
          </a:p>
        </p:txBody>
      </p:sp>
      <p:sp>
        <p:nvSpPr>
          <p:cNvPr id="10" name="LMS facts band"/>
          <p:cNvSpPr/>
          <p:nvPr/>
        </p:nvSpPr>
        <p:spPr>
          <a:xfrm>
            <a:off x="2240280" y="5120640"/>
            <a:ext cx="6309359" cy="868680"/>
          </a:xfrm>
          <a:prstGeom prst="rect">
            <a:avLst/>
          </a:prstGeom>
          <a:solidFill>
            <a:srgbClr val="F2F2F5"/>
          </a:solidFill>
          <a:ln>
            <a:noFill/>
          </a:ln>
          <a:effectLst/>
        </p:spPr>
        <p:txBody>
          <a:bodyPr rtlCol="0" anchor="ctr"/>
          <a:lstStyle/>
          <a:p/>
        </p:txBody>
      </p:sp>
      <p:sp>
        <p:nvSpPr>
          <p:cNvPr id="11" name="LMS facts"/>
          <p:cNvSpPr txBox="1"/>
          <p:nvPr/>
        </p:nvSpPr>
        <p:spPr>
          <a:xfrm>
            <a:off x="2423160" y="5120640"/>
            <a:ext cx="5943599" cy="86868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All 22 module presentations loaded as courses in both LMSs: </a:t>
            </a:r>
            <a:r>
              <a:rPr sz="1500" b="0" i="0">
                <a:solidFill>
                  <a:srgbClr val="22222A"/>
                </a:solidFill>
                <a:latin typeface="Calibri"/>
              </a:rPr>
              <a:t>28,785 students and 32,593 enrolments, all running locally under Docker Compose.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Number 1"/>
          <p:cNvSpPr/>
          <p:nvPr/>
        </p:nvSpPr>
        <p:spPr>
          <a:xfrm>
            <a:off x="2240280" y="1417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Limitations card"/>
          <p:cNvSpPr/>
          <p:nvPr/>
        </p:nvSpPr>
        <p:spPr>
          <a:xfrm>
            <a:off x="2240280" y="1371600"/>
            <a:ext cx="3040379" cy="4572000"/>
          </a:xfrm>
          <a:prstGeom prst="rect">
            <a:avLst/>
          </a:prstGeom>
          <a:solidFill>
            <a:srgbClr val="F2F2F5"/>
          </a:solidFill>
          <a:ln>
            <a:noFill/>
          </a:ln>
          <a:effectLst/>
        </p:spPr>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Limitations</a:t>
            </a:r>
          </a:p>
          <a:p>
            <a:pPr algn="l" marL="201168" indent="-201168">
              <a:spcAft>
                <a:spcPts val="1400"/>
              </a:spcAft>
              <a:buClr>
                <a:srgbClr val="343174"/>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343174"/>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343174"/>
              </a:buClr>
              <a:buFont typeface="Arial"/>
              <a:buChar char="•"/>
            </a:pPr>
            <a:r>
              <a:rPr sz="1700" b="0" i="0">
                <a:solidFill>
                  <a:srgbClr val="22222A"/>
                </a:solidFill>
                <a:latin typeface="Calibri"/>
              </a:rPr>
              <a:t>One dataset (OULAD) and context</a:t>
            </a:r>
          </a:p>
          <a:p>
            <a:pPr algn="l" marL="201168" indent="-201168">
              <a:spcAft>
                <a:spcPts val="1400"/>
              </a:spcAft>
              <a:buClr>
                <a:srgbClr val="343174"/>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ect">
            <a:avLst/>
          </a:prstGeom>
          <a:solidFill>
            <a:srgbClr val="F2F2F5"/>
          </a:solidFill>
          <a:ln>
            <a:noFill/>
          </a:ln>
          <a:effectLst/>
        </p:spPr>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Future work</a:t>
            </a:r>
          </a:p>
          <a:p>
            <a:pPr algn="l" marL="201168" indent="-201168">
              <a:spcAft>
                <a:spcPts val="1400"/>
              </a:spcAft>
              <a:buClr>
                <a:srgbClr val="343174"/>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343174"/>
              </a:buClr>
              <a:buFont typeface="Arial"/>
              <a:buChar char="•"/>
            </a:pPr>
            <a:r>
              <a:rPr sz="1700" b="0" i="0">
                <a:solidFill>
                  <a:srgbClr val="22222A"/>
                </a:solidFill>
                <a:latin typeface="Calibri"/>
              </a:rPr>
              <a:t>Probability calibration (Platt, isotonic)</a:t>
            </a:r>
          </a:p>
          <a:p>
            <a:pPr algn="l" marL="201168" indent="-201168">
              <a:spcAft>
                <a:spcPts val="1400"/>
              </a:spcAft>
              <a:buClr>
                <a:srgbClr val="343174"/>
              </a:buClr>
              <a:buFont typeface="Arial"/>
              <a:buChar char="•"/>
            </a:pPr>
            <a:r>
              <a:rPr sz="1700" b="0" i="0">
                <a:solidFill>
                  <a:srgbClr val="22222A"/>
                </a:solidFill>
                <a:latin typeface="Calibri"/>
              </a:rPr>
              <a:t>Subgroup fairness assessment</a:t>
            </a:r>
          </a:p>
          <a:p>
            <a:pPr algn="l" marL="201168" indent="-201168">
              <a:spcAft>
                <a:spcPts val="1400"/>
              </a:spcAft>
              <a:buClr>
                <a:srgbClr val="343174"/>
              </a:buClr>
              <a:buFont typeface="Arial"/>
              <a:buChar char="•"/>
            </a:pPr>
            <a:r>
              <a:rPr sz="1700" b="0" i="0">
                <a:solidFill>
                  <a:srgbClr val="22222A"/>
                </a:solidFill>
                <a:latin typeface="Calibri"/>
              </a:rPr>
              <a:t>Practitioner study using TAM constructs</a:t>
            </a:r>
          </a:p>
          <a:p>
            <a:pPr algn="l" marL="201168" indent="-201168">
              <a:spcAft>
                <a:spcPts val="1400"/>
              </a:spcAft>
              <a:buClr>
                <a:srgbClr val="343174"/>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21</a:t>
            </a:r>
          </a:p>
        </p:txBody>
      </p:sp>
      <p:sp>
        <p:nvSpPr>
          <p:cNvPr id="4" name="Answer card 1"/>
          <p:cNvSpPr/>
          <p:nvPr/>
        </p:nvSpPr>
        <p:spPr>
          <a:xfrm>
            <a:off x="2240280" y="1371600"/>
            <a:ext cx="6309359" cy="1143000"/>
          </a:xfrm>
          <a:prstGeom prst="rect">
            <a:avLst/>
          </a:prstGeom>
          <a:solidFill>
            <a:srgbClr val="F2F2F5"/>
          </a:solidFill>
          <a:ln>
            <a:noFill/>
          </a:ln>
          <a:effectLst/>
        </p:spPr>
        <p:txBody>
          <a:bodyPr rtlCol="0" anchor="ctr"/>
          <a:lstStyle/>
          <a:p/>
        </p:txBody>
      </p:sp>
      <p:sp>
        <p:nvSpPr>
          <p:cNvPr id="5" name="Answer label 1"/>
          <p:cNvSpPr/>
          <p:nvPr/>
        </p:nvSpPr>
        <p:spPr>
          <a:xfrm>
            <a:off x="2240280" y="1371600"/>
            <a:ext cx="868680" cy="1143000"/>
          </a:xfrm>
          <a:prstGeom prst="rect">
            <a:avLst/>
          </a:prstGeom>
          <a:solidFill>
            <a:srgbClr val="343174"/>
          </a:solidFill>
          <a:ln>
            <a:noFill/>
          </a:ln>
          <a:effectLst/>
        </p:spPr>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ect">
            <a:avLst/>
          </a:prstGeom>
          <a:solidFill>
            <a:srgbClr val="F2F2F5"/>
          </a:solidFill>
          <a:ln>
            <a:noFill/>
          </a:ln>
          <a:effectLst/>
        </p:spPr>
        <p:txBody>
          <a:bodyPr rtlCol="0" anchor="ctr"/>
          <a:lstStyle/>
          <a:p/>
        </p:txBody>
      </p:sp>
      <p:sp>
        <p:nvSpPr>
          <p:cNvPr id="9" name="Answer label 2"/>
          <p:cNvSpPr/>
          <p:nvPr/>
        </p:nvSpPr>
        <p:spPr>
          <a:xfrm>
            <a:off x="2240280" y="2670048"/>
            <a:ext cx="868680" cy="1143000"/>
          </a:xfrm>
          <a:prstGeom prst="rect">
            <a:avLst/>
          </a:prstGeom>
          <a:solidFill>
            <a:srgbClr val="343174"/>
          </a:solidFill>
          <a:ln>
            <a:noFill/>
          </a:ln>
          <a:effectLst/>
        </p:spPr>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ect">
            <a:avLst/>
          </a:prstGeom>
          <a:solidFill>
            <a:srgbClr val="F2F2F5"/>
          </a:solidFill>
          <a:ln>
            <a:noFill/>
          </a:ln>
          <a:effectLst/>
        </p:spPr>
        <p:txBody>
          <a:bodyPr rtlCol="0" anchor="ctr"/>
          <a:lstStyle/>
          <a:p/>
        </p:txBody>
      </p:sp>
      <p:sp>
        <p:nvSpPr>
          <p:cNvPr id="13" name="Answer label 3"/>
          <p:cNvSpPr/>
          <p:nvPr/>
        </p:nvSpPr>
        <p:spPr>
          <a:xfrm>
            <a:off x="2240280" y="3968496"/>
            <a:ext cx="868680" cy="1143000"/>
          </a:xfrm>
          <a:prstGeom prst="rect">
            <a:avLst/>
          </a:prstGeom>
          <a:solidFill>
            <a:srgbClr val="343174"/>
          </a:solidFill>
          <a:ln>
            <a:noFill/>
          </a:ln>
          <a:effectLst/>
        </p:spPr>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