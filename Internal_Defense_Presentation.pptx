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sldIdLst>
    <p:sldId id="276" r:id="rId9"/>
    <p:sldId id="277" r:id="rId11"/>
    <p:sldId id="278" r:id="rId12"/>
    <p:sldId id="279" r:id="rId13"/>
    <p:sldId id="280" r:id="rId14"/>
    <p:sldId id="281" r:id="rId15"/>
    <p:sldId id="282" r:id="rId16"/>
    <p:sldId id="283" r:id="rId17"/>
    <p:sldId id="284" r:id="rId18"/>
    <p:sldId id="285" r:id="rId19"/>
    <p:sldId id="286" r:id="rId20"/>
    <p:sldId id="287" r:id="rId21"/>
    <p:sldId id="288" r:id="rId22"/>
    <p:sldId id="289" r:id="rId23"/>
    <p:sldId id="290" r:id="rId24"/>
    <p:sldId id="291" r:id="rId25"/>
    <p:sldId id="292" r:id="rId26"/>
    <p:sldId id="293" r:id="rId27"/>
    <p:sldId id="294" r:id="rId28"/>
    <p:sldId id="295" r:id="rId29"/>
    <p:sldId id="274" r:id="rId4"/>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194"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 Type="http://schemas.openxmlformats.org/officeDocument/2006/relationships/slide" Target="slides/slide2.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Precision</c:v>
                </c:pt>
              </c:strCache>
            </c:strRef>
          </c:tx>
          <c:spPr>
            <a:ln w="31750">
              <a:solidFill>
                <a:srgbClr val="343174"/>
              </a:solidFill>
            </a:ln>
          </c:spPr>
          <c:marker>
            <c:symbol val="circle"/>
            <c:size val="8"/>
            <c:spPr>
              <a:solidFill>
                <a:srgbClr val="343174"/>
              </a:solidFill>
              <a:ln>
                <a:solidFill>
                  <a:srgbClr val="343174"/>
                </a:solidFill>
              </a:ln>
            </c:spPr>
          </c:marker>
          <c:cat>
            <c:strRef>
              <c:f>Sheet1!$A$2:$A$5</c:f>
              <c:strCache>
                <c:ptCount val="4"/>
                <c:pt idx="0">
                  <c:v>2013B</c:v>
                </c:pt>
                <c:pt idx="1">
                  <c:v>2013J</c:v>
                </c:pt>
                <c:pt idx="2">
                  <c:v>2014B</c:v>
                </c:pt>
                <c:pt idx="3">
                  <c:v>2014J</c:v>
                </c:pt>
              </c:strCache>
            </c:strRef>
          </c:cat>
          <c:val>
            <c:numRef>
              <c:f>Sheet1!$B$2:$B$5</c:f>
              <c:numCache>
                <c:formatCode>General</c:formatCode>
                <c:ptCount val="4"/>
                <c:pt idx="0">
                  <c:v>0.9506</c:v>
                </c:pt>
                <c:pt idx="1">
                  <c:v>0.969</c:v>
                </c:pt>
                <c:pt idx="2">
                  <c:v>0.8243</c:v>
                </c:pt>
                <c:pt idx="3">
                  <c:v>0.8075</c:v>
                </c:pt>
              </c:numCache>
            </c:numRef>
          </c:val>
          <c:smooth val="0"/>
        </c:ser>
        <c:ser>
          <c:idx val="1"/>
          <c:order val="1"/>
          <c:tx>
            <c:strRef>
              <c:f>Sheet1!$C$1</c:f>
              <c:strCache>
                <c:ptCount val="1"/>
                <c:pt idx="0">
                  <c:v>Recall</c:v>
                </c:pt>
              </c:strCache>
            </c:strRef>
          </c:tx>
          <c:spPr>
            <a:ln w="31750">
              <a:solidFill>
                <a:srgbClr val="8E91A8"/>
              </a:solidFill>
            </a:ln>
          </c:spPr>
          <c:marker>
            <c:symbol val="circle"/>
            <c:size val="8"/>
            <c:spPr>
              <a:solidFill>
                <a:srgbClr val="8E91A8"/>
              </a:solidFill>
              <a:ln>
                <a:solidFill>
                  <a:srgbClr val="8E91A8"/>
                </a:solidFill>
              </a:ln>
            </c:spPr>
          </c:marker>
          <c:cat>
            <c:strRef>
              <c:f>Sheet1!$A$2:$A$5</c:f>
              <c:strCache>
                <c:ptCount val="4"/>
                <c:pt idx="0">
                  <c:v>2013B</c:v>
                </c:pt>
                <c:pt idx="1">
                  <c:v>2013J</c:v>
                </c:pt>
                <c:pt idx="2">
                  <c:v>2014B</c:v>
                </c:pt>
                <c:pt idx="3">
                  <c:v>2014J</c:v>
                </c:pt>
              </c:strCache>
            </c:strRef>
          </c:cat>
          <c:val>
            <c:numRef>
              <c:f>Sheet1!$C$2:$C$5</c:f>
              <c:numCache>
                <c:formatCode>General</c:formatCode>
                <c:ptCount val="4"/>
                <c:pt idx="0">
                  <c:v>0.8764</c:v>
                </c:pt>
                <c:pt idx="1">
                  <c:v>0.8577</c:v>
                </c:pt>
                <c:pt idx="2">
                  <c:v>0.9627</c:v>
                </c:pt>
                <c:pt idx="3">
                  <c:v>0.9197</c:v>
                </c:pt>
              </c:numCache>
            </c:numRef>
          </c:val>
          <c:smooth val="0"/>
        </c:ser>
        <c:ser>
          <c:idx val="2"/>
          <c:order val="2"/>
          <c:tx>
            <c:strRef>
              <c:f>Sheet1!$D$1</c:f>
              <c:strCache>
                <c:ptCount val="1"/>
                <c:pt idx="0">
                  <c:v>Accuracy</c:v>
                </c:pt>
              </c:strCache>
            </c:strRef>
          </c:tx>
          <c:spPr>
            <a:ln w="31750">
              <a:solidFill>
                <a:srgbClr val="3E3E48"/>
              </a:solidFill>
            </a:ln>
          </c:spPr>
          <c:marker>
            <c:symbol val="circle"/>
            <c:size val="8"/>
            <c:spPr>
              <a:solidFill>
                <a:srgbClr val="3E3E48"/>
              </a:solidFill>
              <a:ln>
                <a:solidFill>
                  <a:srgbClr val="3E3E48"/>
                </a:solidFill>
              </a:ln>
            </c:spPr>
          </c:marker>
          <c:cat>
            <c:strRef>
              <c:f>Sheet1!$A$2:$A$5</c:f>
              <c:strCache>
                <c:ptCount val="4"/>
                <c:pt idx="0">
                  <c:v>2013B</c:v>
                </c:pt>
                <c:pt idx="1">
                  <c:v>2013J</c:v>
                </c:pt>
                <c:pt idx="2">
                  <c:v>2014B</c:v>
                </c:pt>
                <c:pt idx="3">
                  <c:v>2014J</c:v>
                </c:pt>
              </c:strCache>
            </c:strRef>
          </c:cat>
          <c:val>
            <c:numRef>
              <c:f>Sheet1!$D$2:$D$5</c:f>
              <c:numCache>
                <c:formatCode>General</c:formatCode>
                <c:ptCount val="4"/>
                <c:pt idx="0">
                  <c:v>0.9065</c:v>
                </c:pt>
                <c:pt idx="1">
                  <c:v>0.9161</c:v>
                </c:pt>
                <c:pt idx="2">
                  <c:v>0.8619</c:v>
                </c:pt>
                <c:pt idx="3">
                  <c:v>0.8456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C9CAD3"/>
            </a:solidFill>
          </a:ln>
        </c:spPr>
        <c:txPr>
          <a:bodyPr/>
          <a:lstStyle/>
          <a:p>
            <a:pPr>
              <a:defRPr sz="1300">
                <a:solidFill>
                  <a:srgbClr val="22222A"/>
                </a:solidFill>
              </a:defRPr>
            </a:pPr>
          </a:p>
        </c:txPr>
        <c:crossAx val="2140495176"/>
        <c:crosses val="autoZero"/>
        <c:auto val="1"/>
        <c:lblAlgn val="ctr"/>
        <c:lblOffset val="100"/>
        <c:noMultiLvlLbl val="0"/>
      </c:catAx>
      <c:valAx>
        <c:axId val="2140495176"/>
        <c:scaling>
          <c:max val="1.0"/>
          <c:min val="0.75"/>
        </c:scaling>
        <c:delete val="0"/>
        <c:axPos val="l"/>
        <c:majorGridlines>
          <c:spPr>
            <a:ln>
              <a:solidFill>
                <a:srgbClr val="E4E4EA"/>
              </a:solidFill>
            </a:ln>
          </c:spPr>
        </c:majorGridlines>
        <c:numFmt formatCode="0.00" sourceLinked="0"/>
        <c:majorTickMark val="out"/>
        <c:minorTickMark val="none"/>
        <c:tickLblPos val="nextTo"/>
        <c:spPr>
          <a:ln>
            <a:noFill/>
          </a:ln>
        </c:spPr>
        <c:txPr>
          <a:bodyPr/>
          <a:lstStyle/>
          <a:p>
            <a:pPr>
              <a:defRPr sz="1200">
                <a:solidFill>
                  <a:srgbClr val="555560"/>
                </a:solidFill>
              </a:defRPr>
            </a:pPr>
          </a:p>
        </c:txPr>
        <c:crossAx val="2118791784"/>
        <c:crosses val="autoZero"/>
        <c:majorUnit val="0.05"/>
      </c:valAx>
    </c:plotArea>
    <c:legend>
      <c:legendPos val="t"/>
      <c:layout/>
      <c:overlay val="0"/>
      <c:txPr>
        <a:bodyPr/>
        <a:lstStyle/>
        <a:p>
          <a:pPr>
            <a:defRPr sz="1300">
              <a:solidFill>
                <a:srgbClr val="22222A"/>
              </a:solidFil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My name is Daniel Larry, and I am presenting my MSc thesis, supervised by Dr. Zainab Shamsiya Usman. The thesis designs, builds and technically evaluates a dashboard that predicts which students are at risk of failing or withdrawing, explains each prediction with SHAP and LIME, and shows those explanations differently to instructors, academic advisors and administrators.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the talk. I start with the problem and what the study set out to do, then the method, the system I built, the results of the technical evaluation, the dashboard itself, and I close with the contributions, limitations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Learning Management Systems such as Moodle, Canvas and Blackboard record a great deal about how students engage. Learning analytics uses that data, and one of its most common uses is flagging students who may fail or withdraw. Ensemble models already do this accurately on benchmarks such as OULAD. What gets much less attention is the step after the flag: a score on its own does not tell a tutor why the student was flagged, or what to do about it. That gap is where this study sits.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make up the problem. First, most at-risk systems give a score with no reasoning behind it. Second, instructors, advisors and administrators make different decisions, yet dashboards usually give them all the same view. Third, SHAP and LIME are mature techniques, but they are rarely built into working learning analytics dashboards, and the ways XAI is evaluated in education are still generic. So I treat this as both a design problem and a technical problem, and I use CommonKADS to structure the design. One scope point up front: no practitioner data was collected, so usability and decision-making are not measured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is to investigate how a role-aware explainable AI dashboard can support at-risk prediction in an LMS, using OULAD as the empirical base. Three objectives follow from it: review the literature, build and evaluate the model with SHAP and LIME, and design and implement the role-aware dashboard and evaluate it technically.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research questions. RQ1 is about integrating SHAP and LIME into a knowledge engineering pipeline. RQ2 is about which dashboard features and explanation structures, grounded in the CommonKADS Agent Model and the dashboard literature, fit each role. RQ3 asks what the performance and explainability findings say about the dashboard's technical potential to support practitioners. I come back to each one in the conclusion.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literature review points to five related gaps. Accurate ensemble models exist, but how their predictions reach practitioners gets little attention. XAI in education is rarely tailored to roles: the only role-specific XAI dashboard I found, Afzaal and colleagues, is for students. Dashboards usually serve one type of user, and I found no study serving all three staff roles from one shared model. Little work treats SHAP and LIME output as knowledge to be delivered, and evaluation frameworks are generic. This study brings these together.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methodology is knowledge engineering, using CommonKADS. I chose it because the central design problem is a knowledge problem: how to represent the knowledge the prediction system produces, the predictions and their SHAP and LIME explanations, and deliver it to instructors, advisors and administrators according to what each of them needs. The work ran in four iterative knowledge engineering phases: knowledge acquisition and organisation analysis, knowledge and system modelling, artefact design and development, and technical evaluation. Knowledge acquisition drew on published literature, not interviews, because no practitioners were involved. Design science, following Peffers and colleagues, structures the research steps around the artefact, and the Technology Acceptance Model is only a design lens, not tested.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 six CommonKADS models was applied to a concrete part of the design. The Organisation Model shows where at-risk information breaks down. The Task Model splits the work into risk assessment, explanation, role assignment and delivery. The Agent Model describes what each role needs; it is built from published evidence, not from interviews, so it is a well-sourced hypothesis. The Knowledge, Communication and Design Models give the feature dictionary, the way explanations are shown, and the five-layer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the Open University Learning Analytics Dataset: 32,593 student-module-presentation records over 22 module presentations. The target is binary. Withdrawn and Fail become at risk, which gives 17,208 cases or 52.8 percent; Pass and Distinction become not at risk. So the classes are only mildly imbalanced. Note that withdrawals are 59 percent of the positive class, so the model is best read as mainly a withdrawal predictor. There are 24 input columns, 59 features after one-hot encoding, in three families.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system has five layers, following the CommonKADS Design Model. The data layer builds deadline-anchored features with pandas. The prediction engine serves a versioned XGBoost pipeline. The explainability module caches global TreeSHAP values and runs LIME on demand. The Flask API handles JWT login and role-based access control, and the React front end gives the three role views. Everything runs under Docker Compose, and I tested two LMS integration paths: a native Moodle 5.2 plugin and a Canvas External URL embed, with all 22 module presentations loaded as courses.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out-of-fold results for the prototype XGBoost model, using GroupKFold grouped by course presentation, so each prediction comes from a model that never saw that presentation. Accuracy is 0.877, precision 0.866, recall 0.909, F1 0.887 and ROC-AUC 0.962. Recall matters most here: of 17,208 at-risk students the model catches 15,634 and misses 1,574. The cost is 2,422 false positives, about 15.7 percent of the not-at-risk group, which a practitioner can review and set aside. These figures are retrospective, because features cover the whole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models were run under the same pipeline and the same GroupKFold protocol. They sit in a narrow band. Random Forest has the highest F1, 0.898, and the highest accuracy and precision. XGBoost has the highest recall, 0.909. Because recall was set in advance as the selection criterion, since missing an at-risk student costs more than reviewing one who turns out fine, XGBoost stays in the prototype. The F1 gap between best and worst is only 0.011, and Random Forest is worth revisiting if priorities change.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each fold holds out a whole presentation, I can report results per presentation. Performance is not uniform. The 2013 presentations have very high precision, above 0.95, but lower recall. The 2014 presentations show the reverse, with recall up to 0.963 for 2014B but precision around 0.81. Accuracy ranges from 0.846 to 0.916. With only four groups I cannot pin down the cause, but it means the pooled figures should be generalised with care.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Global TreeSHAP was run on all 32,593 records, and LIME on a random sample of 40 students. Both methods put assessments submitted at the top, by a wide margin. They share six more features in their top ten. At the level of individual students, the average top-five overlap is 0.635, so on average just over three of the five leading features agree. Agreement is partial, which is why the dashboard shows both. These are attributions about the model's behaviour, not causes of student outcomes. For example, clicks in the 28 days before deadlines pushes towards at-risk, which is most likely collinearity with total clicks.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design idea. Every role sees the same prediction, but at a different depth. The instructor works inside a running course and sees individual students with SHAP and LIME side by side. The advisor manages a caseload and sees reasoning averaged over students at or above the watch threshold. The administrator directs resources and sees institution-wide performance and the full-population reasoning trail. These views were derived from the Agent Model and the literature and have not yet been tested with users.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instructor view for module FFF, presentation 2014J. Students are ranked by predicted risk. Selecting one shows the top five SHAP contributions and the top five LIME weights next to each other, colour-coded by whether a feature pushes towards or away from at-risk. A note says how many features the two methods share for this student, here four of five, and reminds the reader that contributions describe the model's reasoning, not the student's situation. The same views also run inside Moodle as a plugin and inside Canvas.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four contributions. First, a working system where prediction and explanation run together, with the explanation layer serving the interface directly, rather than explanation as an offline analysis. Second, role-aware explanation: distinct views derived from each role's responsibilities, with the reasoning documented. Third, a methodological one: applying CommonKADS shows that the design problem here is largely a knowledge problem. Fourth, evidence on where SHAP and LIME agree and differ, at global and local level.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be clear about the limits. No practitioner used the system, so trust, usability and decision quality are untested. Features cover the whole presentation, so this is retrospective classification, not early warning. The study uses one dataset. The planned stability, fidelity, calibration and fairness checks were not completed. The future work follows directly: the three first-tier priorities are early-warning evaluation, calibration and a fairness assessment, and then a practitioner study and other institutions' data.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answers. RQ1: SHAP and LIME were integrated into a pipeline designed with CommonKADS, with global SHAP cached and LIME on demand; they agree on the main drivers and partly differ for individual students. RQ2: individual, caseload and cohort views were derived from the Agent Model and implemented; they are specified, not yet user-tested. RQ3: the technical preconditions are in place: high recall, reasons traceable to recorded behaviour, and cross-checked methods. Whether practitioners benefit is the next study. Thank you, I welcome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I am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102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ctrTitle"/>
          </p:nvPr>
        </p:nvSpPr>
        <p:spPr>
          <a:xfrm>
            <a:off x="2267744" y="764704"/>
            <a:ext cx="6421910" cy="1005670"/>
          </a:xfrm>
        </p:spPr>
        <p:txBody>
          <a:bodyPr/>
          <a:lstStyle/>
          <a:p>
            <a:r>
              <a:rPr lang="en-US" smtClean="0"/>
              <a:t>Click to edit Master title style</a:t>
            </a:r>
            <a:endParaRPr lang="en-GB"/>
          </a:p>
        </p:txBody>
      </p:sp>
      <p:sp>
        <p:nvSpPr>
          <p:cNvPr id="3" name="Subtitle 2"/>
          <p:cNvSpPr>
            <a:spLocks noGrp="1"/>
          </p:cNvSpPr>
          <p:nvPr>
            <p:ph type="subTitle" idx="1"/>
          </p:nvPr>
        </p:nvSpPr>
        <p:spPr>
          <a:xfrm>
            <a:off x="2715222" y="2520478"/>
            <a:ext cx="5288632" cy="1198984"/>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48064"/>
            <a:ext cx="6563072" cy="1143000"/>
          </a:xfrm>
        </p:spPr>
        <p:txBody>
          <a:bodyPr/>
          <a:lstStyle/>
          <a:p>
            <a:r>
              <a:rPr lang="en-US" smtClean="0"/>
              <a:t>Click to edit Master title style</a:t>
            </a:r>
            <a:endParaRPr lang="en-GB"/>
          </a:p>
        </p:txBody>
      </p:sp>
      <p:sp>
        <p:nvSpPr>
          <p:cNvPr id="3" name="Content Placeholder 2"/>
          <p:cNvSpPr>
            <a:spLocks noGrp="1"/>
          </p:cNvSpPr>
          <p:nvPr>
            <p:ph idx="1"/>
          </p:nvPr>
        </p:nvSpPr>
        <p:spPr>
          <a:xfrm>
            <a:off x="2123728" y="1773626"/>
            <a:ext cx="6563072" cy="4607702"/>
          </a:xfrm>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8" name="Date Placeholder 3"/>
          <p:cNvSpPr>
            <a:spLocks noGrp="1"/>
          </p:cNvSpPr>
          <p:nvPr>
            <p:ph type="dt" sz="half" idx="10"/>
          </p:nvPr>
        </p:nvSpPr>
        <p:spPr>
          <a:xfrm>
            <a:off x="457200" y="6453336"/>
            <a:ext cx="2133600" cy="268139"/>
          </a:xfr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9" name="Footer Placeholder 4"/>
          <p:cNvSpPr>
            <a:spLocks noGrp="1"/>
          </p:cNvSpPr>
          <p:nvPr>
            <p:ph type="ftr" sz="quarter" idx="11"/>
          </p:nvPr>
        </p:nvSpPr>
        <p:spPr>
          <a:xfrm>
            <a:off x="3124200" y="6453336"/>
            <a:ext cx="2895600" cy="268139"/>
          </a:xfrm>
        </p:spPr>
        <p:txBody>
          <a:bodyPr/>
          <a:lstStyle>
            <a:lvl1pPr>
              <a:defRPr b="1">
                <a:solidFill>
                  <a:schemeClr val="bg1"/>
                </a:solidFill>
              </a:defRPr>
            </a:lvl1pPr>
          </a:lstStyle>
          <a:p>
            <a:endParaRPr lang="en-GB"/>
          </a:p>
        </p:txBody>
      </p:sp>
      <p:sp>
        <p:nvSpPr>
          <p:cNvPr id="10" name="Slide Number Placeholder 5"/>
          <p:cNvSpPr>
            <a:spLocks noGrp="1"/>
          </p:cNvSpPr>
          <p:nvPr>
            <p:ph type="sldNum" sz="quarter" idx="12"/>
          </p:nvPr>
        </p:nvSpPr>
        <p:spPr>
          <a:xfrm>
            <a:off x="6553200" y="6453336"/>
            <a:ext cx="2133600" cy="268139"/>
          </a:xfrm>
        </p:spPr>
        <p:txBody>
          <a:bodyPr/>
          <a:lstStyle>
            <a:lvl1pPr>
              <a:defRPr b="1">
                <a:solidFill>
                  <a:schemeClr val="bg1"/>
                </a:solidFill>
              </a:defRPr>
            </a:lvl1pPr>
          </a:lstStyle>
          <a:p>
            <a:fld id="{0C464BB3-966C-49F7-8D8F-C9590D0D1052}" type="slidenum">
              <a:rPr lang="en-GB" smtClean="0"/>
              <a:pPr/>
              <a:t>‹#›</a:t>
            </a:fld>
            <a:endParaRPr lang="en-GB"/>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5" y="4406900"/>
            <a:ext cx="6408713"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2195735" y="692697"/>
            <a:ext cx="6408713" cy="3714204"/>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453336"/>
            <a:ext cx="2895600" cy="268139"/>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95736" y="404664"/>
            <a:ext cx="6491064" cy="1012974"/>
          </a:xfrm>
        </p:spPr>
        <p:txBody>
          <a:bodyPr/>
          <a:lstStyle/>
          <a:p>
            <a:r>
              <a:rPr lang="en-US" smtClean="0"/>
              <a:t>Click to edit Master title style</a:t>
            </a:r>
            <a:endParaRPr lang="en-GB"/>
          </a:p>
        </p:txBody>
      </p:sp>
      <p:sp>
        <p:nvSpPr>
          <p:cNvPr id="3" name="Content Placeholder 2"/>
          <p:cNvSpPr>
            <a:spLocks noGrp="1"/>
          </p:cNvSpPr>
          <p:nvPr>
            <p:ph sz="half" idx="1"/>
          </p:nvPr>
        </p:nvSpPr>
        <p:spPr>
          <a:xfrm>
            <a:off x="2199928"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4" name="Content Placeholder 3"/>
          <p:cNvSpPr>
            <a:spLocks noGrp="1"/>
          </p:cNvSpPr>
          <p:nvPr>
            <p:ph sz="half" idx="2"/>
          </p:nvPr>
        </p:nvSpPr>
        <p:spPr>
          <a:xfrm>
            <a:off x="5508104" y="1600200"/>
            <a:ext cx="3092152"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453336"/>
            <a:ext cx="2895600" cy="268139"/>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2"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123728" y="404664"/>
            <a:ext cx="6552728" cy="1012974"/>
          </a:xfrm>
        </p:spPr>
        <p:txBody>
          <a:bodyPr/>
          <a:lstStyle>
            <a:lvl1pPr>
              <a:defRPr/>
            </a:lvl1pPr>
          </a:lstStyle>
          <a:p>
            <a:r>
              <a:rPr lang="en-US" dirty="0" smtClean="0"/>
              <a:t>Click to edit Master title style</a:t>
            </a:r>
            <a:endParaRPr lang="en-GB" dirty="0"/>
          </a:p>
        </p:txBody>
      </p:sp>
      <p:sp>
        <p:nvSpPr>
          <p:cNvPr id="3" name="Text Placeholder 2"/>
          <p:cNvSpPr>
            <a:spLocks noGrp="1"/>
          </p:cNvSpPr>
          <p:nvPr>
            <p:ph type="body" idx="1"/>
          </p:nvPr>
        </p:nvSpPr>
        <p:spPr>
          <a:xfrm>
            <a:off x="2148438" y="1646262"/>
            <a:ext cx="315546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2148438" y="2286024"/>
            <a:ext cx="315546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5472453" y="1646262"/>
            <a:ext cx="315670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472453" y="2286024"/>
            <a:ext cx="315670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8" name="Footer Placeholder 7"/>
          <p:cNvSpPr>
            <a:spLocks noGrp="1"/>
          </p:cNvSpPr>
          <p:nvPr>
            <p:ph type="ftr" sz="quarter" idx="11"/>
          </p:nvPr>
        </p:nvSpPr>
        <p:spPr>
          <a:xfrm>
            <a:off x="3124200" y="6453336"/>
            <a:ext cx="2895600" cy="268139"/>
          </a:xfrm>
          <a:prstGeom prst="rect">
            <a:avLst/>
          </a:prstGeom>
        </p:spPr>
        <p:txBody>
          <a:bodyPr/>
          <a:lstStyle/>
          <a:p>
            <a:endParaRPr lang="en-GB"/>
          </a:p>
        </p:txBody>
      </p:sp>
      <p:sp>
        <p:nvSpPr>
          <p:cNvPr id="9" name="Slide Number Placeholder 8"/>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2" descr="E:\AUN COVER PAGE landscape4.jpg"/>
          <p:cNvPicPr>
            <a:picLocks noChangeAspect="1" noChangeArrowheads="1"/>
          </p:cNvPicPr>
          <p:nvPr userDrawn="1"/>
        </p:nvPicPr>
        <p:blipFill>
          <a:blip r:embed="rId2" cstate="print"/>
          <a:srcRect/>
          <a:stretch>
            <a:fillRect/>
          </a:stretch>
        </p:blipFill>
        <p:spPr bwMode="auto">
          <a:xfrm>
            <a:off x="0" y="0"/>
            <a:ext cx="9144000" cy="6858000"/>
          </a:xfrm>
          <a:prstGeom prst="rect">
            <a:avLst/>
          </a:prstGeom>
          <a:noFill/>
        </p:spPr>
      </p:pic>
      <p:sp>
        <p:nvSpPr>
          <p:cNvPr id="2" name="Title 1"/>
          <p:cNvSpPr>
            <a:spLocks noGrp="1"/>
          </p:cNvSpPr>
          <p:nvPr>
            <p:ph type="title"/>
          </p:nvPr>
        </p:nvSpPr>
        <p:spPr>
          <a:xfrm>
            <a:off x="2051720" y="404664"/>
            <a:ext cx="6635080" cy="1012974"/>
          </a:xfrm>
        </p:spPr>
        <p:txBody>
          <a:bodyPr/>
          <a:lstStyle/>
          <a:p>
            <a:r>
              <a:rPr lang="en-US" smtClean="0"/>
              <a:t>Click to edit Master title style</a:t>
            </a:r>
            <a:endParaRPr lang="en-GB"/>
          </a:p>
        </p:txBody>
      </p:sp>
      <p:sp>
        <p:nvSpPr>
          <p:cNvPr id="3" name="Date Placeholder 2"/>
          <p:cNvSpPr>
            <a:spLocks noGrp="1"/>
          </p:cNvSpPr>
          <p:nvPr>
            <p:ph type="dt" sz="half" idx="10"/>
          </p:nvPr>
        </p:nvSpPr>
        <p:spPr>
          <a:xfrm>
            <a:off x="457200" y="6453336"/>
            <a:ext cx="2133600" cy="268139"/>
          </a:xfrm>
          <a:prstGeom prst="rect">
            <a:avLst/>
          </a:prstGeom>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a:xfrm>
            <a:off x="3124200" y="6453336"/>
            <a:ext cx="2895600" cy="268139"/>
          </a:xfrm>
          <a:prstGeom prst="rect">
            <a:avLst/>
          </a:prstGeom>
        </p:spPr>
        <p:txBody>
          <a:bodyPr/>
          <a:lstStyle/>
          <a:p>
            <a:endParaRPr lang="en-GB"/>
          </a:p>
        </p:txBody>
      </p:sp>
      <p:sp>
        <p:nvSpPr>
          <p:cNvPr id="5" name="Slide Number Placeholder 4"/>
          <p:cNvSpPr>
            <a:spLocks noGrp="1"/>
          </p:cNvSpPr>
          <p:nvPr>
            <p:ph type="sldNum" sz="quarter" idx="12"/>
          </p:nvPr>
        </p:nvSpPr>
        <p:spPr>
          <a:xfrm>
            <a:off x="6553200" y="6453336"/>
            <a:ext cx="2133600" cy="268139"/>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pic>
        <p:nvPicPr>
          <p:cNvPr id="3075" name="Picture 3" descr="E:\AUN COVER PAGE landscape.jpg"/>
          <p:cNvPicPr>
            <a:picLocks noChangeAspect="1" noChangeArrowheads="1"/>
          </p:cNvPicPr>
          <p:nvPr userDrawn="1"/>
        </p:nvPicPr>
        <p:blipFill>
          <a:blip r:embed="rId2" cstate="print"/>
          <a:srcRect/>
          <a:stretch>
            <a:fillRect/>
          </a:stretch>
        </p:blipFill>
        <p:spPr bwMode="auto">
          <a:xfrm>
            <a:off x="-774700" y="-352425"/>
            <a:ext cx="10694988" cy="7564438"/>
          </a:xfrm>
          <a:prstGeom prst="rect">
            <a:avLst/>
          </a:prstGeom>
          <a:noFill/>
        </p:spPr>
      </p:pic>
      <p:sp>
        <p:nvSpPr>
          <p:cNvPr id="7" name="Title 6"/>
          <p:cNvSpPr>
            <a:spLocks noGrp="1"/>
          </p:cNvSpPr>
          <p:nvPr>
            <p:ph type="title"/>
          </p:nvPr>
        </p:nvSpPr>
        <p:spPr>
          <a:xfrm>
            <a:off x="1187624" y="274638"/>
            <a:ext cx="7499176" cy="1143000"/>
          </a:xfrm>
        </p:spPr>
        <p:txBody>
          <a:bodyPr/>
          <a:lstStyle/>
          <a:p>
            <a:r>
              <a:rPr lang="en-US" dirty="0" smtClean="0"/>
              <a:t>Click to edit Master title style</a:t>
            </a:r>
            <a:endParaRPr lang="en-GB" dirty="0"/>
          </a:p>
        </p:txBody>
      </p:sp>
      <p:sp>
        <p:nvSpPr>
          <p:cNvPr id="11" name="Text Placeholder 10"/>
          <p:cNvSpPr>
            <a:spLocks noGrp="1"/>
          </p:cNvSpPr>
          <p:nvPr>
            <p:ph type="body" sz="quarter" idx="14"/>
          </p:nvPr>
        </p:nvSpPr>
        <p:spPr>
          <a:xfrm>
            <a:off x="2843212" y="1773238"/>
            <a:ext cx="5977259" cy="914400"/>
          </a:xfrm>
        </p:spPr>
        <p:txBody>
          <a:bodyPr/>
          <a:lstStyle>
            <a:lvl1pPr>
              <a:buNone/>
              <a:defRPr/>
            </a:lvl1pPr>
          </a:lstStyle>
          <a:p>
            <a:pPr lvl="0"/>
            <a:endParaRPr lang="en-GB" dirty="0"/>
          </a:p>
        </p:txBody>
      </p:sp>
      <p:sp>
        <p:nvSpPr>
          <p:cNvPr id="17" name="Text Placeholder 16"/>
          <p:cNvSpPr>
            <a:spLocks noGrp="1"/>
          </p:cNvSpPr>
          <p:nvPr>
            <p:ph type="body" sz="quarter" idx="15" hasCustomPrompt="1"/>
          </p:nvPr>
        </p:nvSpPr>
        <p:spPr>
          <a:xfrm>
            <a:off x="5436096" y="5300662"/>
            <a:ext cx="3707904" cy="1368697"/>
          </a:xfrm>
        </p:spPr>
        <p:txBody>
          <a:bodyPr/>
          <a:lstStyle>
            <a:lvl1pPr>
              <a:defRPr sz="2800" b="1"/>
            </a:lvl1pPr>
            <a:lvl2pPr>
              <a:buNone/>
              <a:defRPr/>
            </a:lvl2pPr>
          </a:lstStyle>
          <a:p>
            <a:pPr lvl="0"/>
            <a:r>
              <a:rPr lang="en-US" dirty="0" smtClean="0"/>
              <a:t>Abba </a:t>
            </a:r>
            <a:r>
              <a:rPr lang="en-US" dirty="0" err="1" smtClean="0"/>
              <a:t>Tahir</a:t>
            </a:r>
            <a:endParaRPr lang="en-US" dirty="0" smtClean="0"/>
          </a:p>
          <a:p>
            <a:pPr lvl="1"/>
            <a:r>
              <a:rPr lang="en-US" dirty="0" smtClean="0"/>
              <a:t>abba@aun.edu.ng</a:t>
            </a:r>
          </a:p>
          <a:p>
            <a:pPr lvl="0"/>
            <a:endParaRPr lang="en-GB"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6" name="Footer Placeholder 5"/>
          <p:cNvSpPr>
            <a:spLocks noGrp="1"/>
          </p:cNvSpPr>
          <p:nvPr>
            <p:ph type="ftr" sz="quarter" idx="11"/>
          </p:nvPr>
        </p:nvSpPr>
        <p:spPr>
          <a:xfrm>
            <a:off x="3124200" y="6356350"/>
            <a:ext cx="2895600" cy="365125"/>
          </a:xfrm>
          <a:prstGeom prst="rect">
            <a:avLst/>
          </a:prstGeom>
        </p:spPr>
        <p:txBody>
          <a:bodyPr/>
          <a:lstStyle/>
          <a:p>
            <a:endParaRPr lang="en-GB"/>
          </a:p>
        </p:txBody>
      </p:sp>
      <p:sp>
        <p:nvSpPr>
          <p:cNvPr id="7" name="Slide Number Placeholder 6"/>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a:xfrm>
            <a:off x="457200" y="6356350"/>
            <a:ext cx="2133600" cy="365125"/>
          </a:xfrm>
          <a:prstGeom prst="rect">
            <a:avLst/>
          </a:prstGeom>
        </p:spPr>
        <p:txBody>
          <a:bodyPr/>
          <a:lstStyle/>
          <a:p>
            <a:fld id="{EA5302B5-21DE-4FBA-8CF9-C4C3BDE1BFE6}" type="datetimeFigureOut">
              <a:rPr lang="en-GB" smtClean="0"/>
              <a:pPr/>
              <a:t>14/02/2018</a:t>
            </a:fld>
            <a:endParaRPr lang="en-GB"/>
          </a:p>
        </p:txBody>
      </p:sp>
      <p:sp>
        <p:nvSpPr>
          <p:cNvPr id="5" name="Footer Placeholder 4"/>
          <p:cNvSpPr>
            <a:spLocks noGrp="1"/>
          </p:cNvSpPr>
          <p:nvPr>
            <p:ph type="ftr" sz="quarter" idx="11"/>
          </p:nvPr>
        </p:nvSpPr>
        <p:spPr>
          <a:xfrm>
            <a:off x="3124200" y="6356350"/>
            <a:ext cx="2895600" cy="365125"/>
          </a:xfrm>
          <a:prstGeom prst="rect">
            <a:avLst/>
          </a:prstGeom>
        </p:spPr>
        <p:txBody>
          <a:bodyPr/>
          <a:lstStyle/>
          <a:p>
            <a:endParaRPr lang="en-GB"/>
          </a:p>
        </p:txBody>
      </p:sp>
      <p:sp>
        <p:nvSpPr>
          <p:cNvPr id="6" name="Slide Number Placeholder 5"/>
          <p:cNvSpPr>
            <a:spLocks noGrp="1"/>
          </p:cNvSpPr>
          <p:nvPr>
            <p:ph type="sldNum" sz="quarter" idx="12"/>
          </p:nvPr>
        </p:nvSpPr>
        <p:spPr>
          <a:xfrm>
            <a:off x="6553200" y="6356350"/>
            <a:ext cx="2133600" cy="365125"/>
          </a:xfrm>
          <a:prstGeom prst="rect">
            <a:avLst/>
          </a:prstGeom>
        </p:spPr>
        <p:txBody>
          <a:bodyPr/>
          <a:lstStyle/>
          <a:p>
            <a:fld id="{0C464BB3-966C-49F7-8D8F-C9590D0D1052}" type="slidenum">
              <a:rPr lang="en-GB" smtClean="0"/>
              <a:pPr/>
              <a:t>‹#›</a:t>
            </a:fld>
            <a:endParaRPr lang="en-GB"/>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pic>
        <p:nvPicPr>
          <p:cNvPr id="2050" name="Picture 2" descr="E:\AUN COVER PAGE landscape...jpg"/>
          <p:cNvPicPr>
            <a:picLocks noChangeAspect="1" noChangeArrowheads="1"/>
          </p:cNvPicPr>
          <p:nvPr userDrawn="1"/>
        </p:nvPicPr>
        <p:blipFill>
          <a:blip r:embed="rId2" cstate="print"/>
          <a:srcRect/>
          <a:stretch>
            <a:fillRect/>
          </a:stretch>
        </p:blipFill>
        <p:spPr bwMode="auto">
          <a:xfrm>
            <a:off x="-180528" y="0"/>
            <a:ext cx="9324528" cy="6858000"/>
          </a:xfrm>
          <a:prstGeom prst="rect">
            <a:avLst/>
          </a:prstGeom>
          <a:noFill/>
        </p:spPr>
      </p:pic>
      <p:sp>
        <p:nvSpPr>
          <p:cNvPr id="3" name="Date Placeholder 2"/>
          <p:cNvSpPr>
            <a:spLocks noGrp="1"/>
          </p:cNvSpPr>
          <p:nvPr>
            <p:ph type="dt" sz="half" idx="10"/>
          </p:nvPr>
        </p:nvSpPr>
        <p:spPr/>
        <p:txBody>
          <a:bodyPr/>
          <a:lstStyle/>
          <a:p>
            <a:fld id="{EA5302B5-21DE-4FBA-8CF9-C4C3BDE1BFE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64BB3-966C-49F7-8D8F-C9590D0D1052}" type="slidenum">
              <a:rPr lang="en-GB" smtClean="0"/>
              <a:pPr/>
              <a:t>‹#›</a:t>
            </a:fld>
            <a:endParaRPr lang="en-GB"/>
          </a:p>
        </p:txBody>
      </p:sp>
      <p:sp>
        <p:nvSpPr>
          <p:cNvPr id="8" name="Text Placeholder 7"/>
          <p:cNvSpPr>
            <a:spLocks noGrp="1"/>
          </p:cNvSpPr>
          <p:nvPr>
            <p:ph type="body" sz="quarter" idx="13"/>
          </p:nvPr>
        </p:nvSpPr>
        <p:spPr>
          <a:xfrm>
            <a:off x="1403648" y="1628800"/>
            <a:ext cx="7272808" cy="1944216"/>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9" name="Title 8"/>
          <p:cNvSpPr>
            <a:spLocks noGrp="1"/>
          </p:cNvSpPr>
          <p:nvPr>
            <p:ph type="title"/>
          </p:nvPr>
        </p:nvSpPr>
        <p:spPr>
          <a:xfrm>
            <a:off x="1403648" y="404664"/>
            <a:ext cx="7283152" cy="1012974"/>
          </a:xfrm>
        </p:spPr>
        <p:txBody>
          <a:bodyPr/>
          <a:lstStyle>
            <a:lvl1pPr>
              <a:defRPr>
                <a:solidFill>
                  <a:schemeClr val="bg1"/>
                </a:solidFill>
              </a:defRPr>
            </a:lvl1pPr>
          </a:lstStyle>
          <a:p>
            <a:r>
              <a:rPr lang="en-US" smtClean="0"/>
              <a:t>Click to edit Master title style</a:t>
            </a:r>
            <a:endParaRPr lang="en-GB"/>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GB"/>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8677FA41-CDBD-4E3A-B324-6BBBCA1966F6}" type="datetimeFigureOut">
              <a:rPr lang="en-GB" smtClean="0"/>
              <a:pPr/>
              <a:t>14/02/2018</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C44AE36-21C1-406F-A08D-BFA7A984A49B}" type="slidenum">
              <a:rPr lang="en-GB" smtClean="0"/>
              <a:pPr/>
              <a:t>‹#›</a:t>
            </a:fld>
            <a:endParaRPr lang="en-GB"/>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 Id="rId9" Type="http://schemas.openxmlformats.org/officeDocument/2006/relationships/slideLayout" Target="../slideLayouts/slideLayout21.xml"/><Relationship Id="rId10" Type="http://schemas.openxmlformats.org/officeDocument/2006/relationships/slideLayout" Target="../slideLayouts/slideLayout22.xml"/><Relationship Id="rId11" Type="http://schemas.openxmlformats.org/officeDocument/2006/relationships/slideLayout" Target="../slideLayouts/slideLayout23.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GB" dirty="0"/>
          </a:p>
        </p:txBody>
      </p:sp>
      <p:sp>
        <p:nvSpPr>
          <p:cNvPr id="12" name="Date Placeholder 3"/>
          <p:cNvSpPr>
            <a:spLocks noGrp="1"/>
          </p:cNvSpPr>
          <p:nvPr>
            <p:ph type="dt" sz="half" idx="2"/>
          </p:nvPr>
        </p:nvSpPr>
        <p:spPr>
          <a:xfrm>
            <a:off x="457200" y="6453336"/>
            <a:ext cx="2133600" cy="268139"/>
          </a:xfrm>
          <a:prstGeom prst="rect">
            <a:avLst/>
          </a:prstGeom>
        </p:spPr>
        <p:txBody>
          <a:bodyPr/>
          <a:lstStyle>
            <a:lvl1pPr>
              <a:defRPr b="1">
                <a:solidFill>
                  <a:schemeClr val="bg1"/>
                </a:solidFill>
              </a:defRPr>
            </a:lvl1pPr>
          </a:lstStyle>
          <a:p>
            <a:fld id="{EA5302B5-21DE-4FBA-8CF9-C4C3BDE1BFE6}" type="datetimeFigureOut">
              <a:rPr lang="en-GB" smtClean="0"/>
              <a:pPr/>
              <a:t>14/02/2018</a:t>
            </a:fld>
            <a:endParaRPr lang="en-GB"/>
          </a:p>
        </p:txBody>
      </p:sp>
      <p:sp>
        <p:nvSpPr>
          <p:cNvPr id="13" name="Footer Placeholder 4"/>
          <p:cNvSpPr>
            <a:spLocks noGrp="1"/>
          </p:cNvSpPr>
          <p:nvPr>
            <p:ph type="ftr" sz="quarter" idx="3"/>
          </p:nvPr>
        </p:nvSpPr>
        <p:spPr>
          <a:xfrm>
            <a:off x="3124200" y="6453336"/>
            <a:ext cx="2895600" cy="268139"/>
          </a:xfrm>
          <a:prstGeom prst="rect">
            <a:avLst/>
          </a:prstGeom>
        </p:spPr>
        <p:txBody>
          <a:bodyPr/>
          <a:lstStyle>
            <a:lvl1pPr>
              <a:defRPr b="1">
                <a:solidFill>
                  <a:schemeClr val="bg1"/>
                </a:solidFill>
              </a:defRPr>
            </a:lvl1pPr>
          </a:lstStyle>
          <a:p>
            <a:endParaRPr lang="en-GB"/>
          </a:p>
        </p:txBody>
      </p:sp>
      <p:sp>
        <p:nvSpPr>
          <p:cNvPr id="14" name="Slide Number Placeholder 5"/>
          <p:cNvSpPr>
            <a:spLocks noGrp="1"/>
          </p:cNvSpPr>
          <p:nvPr>
            <p:ph type="sldNum" sz="quarter" idx="4"/>
          </p:nvPr>
        </p:nvSpPr>
        <p:spPr>
          <a:xfrm>
            <a:off x="6553200" y="6453336"/>
            <a:ext cx="2133600" cy="268139"/>
          </a:xfrm>
          <a:prstGeom prst="rect">
            <a:avLst/>
          </a:prstGeom>
        </p:spPr>
        <p:txBody>
          <a:bodyPr/>
          <a:lstStyle>
            <a:lvl1pPr>
              <a:defRPr b="1">
                <a:solidFill>
                  <a:schemeClr val="bg1"/>
                </a:solidFill>
              </a:defRPr>
            </a:lvl1pPr>
          </a:lstStyle>
          <a:p>
            <a:fld id="{0C464BB3-966C-49F7-8D8F-C9590D0D1052}"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677FA41-CDBD-4E3A-B324-6BBBCA1966F6}" type="datetimeFigureOut">
              <a:rPr lang="en-GB" smtClean="0"/>
              <a:pPr/>
              <a:t>14/02/2018</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44AE36-21C1-406F-A08D-BFA7A984A49B}" type="slidenum">
              <a:rPr lang="en-GB" smtClean="0"/>
              <a:pPr/>
              <a:t>‹#›</a:t>
            </a:fld>
            <a:endParaRPr lang="en-GB"/>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1403648" y="2514600"/>
            <a:ext cx="7272808" cy="1905000"/>
          </a:xfrm>
        </p:spPr>
        <p:txBody>
          <a:bodyPr>
            <a:normAutofit/>
          </a:bodyPr>
          <a:lstStyle/>
          <a:p>
            <a:pPr algn="ctr" marL="0" indent="0">
              <a:buNone/>
            </a:pPr>
            <a:r>
              <a:rPr lang="en-US" sz="6600" b="1" dirty="0" smtClean="0">
                <a:latin typeface="Copperplate Gothic Bold" pitchFamily="34" charset="0"/>
              </a:rPr>
              <a:t>THANK YOU</a:t>
            </a:r>
          </a:p>
        </p:txBody>
      </p:sp>
      <p:sp>
        <p:nvSpPr>
          <p:cNvPr id="3" name="Questions line"/>
          <p:cNvSpPr txBox="1"/>
          <p:nvPr/>
        </p:nvSpPr>
        <p:spPr>
          <a:xfrm>
            <a:off x="1403604" y="4526280"/>
            <a:ext cx="6647688" cy="548640"/>
          </a:xfrm>
          <a:prstGeom prst="rect">
            <a:avLst/>
          </a:prstGeom>
          <a:noFill/>
        </p:spPr>
        <p:txBody>
          <a:bodyPr wrap="square" anchor="t" lIns="0" rIns="0" tIns="0" bIns="0">
            <a:spAutoFit/>
          </a:bodyPr>
          <a:lstStyle/>
          <a:p>
            <a:pPr algn="ctr">
              <a:spcAft>
                <a:spcPts val="600"/>
              </a:spcAft>
            </a:pPr>
            <a:r>
              <a:rPr sz="2200" b="0" i="0">
                <a:solidFill>
                  <a:srgbClr val="FFFFFF"/>
                </a:solidFill>
                <a:latin typeface="Calibri"/>
              </a:rPr>
              <a:t>Questions and comments are welcome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685800"/>
            <a:ext cx="6492240" cy="2103120"/>
          </a:xfrm>
        </p:spPr>
        <p:txBody>
          <a:bodyPr wrap="square" anchor="b"/>
          <a:lstStyle/>
          <a:p>
            <a:pPr algn="l"/>
            <a:r>
              <a:rPr sz="3000" b="1" i="0">
                <a:solidFill>
                  <a:srgbClr val="FFFFFF"/>
                </a:solidFill>
                <a:latin typeface="Calibri"/>
              </a:rPr>
              <a:t>A Role-Aware Explainable AI Dashboard for Student At-Risk Classification in Learning Management Systems</a:t>
            </a:r>
          </a:p>
        </p:txBody>
      </p:sp>
      <p:sp>
        <p:nvSpPr>
          <p:cNvPr id="3" name="Text Placeholder 2"/>
          <p:cNvSpPr>
            <a:spLocks noGrp="1"/>
          </p:cNvSpPr>
          <p:nvPr>
            <p:ph type="body" idx="14" sz="quarter"/>
          </p:nvPr>
        </p:nvSpPr>
        <p:spPr>
          <a:xfrm>
            <a:off x="2240280" y="3017520"/>
            <a:ext cx="6492240" cy="914400"/>
          </a:xfrm>
        </p:spPr>
        <p:txBody>
          <a:bodyPr wrap="square"/>
          <a:lstStyle/>
          <a:p>
            <a:pPr marL="0" indent="0">
              <a:buNone/>
            </a:pPr>
            <a:r>
              <a:rPr sz="2000" b="1" i="0">
                <a:solidFill>
                  <a:srgbClr val="FFFFFF"/>
                </a:solidFill>
                <a:latin typeface="Calibri"/>
              </a:rPr>
              <a:t>Internal Thesis Defense</a:t>
            </a:r>
          </a:p>
          <a:p>
            <a:pPr marL="0" indent="0">
              <a:buNone/>
            </a:pPr>
            <a:r>
              <a:rPr sz="1800" b="0" i="0">
                <a:solidFill>
                  <a:srgbClr val="FFFFFF"/>
                </a:solidFill>
                <a:latin typeface="Calibri"/>
              </a:rPr>
              <a:t>Master of Science in Computer Science</a:t>
            </a:r>
          </a:p>
        </p:txBody>
      </p:sp>
      <p:sp>
        <p:nvSpPr>
          <p:cNvPr id="4" name="Text Placeholder 3"/>
          <p:cNvSpPr>
            <a:spLocks noGrp="1"/>
          </p:cNvSpPr>
          <p:nvPr>
            <p:ph type="body" idx="15" sz="quarter"/>
          </p:nvPr>
        </p:nvSpPr>
        <p:spPr>
          <a:xfrm>
            <a:off x="2240280" y="4343400"/>
            <a:ext cx="6492240" cy="1828800"/>
          </a:xfrm>
        </p:spPr>
        <p:txBody>
          <a:bodyPr wrap="square"/>
          <a:lstStyle/>
          <a:p>
            <a:pPr marL="0" indent="0">
              <a:spcAft>
                <a:spcPts val="400"/>
              </a:spcAft>
              <a:buNone/>
            </a:pPr>
            <a:r>
              <a:rPr sz="2200" b="1" i="0">
                <a:solidFill>
                  <a:srgbClr val="FFFFFF"/>
                </a:solidFill>
                <a:latin typeface="Calibri"/>
              </a:rPr>
              <a:t>Daniel Larry</a:t>
            </a:r>
          </a:p>
          <a:p>
            <a:pPr marL="0" indent="0">
              <a:spcAft>
                <a:spcPts val="400"/>
              </a:spcAft>
              <a:buNone/>
            </a:pPr>
            <a:r>
              <a:rPr sz="1500" b="0" i="0">
                <a:solidFill>
                  <a:srgbClr val="DDDCEE"/>
                </a:solidFill>
                <a:latin typeface="Calibri"/>
              </a:rPr>
              <a:t>A00020528  |  daniel.larry@aun.edu.ng</a:t>
            </a:r>
          </a:p>
          <a:p>
            <a:pPr marL="0" indent="0">
              <a:spcAft>
                <a:spcPts val="400"/>
              </a:spcAft>
              <a:buNone/>
            </a:pPr>
            <a:r>
              <a:rPr sz="1600" b="0" i="0">
                <a:solidFill>
                  <a:srgbClr val="FFFFFF"/>
                </a:solidFill>
                <a:latin typeface="Calibri"/>
              </a:rPr>
              <a:t>Supervisor: Dr. Zainab Shamsiya Usman</a:t>
            </a:r>
          </a:p>
          <a:p>
            <a:pPr marL="0" indent="0">
              <a:spcAft>
                <a:spcPts val="400"/>
              </a:spcAft>
              <a:buNone/>
            </a:pPr>
            <a:r>
              <a:rPr sz="1400" b="0" i="0">
                <a:solidFill>
                  <a:srgbClr val="DDDCEE"/>
                </a:solidFill>
                <a:latin typeface="Calibri"/>
              </a:rPr>
              <a:t>School of Information Technology and Computing, American University of Nigeria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Presentation Outline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a:t>
            </a:r>
          </a:p>
        </p:txBody>
      </p:sp>
      <p:sp>
        <p:nvSpPr>
          <p:cNvPr id="4" name="Number 1"/>
          <p:cNvSpPr/>
          <p:nvPr/>
        </p:nvSpPr>
        <p:spPr>
          <a:xfrm>
            <a:off x="2240280" y="141732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1</a:t>
            </a:r>
          </a:p>
        </p:txBody>
      </p:sp>
      <p:sp>
        <p:nvSpPr>
          <p:cNvPr id="5" name="Outline item 1"/>
          <p:cNvSpPr txBox="1"/>
          <p:nvPr/>
        </p:nvSpPr>
        <p:spPr>
          <a:xfrm>
            <a:off x="2834640" y="14173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Background and problem statement</a:t>
            </a:r>
          </a:p>
        </p:txBody>
      </p:sp>
      <p:sp>
        <p:nvSpPr>
          <p:cNvPr id="6" name="Number 2"/>
          <p:cNvSpPr/>
          <p:nvPr/>
        </p:nvSpPr>
        <p:spPr>
          <a:xfrm>
            <a:off x="2240280" y="196596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2</a:t>
            </a:r>
          </a:p>
        </p:txBody>
      </p:sp>
      <p:sp>
        <p:nvSpPr>
          <p:cNvPr id="7" name="Outline item 2"/>
          <p:cNvSpPr txBox="1"/>
          <p:nvPr/>
        </p:nvSpPr>
        <p:spPr>
          <a:xfrm>
            <a:off x="2834640" y="196596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Aim, objectives and research questions</a:t>
            </a:r>
          </a:p>
        </p:txBody>
      </p:sp>
      <p:sp>
        <p:nvSpPr>
          <p:cNvPr id="8" name="Number 3"/>
          <p:cNvSpPr/>
          <p:nvPr/>
        </p:nvSpPr>
        <p:spPr>
          <a:xfrm>
            <a:off x="2240280" y="251460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3</a:t>
            </a:r>
          </a:p>
        </p:txBody>
      </p:sp>
      <p:sp>
        <p:nvSpPr>
          <p:cNvPr id="9" name="Outline item 3"/>
          <p:cNvSpPr txBox="1"/>
          <p:nvPr/>
        </p:nvSpPr>
        <p:spPr>
          <a:xfrm>
            <a:off x="2834640" y="25146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Research gap</a:t>
            </a:r>
          </a:p>
        </p:txBody>
      </p:sp>
      <p:sp>
        <p:nvSpPr>
          <p:cNvPr id="10" name="Number 4"/>
          <p:cNvSpPr/>
          <p:nvPr/>
        </p:nvSpPr>
        <p:spPr>
          <a:xfrm>
            <a:off x="2240280" y="3063239"/>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4</a:t>
            </a:r>
          </a:p>
        </p:txBody>
      </p:sp>
      <p:sp>
        <p:nvSpPr>
          <p:cNvPr id="11" name="Outline item 4"/>
          <p:cNvSpPr txBox="1"/>
          <p:nvPr/>
        </p:nvSpPr>
        <p:spPr>
          <a:xfrm>
            <a:off x="2834640" y="306323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Methodology: knowledge engineering</a:t>
            </a:r>
          </a:p>
        </p:txBody>
      </p:sp>
      <p:sp>
        <p:nvSpPr>
          <p:cNvPr id="12" name="Number 5"/>
          <p:cNvSpPr/>
          <p:nvPr/>
        </p:nvSpPr>
        <p:spPr>
          <a:xfrm>
            <a:off x="2240280" y="361188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5</a:t>
            </a:r>
          </a:p>
        </p:txBody>
      </p:sp>
      <p:sp>
        <p:nvSpPr>
          <p:cNvPr id="13" name="Outline item 5"/>
          <p:cNvSpPr txBox="1"/>
          <p:nvPr/>
        </p:nvSpPr>
        <p:spPr>
          <a:xfrm>
            <a:off x="2834640" y="361188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System design and implementation</a:t>
            </a:r>
          </a:p>
        </p:txBody>
      </p:sp>
      <p:sp>
        <p:nvSpPr>
          <p:cNvPr id="14" name="Number 6"/>
          <p:cNvSpPr/>
          <p:nvPr/>
        </p:nvSpPr>
        <p:spPr>
          <a:xfrm>
            <a:off x="2240280" y="416052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6</a:t>
            </a:r>
          </a:p>
        </p:txBody>
      </p:sp>
      <p:sp>
        <p:nvSpPr>
          <p:cNvPr id="15" name="Outline item 6"/>
          <p:cNvSpPr txBox="1"/>
          <p:nvPr/>
        </p:nvSpPr>
        <p:spPr>
          <a:xfrm>
            <a:off x="2834640" y="416052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Results: prediction and explainability</a:t>
            </a:r>
          </a:p>
        </p:txBody>
      </p:sp>
      <p:sp>
        <p:nvSpPr>
          <p:cNvPr id="16" name="Number 7"/>
          <p:cNvSpPr/>
          <p:nvPr/>
        </p:nvSpPr>
        <p:spPr>
          <a:xfrm>
            <a:off x="2240280" y="4709159"/>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7</a:t>
            </a:r>
          </a:p>
        </p:txBody>
      </p:sp>
      <p:sp>
        <p:nvSpPr>
          <p:cNvPr id="17" name="Outline item 7"/>
          <p:cNvSpPr txBox="1"/>
          <p:nvPr/>
        </p:nvSpPr>
        <p:spPr>
          <a:xfrm>
            <a:off x="2834640" y="4709159"/>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The role-aware dashboard</a:t>
            </a:r>
          </a:p>
        </p:txBody>
      </p:sp>
      <p:sp>
        <p:nvSpPr>
          <p:cNvPr id="18" name="Number 8"/>
          <p:cNvSpPr/>
          <p:nvPr/>
        </p:nvSpPr>
        <p:spPr>
          <a:xfrm>
            <a:off x="2240280" y="5257800"/>
            <a:ext cx="402336" cy="402336"/>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8</a:t>
            </a:r>
          </a:p>
        </p:txBody>
      </p:sp>
      <p:sp>
        <p:nvSpPr>
          <p:cNvPr id="19" name="Outline item 8"/>
          <p:cNvSpPr txBox="1"/>
          <p:nvPr/>
        </p:nvSpPr>
        <p:spPr>
          <a:xfrm>
            <a:off x="2834640" y="5257800"/>
            <a:ext cx="5714999" cy="402336"/>
          </a:xfrm>
          <a:prstGeom prst="rect">
            <a:avLst/>
          </a:prstGeom>
          <a:noFill/>
        </p:spPr>
        <p:txBody>
          <a:bodyPr wrap="square" anchor="ctr" lIns="0" rIns="0" tIns="0" bIns="0">
            <a:spAutoFit/>
          </a:bodyPr>
          <a:lstStyle/>
          <a:p>
            <a:pPr algn="l">
              <a:spcAft>
                <a:spcPts val="600"/>
              </a:spcAft>
            </a:pPr>
            <a:r>
              <a:rPr sz="1900" b="0" i="0">
                <a:solidFill>
                  <a:srgbClr val="22222A"/>
                </a:solidFill>
                <a:latin typeface="Calibri"/>
              </a:rPr>
              <a:t>Contributions, limitations and conclusion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Background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3</a:t>
            </a:r>
          </a:p>
        </p:txBody>
      </p:sp>
      <p:sp>
        <p:nvSpPr>
          <p:cNvPr id="4" name="Background points"/>
          <p:cNvSpPr txBox="1"/>
          <p:nvPr/>
        </p:nvSpPr>
        <p:spPr>
          <a:xfrm>
            <a:off x="2240280" y="1371600"/>
            <a:ext cx="3611880" cy="4480560"/>
          </a:xfrm>
          <a:prstGeom prst="rect">
            <a:avLst/>
          </a:prstGeom>
          <a:noFill/>
        </p:spPr>
        <p:txBody>
          <a:bodyPr wrap="square" anchor="t" lIns="0" rIns="0" tIns="0" bIns="0">
            <a:spAutoFit/>
          </a:bodyPr>
          <a:lstStyle/>
          <a:p>
            <a:pPr algn="l" marL="201168" indent="-201168">
              <a:spcAft>
                <a:spcPts val="1400"/>
              </a:spcAft>
              <a:buClr>
                <a:srgbClr val="343174"/>
              </a:buClr>
              <a:buFont typeface="Arial"/>
              <a:buChar char="•"/>
            </a:pPr>
            <a:r>
              <a:rPr sz="1700" b="0" i="0">
                <a:solidFill>
                  <a:srgbClr val="22222A"/>
                </a:solidFill>
                <a:latin typeface="Calibri"/>
              </a:rPr>
              <a:t>LMSs such as Moodle, Canvas and Blackboard record rich data on how students engage</a:t>
            </a:r>
          </a:p>
          <a:p>
            <a:pPr algn="l" marL="201168" indent="-201168">
              <a:spcAft>
                <a:spcPts val="1400"/>
              </a:spcAft>
              <a:buClr>
                <a:srgbClr val="343174"/>
              </a:buClr>
              <a:buFont typeface="Arial"/>
              <a:buChar char="•"/>
            </a:pPr>
            <a:r>
              <a:rPr sz="1700" b="0" i="0">
                <a:solidFill>
                  <a:srgbClr val="22222A"/>
                </a:solidFill>
                <a:latin typeface="Calibri"/>
              </a:rPr>
              <a:t>Learning analytics turns this data into insight, including early identification of at-risk students</a:t>
            </a:r>
          </a:p>
          <a:p>
            <a:pPr algn="l" marL="201168" indent="-201168">
              <a:spcAft>
                <a:spcPts val="1400"/>
              </a:spcAft>
              <a:buClr>
                <a:srgbClr val="343174"/>
              </a:buClr>
              <a:buFont typeface="Arial"/>
              <a:buChar char="•"/>
            </a:pPr>
            <a:r>
              <a:rPr sz="1700" b="0" i="0">
                <a:solidFill>
                  <a:srgbClr val="22222A"/>
                </a:solidFill>
                <a:latin typeface="Calibri"/>
              </a:rPr>
              <a:t>Ensemble models already reach high accuracy on benchmarks such as OULAD</a:t>
            </a:r>
          </a:p>
          <a:p>
            <a:pPr algn="l" marL="201168" indent="-201168">
              <a:spcAft>
                <a:spcPts val="1400"/>
              </a:spcAft>
              <a:buClr>
                <a:srgbClr val="343174"/>
              </a:buClr>
              <a:buFont typeface="Arial"/>
              <a:buChar char="•"/>
            </a:pPr>
            <a:r>
              <a:rPr sz="1700" b="0" i="0">
                <a:solidFill>
                  <a:srgbClr val="22222A"/>
                </a:solidFill>
                <a:latin typeface="Calibri"/>
              </a:rPr>
              <a:t>Less attention goes to what happens </a:t>
            </a:r>
            <a:r>
              <a:rPr sz="1700" b="1" i="0">
                <a:solidFill>
                  <a:srgbClr val="343174"/>
                </a:solidFill>
                <a:latin typeface="Calibri"/>
              </a:rPr>
              <a:t>after</a:t>
            </a:r>
            <a:r>
              <a:rPr sz="1700" b="0" i="0">
                <a:solidFill>
                  <a:srgbClr val="22222A"/>
                </a:solidFill>
                <a:latin typeface="Calibri"/>
              </a:rPr>
              <a:t> a student is flagged</a:t>
            </a:r>
          </a:p>
        </p:txBody>
      </p:sp>
      <p:sp>
        <p:nvSpPr>
          <p:cNvPr id="5" name="Quote card"/>
          <p:cNvSpPr/>
          <p:nvPr/>
        </p:nvSpPr>
        <p:spPr>
          <a:xfrm>
            <a:off x="6080760" y="1417320"/>
            <a:ext cx="2468880" cy="3429000"/>
          </a:xfrm>
          <a:prstGeom prst="rect">
            <a:avLst/>
          </a:prstGeom>
          <a:solidFill>
            <a:srgbClr val="343174"/>
          </a:solidFill>
          <a:ln>
            <a:noFill/>
          </a:ln>
          <a:effectLst/>
        </p:spPr>
        <p:txBody>
          <a:bodyPr rtlCol="0" anchor="ctr"/>
          <a:lstStyle/>
          <a:p/>
        </p:txBody>
      </p:sp>
      <p:sp>
        <p:nvSpPr>
          <p:cNvPr id="6" name="Quote text"/>
          <p:cNvSpPr txBox="1"/>
          <p:nvPr/>
        </p:nvSpPr>
        <p:spPr>
          <a:xfrm>
            <a:off x="6263640" y="1600200"/>
            <a:ext cx="2103120" cy="3108960"/>
          </a:xfrm>
          <a:prstGeom prst="rect">
            <a:avLst/>
          </a:prstGeom>
          <a:noFill/>
        </p:spPr>
        <p:txBody>
          <a:bodyPr wrap="square" anchor="t" lIns="0" rIns="0" tIns="0" bIns="0">
            <a:spAutoFit/>
          </a:bodyPr>
          <a:lstStyle/>
          <a:p>
            <a:pPr algn="l">
              <a:spcAft>
                <a:spcPts val="1200"/>
              </a:spcAft>
            </a:pPr>
            <a:r>
              <a:rPr sz="1300" b="1" i="0">
                <a:solidFill>
                  <a:srgbClr val="C9C8E0"/>
                </a:solidFill>
                <a:latin typeface="Calibri"/>
              </a:rPr>
              <a:t>The practical problem</a:t>
            </a:r>
          </a:p>
          <a:p>
            <a:pPr algn="l">
              <a:spcAft>
                <a:spcPts val="1200"/>
              </a:spcAft>
            </a:pPr>
            <a:r>
              <a:rPr sz="2200" b="1" i="0">
                <a:solidFill>
                  <a:srgbClr val="FFFFFF"/>
                </a:solidFill>
                <a:latin typeface="Calibri"/>
              </a:rPr>
              <a:t>A score alone changes little.</a:t>
            </a:r>
          </a:p>
          <a:p>
            <a:pPr algn="l">
              <a:spcAft>
                <a:spcPts val="1200"/>
              </a:spcAft>
            </a:pPr>
            <a:r>
              <a:rPr sz="1500" b="0" i="0">
                <a:solidFill>
                  <a:srgbClr val="E4E3F2"/>
                </a:solidFill>
                <a:latin typeface="Calibri"/>
              </a:rPr>
              <a:t>A tutor told that a student has a 70% chance of failing needs to know why, whether the reason is actionable, and what a sensible next step would be.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Problem Statement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4</a:t>
            </a:r>
          </a:p>
        </p:txBody>
      </p:sp>
      <p:sp>
        <p:nvSpPr>
          <p:cNvPr id="4" name="Problem card 1"/>
          <p:cNvSpPr/>
          <p:nvPr/>
        </p:nvSpPr>
        <p:spPr>
          <a:xfrm>
            <a:off x="2240280" y="1371600"/>
            <a:ext cx="6309359" cy="1188720"/>
          </a:xfrm>
          <a:prstGeom prst="rect">
            <a:avLst/>
          </a:prstGeom>
          <a:solidFill>
            <a:srgbClr val="F2F2F5"/>
          </a:solidFill>
          <a:ln>
            <a:noFill/>
          </a:ln>
          <a:effectLst/>
        </p:spPr>
        <p:txBody>
          <a:bodyPr rtlCol="0" anchor="ctr"/>
          <a:lstStyle/>
          <a:p/>
        </p:txBody>
      </p:sp>
      <p:sp>
        <p:nvSpPr>
          <p:cNvPr id="5" name="Oval 4"/>
          <p:cNvSpPr/>
          <p:nvPr/>
        </p:nvSpPr>
        <p:spPr>
          <a:xfrm>
            <a:off x="2441448" y="17190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1</a:t>
            </a:r>
          </a:p>
        </p:txBody>
      </p:sp>
      <p:sp>
        <p:nvSpPr>
          <p:cNvPr id="6" name="Problem text 1"/>
          <p:cNvSpPr txBox="1"/>
          <p:nvPr/>
        </p:nvSpPr>
        <p:spPr>
          <a:xfrm>
            <a:off x="3136392" y="14813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Risk scores without reasons</a:t>
            </a:r>
          </a:p>
          <a:p>
            <a:pPr algn="l">
              <a:spcAft>
                <a:spcPts val="300"/>
              </a:spcAft>
            </a:pPr>
            <a:r>
              <a:rPr sz="1500" b="0" i="0">
                <a:solidFill>
                  <a:srgbClr val="555560"/>
                </a:solidFill>
                <a:latin typeface="Calibri"/>
              </a:rPr>
              <a:t>Most systems output a score with no account of the reasoning behind it.</a:t>
            </a:r>
          </a:p>
        </p:txBody>
      </p:sp>
      <p:sp>
        <p:nvSpPr>
          <p:cNvPr id="7" name="Problem card 2"/>
          <p:cNvSpPr/>
          <p:nvPr/>
        </p:nvSpPr>
        <p:spPr>
          <a:xfrm>
            <a:off x="2240280" y="2743200"/>
            <a:ext cx="6309359" cy="1188720"/>
          </a:xfrm>
          <a:prstGeom prst="rect">
            <a:avLst/>
          </a:prstGeom>
          <a:solidFill>
            <a:srgbClr val="F2F2F5"/>
          </a:solidFill>
          <a:ln>
            <a:noFill/>
          </a:ln>
          <a:effectLst/>
        </p:spPr>
        <p:txBody>
          <a:bodyPr rtlCol="0" anchor="ctr"/>
          <a:lstStyle/>
          <a:p/>
        </p:txBody>
      </p:sp>
      <p:sp>
        <p:nvSpPr>
          <p:cNvPr id="8" name="Oval 7"/>
          <p:cNvSpPr/>
          <p:nvPr/>
        </p:nvSpPr>
        <p:spPr>
          <a:xfrm>
            <a:off x="2441448" y="30906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2</a:t>
            </a:r>
          </a:p>
        </p:txBody>
      </p:sp>
      <p:sp>
        <p:nvSpPr>
          <p:cNvPr id="9" name="Problem text 2"/>
          <p:cNvSpPr txBox="1"/>
          <p:nvPr/>
        </p:nvSpPr>
        <p:spPr>
          <a:xfrm>
            <a:off x="3136392" y="28529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One view for every role</a:t>
            </a:r>
          </a:p>
          <a:p>
            <a:pPr algn="l">
              <a:spcAft>
                <a:spcPts val="300"/>
              </a:spcAft>
            </a:pPr>
            <a:r>
              <a:rPr sz="1500" b="0" i="0">
                <a:solidFill>
                  <a:srgbClr val="555560"/>
                </a:solidFill>
                <a:latin typeface="Calibri"/>
              </a:rPr>
              <a:t>Instructors, advisors and administrators decide different things, yet dashboards rarely differ by role.</a:t>
            </a:r>
          </a:p>
        </p:txBody>
      </p:sp>
      <p:sp>
        <p:nvSpPr>
          <p:cNvPr id="10" name="Problem card 3"/>
          <p:cNvSpPr/>
          <p:nvPr/>
        </p:nvSpPr>
        <p:spPr>
          <a:xfrm>
            <a:off x="2240280" y="4114800"/>
            <a:ext cx="6309359" cy="1188720"/>
          </a:xfrm>
          <a:prstGeom prst="rect">
            <a:avLst/>
          </a:prstGeom>
          <a:solidFill>
            <a:srgbClr val="F2F2F5"/>
          </a:solidFill>
          <a:ln>
            <a:noFill/>
          </a:ln>
          <a:effectLst/>
        </p:spPr>
        <p:txBody>
          <a:bodyPr rtlCol="0" anchor="ctr"/>
          <a:lstStyle/>
          <a:p/>
        </p:txBody>
      </p:sp>
      <p:sp>
        <p:nvSpPr>
          <p:cNvPr id="11" name="Oval 10"/>
          <p:cNvSpPr/>
          <p:nvPr/>
        </p:nvSpPr>
        <p:spPr>
          <a:xfrm>
            <a:off x="2441448" y="4462272"/>
            <a:ext cx="493776" cy="493776"/>
          </a:xfrm>
          <a:prstGeom prst="ellipse">
            <a:avLst/>
          </a:prstGeom>
          <a:solidFill>
            <a:srgbClr val="343174"/>
          </a:solidFill>
          <a:ln>
            <a:noFill/>
          </a:ln>
          <a:effectLst/>
        </p:spPr>
        <p:txBody>
          <a:bodyPr rtlCol="0" anchor="ctr" lIns="0" rIns="0" tIns="0" bIns="0"/>
          <a:lstStyle/>
          <a:p>
            <a:pPr algn="ctr"/>
            <a:r>
              <a:rPr sz="1800" b="1" i="0">
                <a:solidFill>
                  <a:srgbClr val="FFFFFF"/>
                </a:solidFill>
                <a:latin typeface="Calibri"/>
              </a:rPr>
              <a:t>3</a:t>
            </a:r>
          </a:p>
        </p:txBody>
      </p:sp>
      <p:sp>
        <p:nvSpPr>
          <p:cNvPr id="12" name="Problem text 3"/>
          <p:cNvSpPr txBox="1"/>
          <p:nvPr/>
        </p:nvSpPr>
        <p:spPr>
          <a:xfrm>
            <a:off x="3136392" y="4224528"/>
            <a:ext cx="5257800" cy="1005840"/>
          </a:xfrm>
          <a:prstGeom prst="rect">
            <a:avLst/>
          </a:prstGeom>
          <a:noFill/>
        </p:spPr>
        <p:txBody>
          <a:bodyPr wrap="square" anchor="ctr" lIns="0" rIns="0" tIns="0" bIns="0">
            <a:spAutoFit/>
          </a:bodyPr>
          <a:lstStyle/>
          <a:p>
            <a:pPr algn="l">
              <a:spcAft>
                <a:spcPts val="300"/>
              </a:spcAft>
            </a:pPr>
            <a:r>
              <a:rPr sz="1800" b="1" i="0">
                <a:solidFill>
                  <a:srgbClr val="22222A"/>
                </a:solidFill>
                <a:latin typeface="Calibri"/>
              </a:rPr>
              <a:t>XAI seldom built in, evaluation still generic</a:t>
            </a:r>
          </a:p>
          <a:p>
            <a:pPr algn="l">
              <a:spcAft>
                <a:spcPts val="300"/>
              </a:spcAft>
            </a:pPr>
            <a:r>
              <a:rPr sz="1500" b="0" i="0">
                <a:solidFill>
                  <a:srgbClr val="555560"/>
                </a:solidFill>
                <a:latin typeface="Calibri"/>
              </a:rPr>
              <a:t>SHAP and LIME are mature but rarely integrated into working dashboards, and evaluation frameworks remain general.</a:t>
            </a:r>
          </a:p>
        </p:txBody>
      </p:sp>
      <p:sp>
        <p:nvSpPr>
          <p:cNvPr id="13" name="Approach line"/>
          <p:cNvSpPr txBox="1"/>
          <p:nvPr/>
        </p:nvSpPr>
        <p:spPr>
          <a:xfrm>
            <a:off x="2240280" y="5532120"/>
            <a:ext cx="6309359" cy="548640"/>
          </a:xfrm>
          <a:prstGeom prst="rect">
            <a:avLst/>
          </a:prstGeom>
          <a:noFill/>
        </p:spPr>
        <p:txBody>
          <a:bodyPr wrap="square" anchor="t" lIns="0" rIns="0" tIns="0" bIns="0">
            <a:spAutoFit/>
          </a:bodyPr>
          <a:lstStyle/>
          <a:p>
            <a:pPr algn="l">
              <a:spcAft>
                <a:spcPts val="600"/>
              </a:spcAft>
            </a:pPr>
            <a:r>
              <a:rPr sz="1500" b="1" i="0">
                <a:solidFill>
                  <a:srgbClr val="343174"/>
                </a:solidFill>
                <a:latin typeface="Calibri"/>
              </a:rPr>
              <a:t>Approach: </a:t>
            </a:r>
            <a:r>
              <a:rPr sz="1500" b="0" i="0">
                <a:solidFill>
                  <a:srgbClr val="343174"/>
                </a:solidFill>
                <a:latin typeface="Calibri"/>
              </a:rPr>
              <a:t>treat it as a design and technical problem, structured with the CommonKADS knowledge engineering methodology.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Aim and Objectives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5</a:t>
            </a:r>
          </a:p>
        </p:txBody>
      </p:sp>
      <p:sp>
        <p:nvSpPr>
          <p:cNvPr id="4" name="Aim card"/>
          <p:cNvSpPr/>
          <p:nvPr/>
        </p:nvSpPr>
        <p:spPr>
          <a:xfrm>
            <a:off x="2240280" y="1371600"/>
            <a:ext cx="6309359" cy="1234440"/>
          </a:xfrm>
          <a:prstGeom prst="rect">
            <a:avLst/>
          </a:prstGeom>
          <a:solidFill>
            <a:srgbClr val="343174"/>
          </a:solidFill>
          <a:ln>
            <a:noFill/>
          </a:ln>
          <a:effectLst/>
        </p:spPr>
        <p:txBody>
          <a:bodyPr rtlCol="0" anchor="ctr"/>
          <a:lstStyle/>
          <a:p/>
        </p:txBody>
      </p:sp>
      <p:sp>
        <p:nvSpPr>
          <p:cNvPr id="5" name="Aim text"/>
          <p:cNvSpPr txBox="1"/>
          <p:nvPr/>
        </p:nvSpPr>
        <p:spPr>
          <a:xfrm>
            <a:off x="2468880" y="1435607"/>
            <a:ext cx="5852159" cy="1097280"/>
          </a:xfrm>
          <a:prstGeom prst="rect">
            <a:avLst/>
          </a:prstGeom>
          <a:noFill/>
        </p:spPr>
        <p:txBody>
          <a:bodyPr wrap="square" anchor="ctr" lIns="0" rIns="0" tIns="0" bIns="0">
            <a:spAutoFit/>
          </a:bodyPr>
          <a:lstStyle/>
          <a:p>
            <a:pPr algn="l">
              <a:spcAft>
                <a:spcPts val="300"/>
              </a:spcAft>
            </a:pPr>
            <a:r>
              <a:rPr sz="1300" b="1" i="0">
                <a:solidFill>
                  <a:srgbClr val="C9C8E0"/>
                </a:solidFill>
                <a:latin typeface="Calibri"/>
              </a:rPr>
              <a:t>AIM</a:t>
            </a:r>
          </a:p>
          <a:p>
            <a:pPr algn="l">
              <a:spcAft>
                <a:spcPts val="300"/>
              </a:spcAft>
            </a:pPr>
            <a:r>
              <a:rPr sz="1600" b="0" i="0">
                <a:solidFill>
                  <a:srgbClr val="FFFFFF"/>
                </a:solidFill>
                <a:latin typeface="Calibri"/>
              </a:rPr>
              <a:t>Investigate how a role-aware explainable AI dashboard can support at-risk student prediction in LMS environments, using OULAD as the empirical basis.</a:t>
            </a:r>
          </a:p>
        </p:txBody>
      </p:sp>
      <p:sp>
        <p:nvSpPr>
          <p:cNvPr id="6" name="Number 1"/>
          <p:cNvSpPr/>
          <p:nvPr/>
        </p:nvSpPr>
        <p:spPr>
          <a:xfrm>
            <a:off x="2240280" y="288036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O1</a:t>
            </a:r>
          </a:p>
        </p:txBody>
      </p:sp>
      <p:sp>
        <p:nvSpPr>
          <p:cNvPr id="7" name="Item 1"/>
          <p:cNvSpPr txBox="1"/>
          <p:nvPr/>
        </p:nvSpPr>
        <p:spPr>
          <a:xfrm>
            <a:off x="2880360" y="286207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Review</a:t>
            </a:r>
          </a:p>
          <a:p>
            <a:pPr algn="l">
              <a:spcAft>
                <a:spcPts val="200"/>
              </a:spcAft>
            </a:pPr>
            <a:r>
              <a:rPr sz="1500" b="0" i="0">
                <a:solidFill>
                  <a:srgbClr val="555560"/>
                </a:solidFill>
                <a:latin typeface="Calibri"/>
              </a:rPr>
              <a:t>Predictive features, ML models and XAI techniques, plus the knowledge engineering and design principles for role-aware dashboards.</a:t>
            </a:r>
          </a:p>
        </p:txBody>
      </p:sp>
      <p:sp>
        <p:nvSpPr>
          <p:cNvPr id="8" name="Number 2"/>
          <p:cNvSpPr/>
          <p:nvPr/>
        </p:nvSpPr>
        <p:spPr>
          <a:xfrm>
            <a:off x="2240280" y="39319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O2</a:t>
            </a:r>
          </a:p>
        </p:txBody>
      </p:sp>
      <p:sp>
        <p:nvSpPr>
          <p:cNvPr id="9" name="Item 2"/>
          <p:cNvSpPr txBox="1"/>
          <p:nvPr/>
        </p:nvSpPr>
        <p:spPr>
          <a:xfrm>
            <a:off x="2880360" y="391363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Model and explain</a:t>
            </a:r>
          </a:p>
          <a:p>
            <a:pPr algn="l">
              <a:spcAft>
                <a:spcPts val="200"/>
              </a:spcAft>
            </a:pPr>
            <a:r>
              <a:rPr sz="1500" b="0" i="0">
                <a:solidFill>
                  <a:srgbClr val="555560"/>
                </a:solidFill>
                <a:latin typeface="Calibri"/>
              </a:rPr>
              <a:t>Develop and evaluate an ensemble model on OULAD, with SHAP and LIME for global and instance-level explanations.</a:t>
            </a:r>
          </a:p>
        </p:txBody>
      </p:sp>
      <p:sp>
        <p:nvSpPr>
          <p:cNvPr id="10" name="Number 3"/>
          <p:cNvSpPr/>
          <p:nvPr/>
        </p:nvSpPr>
        <p:spPr>
          <a:xfrm>
            <a:off x="2240280" y="4983479"/>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O3</a:t>
            </a:r>
          </a:p>
        </p:txBody>
      </p:sp>
      <p:sp>
        <p:nvSpPr>
          <p:cNvPr id="11" name="Item 3"/>
          <p:cNvSpPr txBox="1"/>
          <p:nvPr/>
        </p:nvSpPr>
        <p:spPr>
          <a:xfrm>
            <a:off x="2880360" y="4965192"/>
            <a:ext cx="5669279" cy="1005839"/>
          </a:xfrm>
          <a:prstGeom prst="rect">
            <a:avLst/>
          </a:prstGeom>
          <a:noFill/>
        </p:spPr>
        <p:txBody>
          <a:bodyPr wrap="square" anchor="t" lIns="0" rIns="0" tIns="0" bIns="0">
            <a:spAutoFit/>
          </a:bodyPr>
          <a:lstStyle/>
          <a:p>
            <a:pPr algn="l">
              <a:spcAft>
                <a:spcPts val="200"/>
              </a:spcAft>
            </a:pPr>
            <a:r>
              <a:rPr sz="1700" b="1" i="0">
                <a:solidFill>
                  <a:srgbClr val="22222A"/>
                </a:solidFill>
                <a:latin typeface="Calibri"/>
              </a:rPr>
              <a:t>Design and evaluate the dashboard</a:t>
            </a:r>
          </a:p>
          <a:p>
            <a:pPr algn="l">
              <a:spcAft>
                <a:spcPts val="200"/>
              </a:spcAft>
            </a:pPr>
            <a:r>
              <a:rPr sz="1500" b="0" i="0">
                <a:solidFill>
                  <a:srgbClr val="555560"/>
                </a:solidFill>
                <a:latin typeface="Calibri"/>
              </a:rPr>
              <a:t>Implement role-specific views for instructors, advisors and administrators, and evaluate the prediction and explanation components.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Questions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6</a:t>
            </a:r>
          </a:p>
        </p:txBody>
      </p:sp>
      <p:sp>
        <p:nvSpPr>
          <p:cNvPr id="4" name="RQ card 1"/>
          <p:cNvSpPr/>
          <p:nvPr/>
        </p:nvSpPr>
        <p:spPr>
          <a:xfrm>
            <a:off x="2240280" y="1371600"/>
            <a:ext cx="6309359" cy="1353312"/>
          </a:xfrm>
          <a:prstGeom prst="rect">
            <a:avLst/>
          </a:prstGeom>
          <a:solidFill>
            <a:srgbClr val="F2F2F5"/>
          </a:solidFill>
          <a:ln>
            <a:noFill/>
          </a:ln>
          <a:effectLst/>
        </p:spPr>
        <p:txBody>
          <a:bodyPr rtlCol="0" anchor="ctr"/>
          <a:lstStyle/>
          <a:p/>
        </p:txBody>
      </p:sp>
      <p:sp>
        <p:nvSpPr>
          <p:cNvPr id="5" name="RQ label 1"/>
          <p:cNvSpPr/>
          <p:nvPr/>
        </p:nvSpPr>
        <p:spPr>
          <a:xfrm>
            <a:off x="2240280" y="1371600"/>
            <a:ext cx="914400" cy="1353312"/>
          </a:xfrm>
          <a:prstGeom prst="rect">
            <a:avLst/>
          </a:prstGeom>
          <a:solidFill>
            <a:srgbClr val="343174"/>
          </a:solidFill>
          <a:ln>
            <a:noFill/>
          </a:ln>
          <a:effectLst/>
        </p:spPr>
        <p:txBody>
          <a:bodyPr rtlCol="0" anchor="ctr"/>
          <a:lstStyle/>
          <a:p/>
        </p:txBody>
      </p:sp>
      <p:sp>
        <p:nvSpPr>
          <p:cNvPr id="6" name="RQ label text 1"/>
          <p:cNvSpPr txBox="1"/>
          <p:nvPr/>
        </p:nvSpPr>
        <p:spPr>
          <a:xfrm>
            <a:off x="2240280" y="1371600"/>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RQ1</a:t>
            </a:r>
          </a:p>
        </p:txBody>
      </p:sp>
      <p:sp>
        <p:nvSpPr>
          <p:cNvPr id="7" name="RQ text 1"/>
          <p:cNvSpPr txBox="1"/>
          <p:nvPr/>
        </p:nvSpPr>
        <p:spPr>
          <a:xfrm>
            <a:off x="3337560" y="1426464"/>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How can explainable AI techniques (specifically SHAP and LIME) be integrated into a knowledge engineering pipeline to improve transparency in student at-risk prediction models?</a:t>
            </a:r>
          </a:p>
        </p:txBody>
      </p:sp>
      <p:sp>
        <p:nvSpPr>
          <p:cNvPr id="8" name="RQ card 2"/>
          <p:cNvSpPr/>
          <p:nvPr/>
        </p:nvSpPr>
        <p:spPr>
          <a:xfrm>
            <a:off x="2240280" y="2907791"/>
            <a:ext cx="6309359" cy="1353312"/>
          </a:xfrm>
          <a:prstGeom prst="rect">
            <a:avLst/>
          </a:prstGeom>
          <a:solidFill>
            <a:srgbClr val="F2F2F5"/>
          </a:solidFill>
          <a:ln>
            <a:noFill/>
          </a:ln>
          <a:effectLst/>
        </p:spPr>
        <p:txBody>
          <a:bodyPr rtlCol="0" anchor="ctr"/>
          <a:lstStyle/>
          <a:p/>
        </p:txBody>
      </p:sp>
      <p:sp>
        <p:nvSpPr>
          <p:cNvPr id="9" name="RQ label 2"/>
          <p:cNvSpPr/>
          <p:nvPr/>
        </p:nvSpPr>
        <p:spPr>
          <a:xfrm>
            <a:off x="2240280" y="2907791"/>
            <a:ext cx="914400" cy="1353312"/>
          </a:xfrm>
          <a:prstGeom prst="rect">
            <a:avLst/>
          </a:prstGeom>
          <a:solidFill>
            <a:srgbClr val="343174"/>
          </a:solidFill>
          <a:ln>
            <a:noFill/>
          </a:ln>
          <a:effectLst/>
        </p:spPr>
        <p:txBody>
          <a:bodyPr rtlCol="0" anchor="ctr"/>
          <a:lstStyle/>
          <a:p/>
        </p:txBody>
      </p:sp>
      <p:sp>
        <p:nvSpPr>
          <p:cNvPr id="10" name="RQ label text 2"/>
          <p:cNvSpPr txBox="1"/>
          <p:nvPr/>
        </p:nvSpPr>
        <p:spPr>
          <a:xfrm>
            <a:off x="2240280" y="2907791"/>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RQ2</a:t>
            </a:r>
          </a:p>
        </p:txBody>
      </p:sp>
      <p:sp>
        <p:nvSpPr>
          <p:cNvPr id="11" name="RQ text 2"/>
          <p:cNvSpPr txBox="1"/>
          <p:nvPr/>
        </p:nvSpPr>
        <p:spPr>
          <a:xfrm>
            <a:off x="3337560" y="2962656"/>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What dashboard features and explanation structures, based on the CommonKADS Agent Model and the learning analytics dashboard literature, can be specified to support the different information needs of instructors, advisors, and administrators within an LMS?</a:t>
            </a:r>
          </a:p>
        </p:txBody>
      </p:sp>
      <p:sp>
        <p:nvSpPr>
          <p:cNvPr id="12" name="RQ card 3"/>
          <p:cNvSpPr/>
          <p:nvPr/>
        </p:nvSpPr>
        <p:spPr>
          <a:xfrm>
            <a:off x="2240280" y="4443983"/>
            <a:ext cx="6309359" cy="1353312"/>
          </a:xfrm>
          <a:prstGeom prst="rect">
            <a:avLst/>
          </a:prstGeom>
          <a:solidFill>
            <a:srgbClr val="F2F2F5"/>
          </a:solidFill>
          <a:ln>
            <a:noFill/>
          </a:ln>
          <a:effectLst/>
        </p:spPr>
        <p:txBody>
          <a:bodyPr rtlCol="0" anchor="ctr"/>
          <a:lstStyle/>
          <a:p/>
        </p:txBody>
      </p:sp>
      <p:sp>
        <p:nvSpPr>
          <p:cNvPr id="13" name="RQ label 3"/>
          <p:cNvSpPr/>
          <p:nvPr/>
        </p:nvSpPr>
        <p:spPr>
          <a:xfrm>
            <a:off x="2240280" y="4443983"/>
            <a:ext cx="914400" cy="1353312"/>
          </a:xfrm>
          <a:prstGeom prst="rect">
            <a:avLst/>
          </a:prstGeom>
          <a:solidFill>
            <a:srgbClr val="343174"/>
          </a:solidFill>
          <a:ln>
            <a:noFill/>
          </a:ln>
          <a:effectLst/>
        </p:spPr>
        <p:txBody>
          <a:bodyPr rtlCol="0" anchor="ctr"/>
          <a:lstStyle/>
          <a:p/>
        </p:txBody>
      </p:sp>
      <p:sp>
        <p:nvSpPr>
          <p:cNvPr id="14" name="RQ label text 3"/>
          <p:cNvSpPr txBox="1"/>
          <p:nvPr/>
        </p:nvSpPr>
        <p:spPr>
          <a:xfrm>
            <a:off x="2240280" y="4443983"/>
            <a:ext cx="914400" cy="1353312"/>
          </a:xfrm>
          <a:prstGeom prst="rect">
            <a:avLst/>
          </a:prstGeom>
          <a:noFill/>
        </p:spPr>
        <p:txBody>
          <a:bodyPr wrap="square" anchor="ctr" lIns="0" rIns="0" tIns="0" bIns="0">
            <a:spAutoFit/>
          </a:bodyPr>
          <a:lstStyle/>
          <a:p>
            <a:pPr algn="ctr">
              <a:spcAft>
                <a:spcPts val="600"/>
              </a:spcAft>
            </a:pPr>
            <a:r>
              <a:rPr sz="2200" b="1" i="0">
                <a:solidFill>
                  <a:srgbClr val="FFFFFF"/>
                </a:solidFill>
                <a:latin typeface="Calibri"/>
              </a:rPr>
              <a:t>RQ3</a:t>
            </a:r>
          </a:p>
        </p:txBody>
      </p:sp>
      <p:sp>
        <p:nvSpPr>
          <p:cNvPr id="15" name="RQ text 3"/>
          <p:cNvSpPr txBox="1"/>
          <p:nvPr/>
        </p:nvSpPr>
        <p:spPr>
          <a:xfrm>
            <a:off x="3337560" y="4498847"/>
            <a:ext cx="5074919" cy="1243584"/>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What do the predictive performance and explainability findings indicate about the technical potential of the proposed role-aware explainable dashboard to support practitioner interpretation and decision-making?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Research Gap</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7</a:t>
            </a:r>
          </a:p>
        </p:txBody>
      </p:sp>
      <p:sp>
        <p:nvSpPr>
          <p:cNvPr id="4" name="Gap row 1"/>
          <p:cNvSpPr/>
          <p:nvPr/>
        </p:nvSpPr>
        <p:spPr>
          <a:xfrm>
            <a:off x="2240280" y="1371600"/>
            <a:ext cx="6309359" cy="676656"/>
          </a:xfrm>
          <a:prstGeom prst="rect">
            <a:avLst/>
          </a:prstGeom>
          <a:solidFill>
            <a:srgbClr val="F2F2F5"/>
          </a:solidFill>
          <a:ln>
            <a:noFill/>
          </a:ln>
          <a:effectLst/>
        </p:spPr>
        <p:txBody>
          <a:bodyPr rtlCol="0" anchor="ctr"/>
          <a:lstStyle/>
          <a:p/>
        </p:txBody>
      </p:sp>
      <p:sp>
        <p:nvSpPr>
          <p:cNvPr id="5" name="Gap label 1"/>
          <p:cNvSpPr txBox="1"/>
          <p:nvPr/>
        </p:nvSpPr>
        <p:spPr>
          <a:xfrm>
            <a:off x="2377440" y="1371600"/>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Communication</a:t>
            </a:r>
          </a:p>
        </p:txBody>
      </p:sp>
      <p:sp>
        <p:nvSpPr>
          <p:cNvPr id="6" name="Gap text 1"/>
          <p:cNvSpPr txBox="1"/>
          <p:nvPr/>
        </p:nvSpPr>
        <p:spPr>
          <a:xfrm>
            <a:off x="4526280" y="1371600"/>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Accurate models, but little attention to how predictions reach practitioners.</a:t>
            </a:r>
          </a:p>
        </p:txBody>
      </p:sp>
      <p:sp>
        <p:nvSpPr>
          <p:cNvPr id="7" name="Gap row 2"/>
          <p:cNvSpPr/>
          <p:nvPr/>
        </p:nvSpPr>
        <p:spPr>
          <a:xfrm>
            <a:off x="2240280" y="2157984"/>
            <a:ext cx="6309359" cy="676656"/>
          </a:xfrm>
          <a:prstGeom prst="rect">
            <a:avLst/>
          </a:prstGeom>
          <a:solidFill>
            <a:srgbClr val="F6F6FA"/>
          </a:solidFill>
          <a:ln>
            <a:noFill/>
          </a:ln>
          <a:effectLst/>
        </p:spPr>
        <p:txBody>
          <a:bodyPr rtlCol="0" anchor="ctr"/>
          <a:lstStyle/>
          <a:p/>
        </p:txBody>
      </p:sp>
      <p:sp>
        <p:nvSpPr>
          <p:cNvPr id="8" name="Gap label 2"/>
          <p:cNvSpPr txBox="1"/>
          <p:nvPr/>
        </p:nvSpPr>
        <p:spPr>
          <a:xfrm>
            <a:off x="2377440" y="2157984"/>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Role tailoring</a:t>
            </a:r>
          </a:p>
        </p:txBody>
      </p:sp>
      <p:sp>
        <p:nvSpPr>
          <p:cNvPr id="9" name="Gap text 2"/>
          <p:cNvSpPr txBox="1"/>
          <p:nvPr/>
        </p:nvSpPr>
        <p:spPr>
          <a:xfrm>
            <a:off x="4526280" y="2157984"/>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The only role-specific XAI dashboard found (Afzaal et al.) targets students.</a:t>
            </a:r>
          </a:p>
        </p:txBody>
      </p:sp>
      <p:sp>
        <p:nvSpPr>
          <p:cNvPr id="10" name="Gap row 3"/>
          <p:cNvSpPr/>
          <p:nvPr/>
        </p:nvSpPr>
        <p:spPr>
          <a:xfrm>
            <a:off x="2240280" y="2944368"/>
            <a:ext cx="6309359" cy="676656"/>
          </a:xfrm>
          <a:prstGeom prst="rect">
            <a:avLst/>
          </a:prstGeom>
          <a:solidFill>
            <a:srgbClr val="F2F2F5"/>
          </a:solidFill>
          <a:ln>
            <a:noFill/>
          </a:ln>
          <a:effectLst/>
        </p:spPr>
        <p:txBody>
          <a:bodyPr rtlCol="0" anchor="ctr"/>
          <a:lstStyle/>
          <a:p/>
        </p:txBody>
      </p:sp>
      <p:sp>
        <p:nvSpPr>
          <p:cNvPr id="11" name="Gap label 3"/>
          <p:cNvSpPr txBox="1"/>
          <p:nvPr/>
        </p:nvSpPr>
        <p:spPr>
          <a:xfrm>
            <a:off x="2377440" y="2944368"/>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Multi-role dashboards</a:t>
            </a:r>
          </a:p>
        </p:txBody>
      </p:sp>
      <p:sp>
        <p:nvSpPr>
          <p:cNvPr id="12" name="Gap text 3"/>
          <p:cNvSpPr txBox="1"/>
          <p:nvPr/>
        </p:nvSpPr>
        <p:spPr>
          <a:xfrm>
            <a:off x="4526280" y="2944368"/>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No dashboard found serving instructors, advisors and administrators from one model.</a:t>
            </a:r>
          </a:p>
        </p:txBody>
      </p:sp>
      <p:sp>
        <p:nvSpPr>
          <p:cNvPr id="13" name="Gap row 4"/>
          <p:cNvSpPr/>
          <p:nvPr/>
        </p:nvSpPr>
        <p:spPr>
          <a:xfrm>
            <a:off x="2240280" y="3730752"/>
            <a:ext cx="6309359" cy="676656"/>
          </a:xfrm>
          <a:prstGeom prst="rect">
            <a:avLst/>
          </a:prstGeom>
          <a:solidFill>
            <a:srgbClr val="F6F6FA"/>
          </a:solidFill>
          <a:ln>
            <a:noFill/>
          </a:ln>
          <a:effectLst/>
        </p:spPr>
        <p:txBody>
          <a:bodyPr rtlCol="0" anchor="ctr"/>
          <a:lstStyle/>
          <a:p/>
        </p:txBody>
      </p:sp>
      <p:sp>
        <p:nvSpPr>
          <p:cNvPr id="14" name="Gap label 4"/>
          <p:cNvSpPr txBox="1"/>
          <p:nvPr/>
        </p:nvSpPr>
        <p:spPr>
          <a:xfrm>
            <a:off x="2377440" y="3730752"/>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Knowledge engineering</a:t>
            </a:r>
          </a:p>
        </p:txBody>
      </p:sp>
      <p:sp>
        <p:nvSpPr>
          <p:cNvPr id="15" name="Gap text 4"/>
          <p:cNvSpPr txBox="1"/>
          <p:nvPr/>
        </p:nvSpPr>
        <p:spPr>
          <a:xfrm>
            <a:off x="4526280" y="3730752"/>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Little work on SHAP and LIME output as knowledge delivered per role.</a:t>
            </a:r>
          </a:p>
        </p:txBody>
      </p:sp>
      <p:sp>
        <p:nvSpPr>
          <p:cNvPr id="16" name="Gap row 5"/>
          <p:cNvSpPr/>
          <p:nvPr/>
        </p:nvSpPr>
        <p:spPr>
          <a:xfrm>
            <a:off x="2240280" y="4517136"/>
            <a:ext cx="6309359" cy="676656"/>
          </a:xfrm>
          <a:prstGeom prst="rect">
            <a:avLst/>
          </a:prstGeom>
          <a:solidFill>
            <a:srgbClr val="F2F2F5"/>
          </a:solidFill>
          <a:ln>
            <a:noFill/>
          </a:ln>
          <a:effectLst/>
        </p:spPr>
        <p:txBody>
          <a:bodyPr rtlCol="0" anchor="ctr"/>
          <a:lstStyle/>
          <a:p/>
        </p:txBody>
      </p:sp>
      <p:sp>
        <p:nvSpPr>
          <p:cNvPr id="17" name="Gap label 5"/>
          <p:cNvSpPr txBox="1"/>
          <p:nvPr/>
        </p:nvSpPr>
        <p:spPr>
          <a:xfrm>
            <a:off x="2377440" y="4517136"/>
            <a:ext cx="2103120" cy="676656"/>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Evaluation</a:t>
            </a:r>
          </a:p>
        </p:txBody>
      </p:sp>
      <p:sp>
        <p:nvSpPr>
          <p:cNvPr id="18" name="Gap text 5"/>
          <p:cNvSpPr txBox="1"/>
          <p:nvPr/>
        </p:nvSpPr>
        <p:spPr>
          <a:xfrm>
            <a:off x="4526280" y="4517136"/>
            <a:ext cx="3886200" cy="676656"/>
          </a:xfrm>
          <a:prstGeom prst="rect">
            <a:avLst/>
          </a:prstGeom>
          <a:noFill/>
        </p:spPr>
        <p:txBody>
          <a:bodyPr wrap="square" anchor="ctr" lIns="0" rIns="0" tIns="0" bIns="0">
            <a:spAutoFit/>
          </a:bodyPr>
          <a:lstStyle/>
          <a:p>
            <a:pPr algn="l">
              <a:spcAft>
                <a:spcPts val="600"/>
              </a:spcAft>
            </a:pPr>
            <a:r>
              <a:rPr sz="1400" b="0" i="0">
                <a:solidFill>
                  <a:srgbClr val="22222A"/>
                </a:solidFill>
                <a:latin typeface="Calibri"/>
              </a:rPr>
              <a:t>Frameworks remain generic across stakeholder groups.</a:t>
            </a:r>
          </a:p>
        </p:txBody>
      </p:sp>
      <p:sp>
        <p:nvSpPr>
          <p:cNvPr id="19" name="Gap response"/>
          <p:cNvSpPr txBox="1"/>
          <p:nvPr/>
        </p:nvSpPr>
        <p:spPr>
          <a:xfrm>
            <a:off x="2240280" y="5394960"/>
            <a:ext cx="6309359" cy="68580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This study: </a:t>
            </a:r>
            <a:r>
              <a:rPr sz="1600" b="0" i="0">
                <a:solidFill>
                  <a:srgbClr val="22222A"/>
                </a:solidFill>
                <a:latin typeface="Calibri"/>
              </a:rPr>
              <a:t>one shared prediction system, three role-specific explanation views, designed with CommonKADS and technically evaluated.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Methodology: Knowledge Engineering</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8</a:t>
            </a:r>
          </a:p>
        </p:txBody>
      </p:sp>
      <p:sp>
        <p:nvSpPr>
          <p:cNvPr id="4" name="KE banner"/>
          <p:cNvSpPr/>
          <p:nvPr/>
        </p:nvSpPr>
        <p:spPr>
          <a:xfrm>
            <a:off x="2240280" y="1371600"/>
            <a:ext cx="6309359" cy="1097280"/>
          </a:xfrm>
          <a:prstGeom prst="rect">
            <a:avLst/>
          </a:prstGeom>
          <a:solidFill>
            <a:srgbClr val="343174"/>
          </a:solidFill>
          <a:ln>
            <a:noFill/>
          </a:ln>
          <a:effectLst/>
        </p:spPr>
        <p:txBody>
          <a:bodyPr rtlCol="0" anchor="ctr"/>
          <a:lstStyle/>
          <a:p/>
        </p:txBody>
      </p:sp>
      <p:sp>
        <p:nvSpPr>
          <p:cNvPr id="5" name="KE banner text"/>
          <p:cNvSpPr txBox="1"/>
          <p:nvPr/>
        </p:nvSpPr>
        <p:spPr>
          <a:xfrm>
            <a:off x="2468880" y="1417320"/>
            <a:ext cx="5852159" cy="1005840"/>
          </a:xfrm>
          <a:prstGeom prst="rect">
            <a:avLst/>
          </a:prstGeom>
          <a:noFill/>
        </p:spPr>
        <p:txBody>
          <a:bodyPr wrap="square" anchor="ctr" lIns="0" rIns="0" tIns="0" bIns="0">
            <a:spAutoFit/>
          </a:bodyPr>
          <a:lstStyle/>
          <a:p>
            <a:pPr algn="l">
              <a:spcAft>
                <a:spcPts val="400"/>
              </a:spcAft>
            </a:pPr>
            <a:r>
              <a:rPr sz="1900" b="1" i="0">
                <a:solidFill>
                  <a:srgbClr val="FFFFFF"/>
                </a:solidFill>
                <a:latin typeface="Calibri"/>
              </a:rPr>
              <a:t>CommonKADS knowledge engineering methodology</a:t>
            </a:r>
          </a:p>
          <a:p>
            <a:pPr algn="l">
              <a:spcAft>
                <a:spcPts val="400"/>
              </a:spcAft>
            </a:pPr>
            <a:r>
              <a:rPr sz="1400" b="0" i="0">
                <a:solidFill>
                  <a:srgbClr val="E4E3F2"/>
                </a:solidFill>
                <a:latin typeface="Calibri"/>
              </a:rPr>
              <a:t>Core problem: represent the knowledge the prediction system produces and deliver it to each role according to its needs</a:t>
            </a:r>
          </a:p>
        </p:txBody>
      </p:sp>
      <p:sp>
        <p:nvSpPr>
          <p:cNvPr id="6" name="KE phase 1"/>
          <p:cNvSpPr/>
          <p:nvPr/>
        </p:nvSpPr>
        <p:spPr>
          <a:xfrm>
            <a:off x="2240280" y="2697480"/>
            <a:ext cx="1371600" cy="1417320"/>
          </a:xfrm>
          <a:prstGeom prst="rect">
            <a:avLst/>
          </a:prstGeom>
          <a:solidFill>
            <a:srgbClr val="F2F2F5"/>
          </a:solidFill>
          <a:ln>
            <a:noFill/>
          </a:ln>
          <a:effectLst/>
        </p:spPr>
        <p:txBody>
          <a:bodyPr rtlCol="0" anchor="ctr"/>
          <a:lstStyle/>
          <a:p/>
        </p:txBody>
      </p:sp>
      <p:sp>
        <p:nvSpPr>
          <p:cNvPr id="7" name="KE phase text 1"/>
          <p:cNvSpPr txBox="1"/>
          <p:nvPr/>
        </p:nvSpPr>
        <p:spPr>
          <a:xfrm>
            <a:off x="229514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1</a:t>
            </a:r>
          </a:p>
          <a:p>
            <a:pPr algn="ctr">
              <a:spcAft>
                <a:spcPts val="200"/>
              </a:spcAft>
            </a:pPr>
            <a:r>
              <a:rPr sz="1400" b="1" i="0">
                <a:solidFill>
                  <a:srgbClr val="22222A"/>
                </a:solidFill>
                <a:latin typeface="Calibri"/>
              </a:rPr>
              <a:t>Knowledge acquisition and organisation analysis</a:t>
            </a:r>
          </a:p>
        </p:txBody>
      </p:sp>
      <p:sp>
        <p:nvSpPr>
          <p:cNvPr id="8" name="Right Arrow 7"/>
          <p:cNvSpPr/>
          <p:nvPr/>
        </p:nvSpPr>
        <p:spPr>
          <a:xfrm>
            <a:off x="3657600" y="3291840"/>
            <a:ext cx="182879" cy="219456"/>
          </a:xfrm>
          <a:prstGeom prst="rightArrow">
            <a:avLst/>
          </a:prstGeom>
          <a:solidFill>
            <a:srgbClr val="555560"/>
          </a:solidFill>
          <a:ln>
            <a:noFill/>
          </a:ln>
          <a:effectLst/>
        </p:spPr>
        <p:txBody>
          <a:bodyPr rtlCol="0" anchor="ctr"/>
          <a:lstStyle/>
          <a:p>
            <a:pPr algn="ctr"/>
          </a:p>
        </p:txBody>
      </p:sp>
      <p:sp>
        <p:nvSpPr>
          <p:cNvPr id="9" name="KE phase 2"/>
          <p:cNvSpPr/>
          <p:nvPr/>
        </p:nvSpPr>
        <p:spPr>
          <a:xfrm>
            <a:off x="3886200" y="2697480"/>
            <a:ext cx="1371600" cy="1417320"/>
          </a:xfrm>
          <a:prstGeom prst="rect">
            <a:avLst/>
          </a:prstGeom>
          <a:solidFill>
            <a:srgbClr val="F2F2F5"/>
          </a:solidFill>
          <a:ln>
            <a:noFill/>
          </a:ln>
          <a:effectLst/>
        </p:spPr>
        <p:txBody>
          <a:bodyPr rtlCol="0" anchor="ctr"/>
          <a:lstStyle/>
          <a:p/>
        </p:txBody>
      </p:sp>
      <p:sp>
        <p:nvSpPr>
          <p:cNvPr id="10" name="KE phase text 2"/>
          <p:cNvSpPr txBox="1"/>
          <p:nvPr/>
        </p:nvSpPr>
        <p:spPr>
          <a:xfrm>
            <a:off x="3941063"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2</a:t>
            </a:r>
          </a:p>
          <a:p>
            <a:pPr algn="ctr">
              <a:spcAft>
                <a:spcPts val="200"/>
              </a:spcAft>
            </a:pPr>
            <a:r>
              <a:rPr sz="1400" b="1" i="0">
                <a:solidFill>
                  <a:srgbClr val="22222A"/>
                </a:solidFill>
                <a:latin typeface="Calibri"/>
              </a:rPr>
              <a:t>Knowledge and system modelling</a:t>
            </a:r>
          </a:p>
        </p:txBody>
      </p:sp>
      <p:sp>
        <p:nvSpPr>
          <p:cNvPr id="11" name="Right Arrow 10"/>
          <p:cNvSpPr/>
          <p:nvPr/>
        </p:nvSpPr>
        <p:spPr>
          <a:xfrm>
            <a:off x="5303520" y="3291840"/>
            <a:ext cx="182879" cy="219456"/>
          </a:xfrm>
          <a:prstGeom prst="rightArrow">
            <a:avLst/>
          </a:prstGeom>
          <a:solidFill>
            <a:srgbClr val="555560"/>
          </a:solidFill>
          <a:ln>
            <a:noFill/>
          </a:ln>
          <a:effectLst/>
        </p:spPr>
        <p:txBody>
          <a:bodyPr rtlCol="0" anchor="ctr"/>
          <a:lstStyle/>
          <a:p>
            <a:pPr algn="ctr"/>
          </a:p>
        </p:txBody>
      </p:sp>
      <p:sp>
        <p:nvSpPr>
          <p:cNvPr id="12" name="KE phase 3"/>
          <p:cNvSpPr/>
          <p:nvPr/>
        </p:nvSpPr>
        <p:spPr>
          <a:xfrm>
            <a:off x="5532120" y="2697480"/>
            <a:ext cx="1371600" cy="1417320"/>
          </a:xfrm>
          <a:prstGeom prst="rect">
            <a:avLst/>
          </a:prstGeom>
          <a:solidFill>
            <a:srgbClr val="F2F2F5"/>
          </a:solidFill>
          <a:ln>
            <a:noFill/>
          </a:ln>
          <a:effectLst/>
        </p:spPr>
        <p:txBody>
          <a:bodyPr rtlCol="0" anchor="ctr"/>
          <a:lstStyle/>
          <a:p/>
        </p:txBody>
      </p:sp>
      <p:sp>
        <p:nvSpPr>
          <p:cNvPr id="13" name="KE phase text 3"/>
          <p:cNvSpPr txBox="1"/>
          <p:nvPr/>
        </p:nvSpPr>
        <p:spPr>
          <a:xfrm>
            <a:off x="558698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3</a:t>
            </a:r>
          </a:p>
          <a:p>
            <a:pPr algn="ctr">
              <a:spcAft>
                <a:spcPts val="200"/>
              </a:spcAft>
            </a:pPr>
            <a:r>
              <a:rPr sz="1400" b="1" i="0">
                <a:solidFill>
                  <a:srgbClr val="22222A"/>
                </a:solidFill>
                <a:latin typeface="Calibri"/>
              </a:rPr>
              <a:t>Artefact design and development</a:t>
            </a:r>
          </a:p>
        </p:txBody>
      </p:sp>
      <p:sp>
        <p:nvSpPr>
          <p:cNvPr id="14" name="Right Arrow 13"/>
          <p:cNvSpPr/>
          <p:nvPr/>
        </p:nvSpPr>
        <p:spPr>
          <a:xfrm>
            <a:off x="6949440" y="3291840"/>
            <a:ext cx="182879" cy="219456"/>
          </a:xfrm>
          <a:prstGeom prst="rightArrow">
            <a:avLst/>
          </a:prstGeom>
          <a:solidFill>
            <a:srgbClr val="555560"/>
          </a:solidFill>
          <a:ln>
            <a:noFill/>
          </a:ln>
          <a:effectLst/>
        </p:spPr>
        <p:txBody>
          <a:bodyPr rtlCol="0" anchor="ctr"/>
          <a:lstStyle/>
          <a:p>
            <a:pPr algn="ctr"/>
          </a:p>
        </p:txBody>
      </p:sp>
      <p:sp>
        <p:nvSpPr>
          <p:cNvPr id="15" name="KE phase 4"/>
          <p:cNvSpPr/>
          <p:nvPr/>
        </p:nvSpPr>
        <p:spPr>
          <a:xfrm>
            <a:off x="7178040" y="2697480"/>
            <a:ext cx="1371600" cy="1417320"/>
          </a:xfrm>
          <a:prstGeom prst="rect">
            <a:avLst/>
          </a:prstGeom>
          <a:solidFill>
            <a:srgbClr val="F2F2F5"/>
          </a:solidFill>
          <a:ln>
            <a:noFill/>
          </a:ln>
          <a:effectLst/>
        </p:spPr>
        <p:txBody>
          <a:bodyPr rtlCol="0" anchor="ctr"/>
          <a:lstStyle/>
          <a:p/>
        </p:txBody>
      </p:sp>
      <p:sp>
        <p:nvSpPr>
          <p:cNvPr id="16" name="KE phase text 4"/>
          <p:cNvSpPr txBox="1"/>
          <p:nvPr/>
        </p:nvSpPr>
        <p:spPr>
          <a:xfrm>
            <a:off x="7232904" y="2770632"/>
            <a:ext cx="1261872" cy="1280160"/>
          </a:xfrm>
          <a:prstGeom prst="rect">
            <a:avLst/>
          </a:prstGeom>
          <a:noFill/>
        </p:spPr>
        <p:txBody>
          <a:bodyPr wrap="square" anchor="ctr" lIns="0" rIns="0" tIns="0" bIns="0">
            <a:spAutoFit/>
          </a:bodyPr>
          <a:lstStyle/>
          <a:p>
            <a:pPr algn="ctr">
              <a:spcAft>
                <a:spcPts val="200"/>
              </a:spcAft>
            </a:pPr>
            <a:r>
              <a:rPr sz="1800" b="1" i="0">
                <a:solidFill>
                  <a:srgbClr val="343174"/>
                </a:solidFill>
                <a:latin typeface="Calibri"/>
              </a:rPr>
              <a:t>4</a:t>
            </a:r>
          </a:p>
          <a:p>
            <a:pPr algn="ctr">
              <a:spcAft>
                <a:spcPts val="200"/>
              </a:spcAft>
            </a:pPr>
            <a:r>
              <a:rPr sz="1400" b="1" i="0">
                <a:solidFill>
                  <a:srgbClr val="22222A"/>
                </a:solidFill>
                <a:latin typeface="Calibri"/>
              </a:rPr>
              <a:t>Technical evaluation</a:t>
            </a:r>
          </a:p>
        </p:txBody>
      </p:sp>
      <p:sp>
        <p:nvSpPr>
          <p:cNvPr id="17" name="KE note"/>
          <p:cNvSpPr txBox="1"/>
          <p:nvPr/>
        </p:nvSpPr>
        <p:spPr>
          <a:xfrm>
            <a:off x="2240280" y="4206240"/>
            <a:ext cx="6309359" cy="365760"/>
          </a:xfrm>
          <a:prstGeom prst="rect">
            <a:avLst/>
          </a:prstGeom>
          <a:noFill/>
        </p:spPr>
        <p:txBody>
          <a:bodyPr wrap="square" anchor="t" lIns="0" rIns="0" tIns="0" bIns="0">
            <a:spAutoFit/>
          </a:bodyPr>
          <a:lstStyle/>
          <a:p>
            <a:pPr algn="l">
              <a:spcAft>
                <a:spcPts val="600"/>
              </a:spcAft>
            </a:pPr>
            <a:r>
              <a:rPr sz="1400" b="0" i="1">
                <a:solidFill>
                  <a:srgbClr val="555560"/>
                </a:solidFill>
                <a:latin typeface="Calibri"/>
              </a:rPr>
              <a:t>Iterative, with feedback between phases; knowledge acquired from published literature</a:t>
            </a:r>
          </a:p>
        </p:txBody>
      </p:sp>
      <p:sp>
        <p:nvSpPr>
          <p:cNvPr id="18" name="Framework card 1"/>
          <p:cNvSpPr/>
          <p:nvPr/>
        </p:nvSpPr>
        <p:spPr>
          <a:xfrm>
            <a:off x="2240280" y="4709160"/>
            <a:ext cx="3040379" cy="1234440"/>
          </a:xfrm>
          <a:prstGeom prst="rect">
            <a:avLst/>
          </a:prstGeom>
          <a:solidFill>
            <a:srgbClr val="FFFFFF"/>
          </a:solidFill>
          <a:ln w="12700">
            <a:solidFill>
              <a:srgbClr val="C9CAD3"/>
            </a:solidFill>
          </a:ln>
          <a:effectLst/>
        </p:spPr>
        <p:txBody>
          <a:bodyPr rtlCol="0" anchor="ctr"/>
          <a:lstStyle/>
          <a:p/>
        </p:txBody>
      </p:sp>
      <p:sp>
        <p:nvSpPr>
          <p:cNvPr id="19" name="Framework text 1"/>
          <p:cNvSpPr txBox="1"/>
          <p:nvPr/>
        </p:nvSpPr>
        <p:spPr>
          <a:xfrm>
            <a:off x="240487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Design science (DSRM)</a:t>
            </a:r>
          </a:p>
          <a:p>
            <a:pPr algn="l">
              <a:spcAft>
                <a:spcPts val="400"/>
              </a:spcAft>
            </a:pPr>
            <a:r>
              <a:rPr sz="1500" b="0" i="0">
                <a:solidFill>
                  <a:srgbClr val="22222A"/>
                </a:solidFill>
                <a:latin typeface="Calibri"/>
              </a:rPr>
              <a:t>Structures the research steps around the built artefact</a:t>
            </a:r>
          </a:p>
        </p:txBody>
      </p:sp>
      <p:sp>
        <p:nvSpPr>
          <p:cNvPr id="20" name="Framework card 2"/>
          <p:cNvSpPr/>
          <p:nvPr/>
        </p:nvSpPr>
        <p:spPr>
          <a:xfrm>
            <a:off x="5509260" y="4709160"/>
            <a:ext cx="3040379" cy="1234440"/>
          </a:xfrm>
          <a:prstGeom prst="rect">
            <a:avLst/>
          </a:prstGeom>
          <a:solidFill>
            <a:srgbClr val="FFFFFF"/>
          </a:solidFill>
          <a:ln w="12700">
            <a:solidFill>
              <a:srgbClr val="C9CAD3"/>
            </a:solidFill>
          </a:ln>
          <a:effectLst/>
        </p:spPr>
        <p:txBody>
          <a:bodyPr rtlCol="0" anchor="ctr"/>
          <a:lstStyle/>
          <a:p/>
        </p:txBody>
      </p:sp>
      <p:sp>
        <p:nvSpPr>
          <p:cNvPr id="21" name="Framework text 2"/>
          <p:cNvSpPr txBox="1"/>
          <p:nvPr/>
        </p:nvSpPr>
        <p:spPr>
          <a:xfrm>
            <a:off x="5673852" y="4818888"/>
            <a:ext cx="2711196" cy="1051560"/>
          </a:xfrm>
          <a:prstGeom prst="rect">
            <a:avLst/>
          </a:prstGeom>
          <a:noFill/>
        </p:spPr>
        <p:txBody>
          <a:bodyPr wrap="square" anchor="t" lIns="0" rIns="0" tIns="0" bIns="0">
            <a:spAutoFit/>
          </a:bodyPr>
          <a:lstStyle/>
          <a:p>
            <a:pPr algn="l">
              <a:spcAft>
                <a:spcPts val="400"/>
              </a:spcAft>
            </a:pPr>
            <a:r>
              <a:rPr sz="1300" b="0" i="0">
                <a:solidFill>
                  <a:srgbClr val="555560"/>
                </a:solidFill>
                <a:latin typeface="Calibri"/>
              </a:rPr>
              <a:t>Supporting: </a:t>
            </a:r>
            <a:r>
              <a:rPr sz="1700" b="1" i="0">
                <a:solidFill>
                  <a:srgbClr val="343174"/>
                </a:solidFill>
                <a:latin typeface="Calibri"/>
              </a:rPr>
              <a:t>TAM</a:t>
            </a:r>
          </a:p>
          <a:p>
            <a:pPr algn="l">
              <a:spcAft>
                <a:spcPts val="400"/>
              </a:spcAft>
            </a:pPr>
            <a:r>
              <a:rPr sz="1500" b="0" i="0">
                <a:solidFill>
                  <a:srgbClr val="22222A"/>
                </a:solidFill>
                <a:latin typeface="Calibri"/>
              </a:rPr>
              <a:t>Design lens for usefulness and ease of use; not tested empirically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CommonKADS Models in This Study</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9</a:t>
            </a:r>
          </a:p>
        </p:txBody>
      </p:sp>
      <p:sp>
        <p:nvSpPr>
          <p:cNvPr id="4" name="Model card 1"/>
          <p:cNvSpPr/>
          <p:nvPr/>
        </p:nvSpPr>
        <p:spPr>
          <a:xfrm>
            <a:off x="2240280" y="1371600"/>
            <a:ext cx="1981199" cy="2011680"/>
          </a:xfrm>
          <a:prstGeom prst="rect">
            <a:avLst/>
          </a:prstGeom>
          <a:solidFill>
            <a:srgbClr val="F2F2F5"/>
          </a:solidFill>
          <a:ln>
            <a:noFill/>
          </a:ln>
          <a:effectLst/>
        </p:spPr>
        <p:txBody>
          <a:bodyPr rtlCol="0" anchor="ctr"/>
          <a:lstStyle/>
          <a:p/>
        </p:txBody>
      </p:sp>
      <p:sp>
        <p:nvSpPr>
          <p:cNvPr id="5" name="Model text 1"/>
          <p:cNvSpPr txBox="1"/>
          <p:nvPr/>
        </p:nvSpPr>
        <p:spPr>
          <a:xfrm>
            <a:off x="235915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Organisation</a:t>
            </a:r>
          </a:p>
          <a:p>
            <a:pPr algn="l">
              <a:spcAft>
                <a:spcPts val="600"/>
              </a:spcAft>
            </a:pPr>
            <a:r>
              <a:rPr sz="1400" b="0" i="0">
                <a:solidFill>
                  <a:srgbClr val="555560"/>
                </a:solidFill>
                <a:latin typeface="Calibri"/>
              </a:rPr>
              <a:t>Scores arrive without reasons, one view for all.</a:t>
            </a:r>
          </a:p>
          <a:p>
            <a:pPr algn="l">
              <a:spcAft>
                <a:spcPts val="600"/>
              </a:spcAft>
            </a:pPr>
            <a:r>
              <a:rPr sz="1400" b="1" i="0">
                <a:solidFill>
                  <a:srgbClr val="22222A"/>
                </a:solidFill>
                <a:latin typeface="Calibri"/>
              </a:rPr>
              <a:t>→ Serve three roles from one prediction system</a:t>
            </a:r>
          </a:p>
        </p:txBody>
      </p:sp>
      <p:sp>
        <p:nvSpPr>
          <p:cNvPr id="6" name="Model card 2"/>
          <p:cNvSpPr/>
          <p:nvPr/>
        </p:nvSpPr>
        <p:spPr>
          <a:xfrm>
            <a:off x="4404360" y="1371600"/>
            <a:ext cx="1981199" cy="2011680"/>
          </a:xfrm>
          <a:prstGeom prst="rect">
            <a:avLst/>
          </a:prstGeom>
          <a:solidFill>
            <a:srgbClr val="F2F2F5"/>
          </a:solidFill>
          <a:ln>
            <a:noFill/>
          </a:ln>
          <a:effectLst/>
        </p:spPr>
        <p:txBody>
          <a:bodyPr rtlCol="0" anchor="ctr"/>
          <a:lstStyle/>
          <a:p/>
        </p:txBody>
      </p:sp>
      <p:sp>
        <p:nvSpPr>
          <p:cNvPr id="7" name="Model text 2"/>
          <p:cNvSpPr txBox="1"/>
          <p:nvPr/>
        </p:nvSpPr>
        <p:spPr>
          <a:xfrm>
            <a:off x="452323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Task</a:t>
            </a:r>
          </a:p>
          <a:p>
            <a:pPr algn="l">
              <a:spcAft>
                <a:spcPts val="600"/>
              </a:spcAft>
            </a:pPr>
            <a:r>
              <a:rPr sz="1400" b="0" i="0">
                <a:solidFill>
                  <a:srgbClr val="555560"/>
                </a:solidFill>
                <a:latin typeface="Calibri"/>
              </a:rPr>
              <a:t>Assess risk, explain, assign role, deliver.</a:t>
            </a:r>
          </a:p>
          <a:p>
            <a:pPr algn="l">
              <a:spcAft>
                <a:spcPts val="600"/>
              </a:spcAft>
            </a:pPr>
            <a:r>
              <a:rPr sz="1400" b="1" i="0">
                <a:solidFill>
                  <a:srgbClr val="22222A"/>
                </a:solidFill>
                <a:latin typeface="Calibri"/>
              </a:rPr>
              <a:t>→ Layered architecture</a:t>
            </a:r>
          </a:p>
        </p:txBody>
      </p:sp>
      <p:sp>
        <p:nvSpPr>
          <p:cNvPr id="8" name="Model card 3"/>
          <p:cNvSpPr/>
          <p:nvPr/>
        </p:nvSpPr>
        <p:spPr>
          <a:xfrm>
            <a:off x="6568440" y="1371600"/>
            <a:ext cx="1981199" cy="2011680"/>
          </a:xfrm>
          <a:prstGeom prst="rect">
            <a:avLst/>
          </a:prstGeom>
          <a:solidFill>
            <a:srgbClr val="F2F2F5"/>
          </a:solidFill>
          <a:ln>
            <a:noFill/>
          </a:ln>
          <a:effectLst/>
        </p:spPr>
        <p:txBody>
          <a:bodyPr rtlCol="0" anchor="ctr"/>
          <a:lstStyle/>
          <a:p/>
        </p:txBody>
      </p:sp>
      <p:sp>
        <p:nvSpPr>
          <p:cNvPr id="9" name="Model text 3"/>
          <p:cNvSpPr txBox="1"/>
          <p:nvPr/>
        </p:nvSpPr>
        <p:spPr>
          <a:xfrm>
            <a:off x="6687312" y="146304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Agent</a:t>
            </a:r>
          </a:p>
          <a:p>
            <a:pPr algn="l">
              <a:spcAft>
                <a:spcPts val="600"/>
              </a:spcAft>
            </a:pPr>
            <a:r>
              <a:rPr sz="1400" b="0" i="0">
                <a:solidFill>
                  <a:srgbClr val="555560"/>
                </a:solidFill>
                <a:latin typeface="Calibri"/>
              </a:rPr>
              <a:t>Needs of each staff role, from the literature.</a:t>
            </a:r>
          </a:p>
          <a:p>
            <a:pPr algn="l">
              <a:spcAft>
                <a:spcPts val="600"/>
              </a:spcAft>
            </a:pPr>
            <a:r>
              <a:rPr sz="1400" b="1" i="0">
                <a:solidFill>
                  <a:srgbClr val="22222A"/>
                </a:solidFill>
                <a:latin typeface="Calibri"/>
              </a:rPr>
              <a:t>→ Individual, caseload and cohort views</a:t>
            </a:r>
          </a:p>
        </p:txBody>
      </p:sp>
      <p:sp>
        <p:nvSpPr>
          <p:cNvPr id="10" name="Model card 4"/>
          <p:cNvSpPr/>
          <p:nvPr/>
        </p:nvSpPr>
        <p:spPr>
          <a:xfrm>
            <a:off x="2240280" y="3566160"/>
            <a:ext cx="1981199" cy="2011680"/>
          </a:xfrm>
          <a:prstGeom prst="rect">
            <a:avLst/>
          </a:prstGeom>
          <a:solidFill>
            <a:srgbClr val="F2F2F5"/>
          </a:solidFill>
          <a:ln>
            <a:noFill/>
          </a:ln>
          <a:effectLst/>
        </p:spPr>
        <p:txBody>
          <a:bodyPr rtlCol="0" anchor="ctr"/>
          <a:lstStyle/>
          <a:p/>
        </p:txBody>
      </p:sp>
      <p:sp>
        <p:nvSpPr>
          <p:cNvPr id="11" name="Model text 4"/>
          <p:cNvSpPr txBox="1"/>
          <p:nvPr/>
        </p:nvSpPr>
        <p:spPr>
          <a:xfrm>
            <a:off x="235915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Knowledge</a:t>
            </a:r>
          </a:p>
          <a:p>
            <a:pPr algn="l">
              <a:spcAft>
                <a:spcPts val="600"/>
              </a:spcAft>
            </a:pPr>
            <a:r>
              <a:rPr sz="1400" b="0" i="0">
                <a:solidFill>
                  <a:srgbClr val="555560"/>
                </a:solidFill>
                <a:latin typeface="Calibri"/>
              </a:rPr>
              <a:t>Engagement, assessment and demographic features.</a:t>
            </a:r>
          </a:p>
          <a:p>
            <a:pPr algn="l">
              <a:spcAft>
                <a:spcPts val="600"/>
              </a:spcAft>
            </a:pPr>
            <a:r>
              <a:rPr sz="1400" b="1" i="0">
                <a:solidFill>
                  <a:srgbClr val="22222A"/>
                </a:solidFill>
                <a:latin typeface="Calibri"/>
              </a:rPr>
              <a:t>→ Feature dictionary with readable labels</a:t>
            </a:r>
          </a:p>
        </p:txBody>
      </p:sp>
      <p:sp>
        <p:nvSpPr>
          <p:cNvPr id="12" name="Model card 5"/>
          <p:cNvSpPr/>
          <p:nvPr/>
        </p:nvSpPr>
        <p:spPr>
          <a:xfrm>
            <a:off x="4404360" y="3566160"/>
            <a:ext cx="1981199" cy="2011680"/>
          </a:xfrm>
          <a:prstGeom prst="rect">
            <a:avLst/>
          </a:prstGeom>
          <a:solidFill>
            <a:srgbClr val="F2F2F5"/>
          </a:solidFill>
          <a:ln>
            <a:noFill/>
          </a:ln>
          <a:effectLst/>
        </p:spPr>
        <p:txBody>
          <a:bodyPr rtlCol="0" anchor="ctr"/>
          <a:lstStyle/>
          <a:p/>
        </p:txBody>
      </p:sp>
      <p:sp>
        <p:nvSpPr>
          <p:cNvPr id="13" name="Model text 5"/>
          <p:cNvSpPr txBox="1"/>
          <p:nvPr/>
        </p:nvSpPr>
        <p:spPr>
          <a:xfrm>
            <a:off x="452323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Communication</a:t>
            </a:r>
          </a:p>
          <a:p>
            <a:pPr algn="l">
              <a:spcAft>
                <a:spcPts val="600"/>
              </a:spcAft>
            </a:pPr>
            <a:r>
              <a:rPr sz="1400" b="0" i="0">
                <a:solidFill>
                  <a:srgbClr val="555560"/>
                </a:solidFill>
                <a:latin typeface="Calibri"/>
              </a:rPr>
              <a:t>Selective explanations phrased for the reader.</a:t>
            </a:r>
          </a:p>
          <a:p>
            <a:pPr algn="l">
              <a:spcAft>
                <a:spcPts val="600"/>
              </a:spcAft>
            </a:pPr>
            <a:r>
              <a:rPr sz="1400" b="1" i="0">
                <a:solidFill>
                  <a:srgbClr val="22222A"/>
                </a:solidFill>
                <a:latin typeface="Calibri"/>
              </a:rPr>
              <a:t>→ SHAP and LIME side by side, role-gated</a:t>
            </a:r>
          </a:p>
        </p:txBody>
      </p:sp>
      <p:sp>
        <p:nvSpPr>
          <p:cNvPr id="14" name="Model card 6"/>
          <p:cNvSpPr/>
          <p:nvPr/>
        </p:nvSpPr>
        <p:spPr>
          <a:xfrm>
            <a:off x="6568440" y="3566160"/>
            <a:ext cx="1981199" cy="2011680"/>
          </a:xfrm>
          <a:prstGeom prst="rect">
            <a:avLst/>
          </a:prstGeom>
          <a:solidFill>
            <a:srgbClr val="F2F2F5"/>
          </a:solidFill>
          <a:ln>
            <a:noFill/>
          </a:ln>
          <a:effectLst/>
        </p:spPr>
        <p:txBody>
          <a:bodyPr rtlCol="0" anchor="ctr"/>
          <a:lstStyle/>
          <a:p/>
        </p:txBody>
      </p:sp>
      <p:sp>
        <p:nvSpPr>
          <p:cNvPr id="15" name="Model text 6"/>
          <p:cNvSpPr txBox="1"/>
          <p:nvPr/>
        </p:nvSpPr>
        <p:spPr>
          <a:xfrm>
            <a:off x="6687312" y="3657600"/>
            <a:ext cx="1743455" cy="1828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Design</a:t>
            </a:r>
          </a:p>
          <a:p>
            <a:pPr algn="l">
              <a:spcAft>
                <a:spcPts val="600"/>
              </a:spcAft>
            </a:pPr>
            <a:r>
              <a:rPr sz="1400" b="0" i="0">
                <a:solidFill>
                  <a:srgbClr val="555560"/>
                </a:solidFill>
                <a:latin typeface="Calibri"/>
              </a:rPr>
              <a:t>Maps all models onto the system.</a:t>
            </a:r>
          </a:p>
          <a:p>
            <a:pPr algn="l">
              <a:spcAft>
                <a:spcPts val="600"/>
              </a:spcAft>
            </a:pPr>
            <a:r>
              <a:rPr sz="1400" b="1" i="0">
                <a:solidFill>
                  <a:srgbClr val="22222A"/>
                </a:solidFill>
                <a:latin typeface="Calibri"/>
              </a:rPr>
              <a:t>→ Five layers with role-based access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Dataset: OULAD</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10</a:t>
            </a:r>
          </a:p>
        </p:txBody>
      </p:sp>
      <p:sp>
        <p:nvSpPr>
          <p:cNvPr id="4" name="Stat card 1"/>
          <p:cNvSpPr/>
          <p:nvPr/>
        </p:nvSpPr>
        <p:spPr>
          <a:xfrm>
            <a:off x="2240280" y="1371600"/>
            <a:ext cx="1474469" cy="1143000"/>
          </a:xfrm>
          <a:prstGeom prst="rect">
            <a:avLst/>
          </a:prstGeom>
          <a:solidFill>
            <a:srgbClr val="F2F2F5"/>
          </a:solidFill>
          <a:ln>
            <a:noFill/>
          </a:ln>
          <a:effectLst/>
        </p:spPr>
        <p:txBody>
          <a:bodyPr rtlCol="0" anchor="ctr"/>
          <a:lstStyle/>
          <a:p/>
        </p:txBody>
      </p:sp>
      <p:sp>
        <p:nvSpPr>
          <p:cNvPr id="5" name="Stat 1"/>
          <p:cNvSpPr txBox="1"/>
          <p:nvPr/>
        </p:nvSpPr>
        <p:spPr>
          <a:xfrm>
            <a:off x="224028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32,593</a:t>
            </a:r>
          </a:p>
          <a:p>
            <a:pPr algn="ctr">
              <a:spcAft>
                <a:spcPts val="0"/>
              </a:spcAft>
            </a:pPr>
            <a:r>
              <a:rPr sz="1400" b="0" i="0">
                <a:solidFill>
                  <a:srgbClr val="555560"/>
                </a:solidFill>
                <a:latin typeface="Calibri"/>
              </a:rPr>
              <a:t>records</a:t>
            </a:r>
          </a:p>
        </p:txBody>
      </p:sp>
      <p:sp>
        <p:nvSpPr>
          <p:cNvPr id="6" name="Stat card 2"/>
          <p:cNvSpPr/>
          <p:nvPr/>
        </p:nvSpPr>
        <p:spPr>
          <a:xfrm>
            <a:off x="3851910" y="1371600"/>
            <a:ext cx="1474469" cy="1143000"/>
          </a:xfrm>
          <a:prstGeom prst="rect">
            <a:avLst/>
          </a:prstGeom>
          <a:solidFill>
            <a:srgbClr val="F2F2F5"/>
          </a:solidFill>
          <a:ln>
            <a:noFill/>
          </a:ln>
          <a:effectLst/>
        </p:spPr>
        <p:txBody>
          <a:bodyPr rtlCol="0" anchor="ctr"/>
          <a:lstStyle/>
          <a:p/>
        </p:txBody>
      </p:sp>
      <p:sp>
        <p:nvSpPr>
          <p:cNvPr id="7" name="Stat 2"/>
          <p:cNvSpPr txBox="1"/>
          <p:nvPr/>
        </p:nvSpPr>
        <p:spPr>
          <a:xfrm>
            <a:off x="385191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22</a:t>
            </a:r>
          </a:p>
          <a:p>
            <a:pPr algn="ctr">
              <a:spcAft>
                <a:spcPts val="0"/>
              </a:spcAft>
            </a:pPr>
            <a:r>
              <a:rPr sz="1400" b="0" i="0">
                <a:solidFill>
                  <a:srgbClr val="555560"/>
                </a:solidFill>
                <a:latin typeface="Calibri"/>
              </a:rPr>
              <a:t>module presentations</a:t>
            </a:r>
          </a:p>
        </p:txBody>
      </p:sp>
      <p:sp>
        <p:nvSpPr>
          <p:cNvPr id="8" name="Stat card 3"/>
          <p:cNvSpPr/>
          <p:nvPr/>
        </p:nvSpPr>
        <p:spPr>
          <a:xfrm>
            <a:off x="5463540" y="1371600"/>
            <a:ext cx="1474469" cy="1143000"/>
          </a:xfrm>
          <a:prstGeom prst="rect">
            <a:avLst/>
          </a:prstGeom>
          <a:solidFill>
            <a:srgbClr val="F2F2F5"/>
          </a:solidFill>
          <a:ln>
            <a:noFill/>
          </a:ln>
          <a:effectLst/>
        </p:spPr>
        <p:txBody>
          <a:bodyPr rtlCol="0" anchor="ctr"/>
          <a:lstStyle/>
          <a:p/>
        </p:txBody>
      </p:sp>
      <p:sp>
        <p:nvSpPr>
          <p:cNvPr id="9" name="Stat 3"/>
          <p:cNvSpPr txBox="1"/>
          <p:nvPr/>
        </p:nvSpPr>
        <p:spPr>
          <a:xfrm>
            <a:off x="546354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52.8%</a:t>
            </a:r>
          </a:p>
          <a:p>
            <a:pPr algn="ctr">
              <a:spcAft>
                <a:spcPts val="0"/>
              </a:spcAft>
            </a:pPr>
            <a:r>
              <a:rPr sz="1400" b="0" i="0">
                <a:solidFill>
                  <a:srgbClr val="555560"/>
                </a:solidFill>
                <a:latin typeface="Calibri"/>
              </a:rPr>
              <a:t>at risk</a:t>
            </a:r>
          </a:p>
        </p:txBody>
      </p:sp>
      <p:sp>
        <p:nvSpPr>
          <p:cNvPr id="10" name="Stat card 4"/>
          <p:cNvSpPr/>
          <p:nvPr/>
        </p:nvSpPr>
        <p:spPr>
          <a:xfrm>
            <a:off x="7075170" y="1371600"/>
            <a:ext cx="1474469" cy="1143000"/>
          </a:xfrm>
          <a:prstGeom prst="rect">
            <a:avLst/>
          </a:prstGeom>
          <a:solidFill>
            <a:srgbClr val="F2F2F5"/>
          </a:solidFill>
          <a:ln>
            <a:noFill/>
          </a:ln>
          <a:effectLst/>
        </p:spPr>
        <p:txBody>
          <a:bodyPr rtlCol="0" anchor="ctr"/>
          <a:lstStyle/>
          <a:p/>
        </p:txBody>
      </p:sp>
      <p:sp>
        <p:nvSpPr>
          <p:cNvPr id="11" name="Stat 4"/>
          <p:cNvSpPr txBox="1"/>
          <p:nvPr/>
        </p:nvSpPr>
        <p:spPr>
          <a:xfrm>
            <a:off x="7075170" y="1417320"/>
            <a:ext cx="1474469" cy="1051560"/>
          </a:xfrm>
          <a:prstGeom prst="rect">
            <a:avLst/>
          </a:prstGeom>
          <a:noFill/>
        </p:spPr>
        <p:txBody>
          <a:bodyPr wrap="square" anchor="ctr" lIns="0" rIns="0" tIns="0" bIns="0">
            <a:spAutoFit/>
          </a:bodyPr>
          <a:lstStyle/>
          <a:p>
            <a:pPr algn="ctr">
              <a:spcAft>
                <a:spcPts val="0"/>
              </a:spcAft>
            </a:pPr>
            <a:r>
              <a:rPr sz="2800" b="1" i="0">
                <a:solidFill>
                  <a:srgbClr val="343174"/>
                </a:solidFill>
                <a:latin typeface="Calibri"/>
              </a:rPr>
              <a:t>59</a:t>
            </a:r>
          </a:p>
          <a:p>
            <a:pPr algn="ctr">
              <a:spcAft>
                <a:spcPts val="0"/>
              </a:spcAft>
            </a:pPr>
            <a:r>
              <a:rPr sz="1400" b="0" i="0">
                <a:solidFill>
                  <a:srgbClr val="555560"/>
                </a:solidFill>
                <a:latin typeface="Calibri"/>
              </a:rPr>
              <a:t>features</a:t>
            </a:r>
          </a:p>
        </p:txBody>
      </p:sp>
      <p:sp>
        <p:nvSpPr>
          <p:cNvPr id="12" name="Label source 1"/>
          <p:cNvSpPr txBox="1"/>
          <p:nvPr/>
        </p:nvSpPr>
        <p:spPr>
          <a:xfrm>
            <a:off x="2240280" y="2743200"/>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Withdrawn 10,156  +  Fail 7,052</a:t>
            </a:r>
          </a:p>
        </p:txBody>
      </p:sp>
      <p:sp>
        <p:nvSpPr>
          <p:cNvPr id="13" name="Right Arrow 12"/>
          <p:cNvSpPr/>
          <p:nvPr/>
        </p:nvSpPr>
        <p:spPr>
          <a:xfrm>
            <a:off x="5577840" y="2871216"/>
            <a:ext cx="457200" cy="201168"/>
          </a:xfrm>
          <a:prstGeom prst="rightArrow">
            <a:avLst/>
          </a:prstGeom>
          <a:solidFill>
            <a:srgbClr val="555560"/>
          </a:solidFill>
          <a:ln>
            <a:noFill/>
          </a:ln>
          <a:effectLst/>
        </p:spPr>
        <p:txBody>
          <a:bodyPr rtlCol="0" anchor="ctr"/>
          <a:lstStyle/>
          <a:p>
            <a:pPr algn="ctr"/>
          </a:p>
        </p:txBody>
      </p:sp>
      <p:sp>
        <p:nvSpPr>
          <p:cNvPr id="14" name="Label target 1"/>
          <p:cNvSpPr/>
          <p:nvPr/>
        </p:nvSpPr>
        <p:spPr>
          <a:xfrm>
            <a:off x="6172200" y="2743200"/>
            <a:ext cx="2377439" cy="457200"/>
          </a:xfrm>
          <a:prstGeom prst="rect">
            <a:avLst/>
          </a:prstGeom>
          <a:solidFill>
            <a:srgbClr val="F2F2F5"/>
          </a:solidFill>
          <a:ln>
            <a:noFill/>
          </a:ln>
          <a:effectLst/>
        </p:spPr>
        <p:txBody>
          <a:bodyPr rtlCol="0" anchor="ctr"/>
          <a:lstStyle/>
          <a:p/>
        </p:txBody>
      </p:sp>
      <p:sp>
        <p:nvSpPr>
          <p:cNvPr id="15" name="Label target text 1"/>
          <p:cNvSpPr txBox="1"/>
          <p:nvPr/>
        </p:nvSpPr>
        <p:spPr>
          <a:xfrm>
            <a:off x="6172200" y="2743200"/>
            <a:ext cx="2377439" cy="457200"/>
          </a:xfrm>
          <a:prstGeom prst="rect">
            <a:avLst/>
          </a:prstGeom>
          <a:noFill/>
        </p:spPr>
        <p:txBody>
          <a:bodyPr wrap="square" anchor="ctr" lIns="0" rIns="0" tIns="0" bIns="0">
            <a:spAutoFit/>
          </a:bodyPr>
          <a:lstStyle/>
          <a:p>
            <a:pPr algn="ctr">
              <a:spcAft>
                <a:spcPts val="600"/>
              </a:spcAft>
            </a:pPr>
            <a:r>
              <a:rPr sz="1500" b="1" i="0">
                <a:solidFill>
                  <a:srgbClr val="343174"/>
                </a:solidFill>
                <a:latin typeface="Calibri"/>
              </a:rPr>
              <a:t>At risk: 17,208</a:t>
            </a:r>
          </a:p>
        </p:txBody>
      </p:sp>
      <p:sp>
        <p:nvSpPr>
          <p:cNvPr id="16" name="Label source 2"/>
          <p:cNvSpPr txBox="1"/>
          <p:nvPr/>
        </p:nvSpPr>
        <p:spPr>
          <a:xfrm>
            <a:off x="2240280" y="3310128"/>
            <a:ext cx="3291840"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Pass 12,361  +  Distinction 3,024</a:t>
            </a:r>
          </a:p>
        </p:txBody>
      </p:sp>
      <p:sp>
        <p:nvSpPr>
          <p:cNvPr id="17" name="Right Arrow 16"/>
          <p:cNvSpPr/>
          <p:nvPr/>
        </p:nvSpPr>
        <p:spPr>
          <a:xfrm>
            <a:off x="5577840" y="3438144"/>
            <a:ext cx="457200" cy="201168"/>
          </a:xfrm>
          <a:prstGeom prst="rightArrow">
            <a:avLst/>
          </a:prstGeom>
          <a:solidFill>
            <a:srgbClr val="555560"/>
          </a:solidFill>
          <a:ln>
            <a:noFill/>
          </a:ln>
          <a:effectLst/>
        </p:spPr>
        <p:txBody>
          <a:bodyPr rtlCol="0" anchor="ctr"/>
          <a:lstStyle/>
          <a:p>
            <a:pPr algn="ctr"/>
          </a:p>
        </p:txBody>
      </p:sp>
      <p:sp>
        <p:nvSpPr>
          <p:cNvPr id="18" name="Label target 2"/>
          <p:cNvSpPr/>
          <p:nvPr/>
        </p:nvSpPr>
        <p:spPr>
          <a:xfrm>
            <a:off x="6172200" y="3310128"/>
            <a:ext cx="2377439" cy="457200"/>
          </a:xfrm>
          <a:prstGeom prst="rect">
            <a:avLst/>
          </a:prstGeom>
          <a:solidFill>
            <a:srgbClr val="F2F2F5"/>
          </a:solidFill>
          <a:ln>
            <a:noFill/>
          </a:ln>
          <a:effectLst/>
        </p:spPr>
        <p:txBody>
          <a:bodyPr rtlCol="0" anchor="ctr"/>
          <a:lstStyle/>
          <a:p/>
        </p:txBody>
      </p:sp>
      <p:sp>
        <p:nvSpPr>
          <p:cNvPr id="19" name="Label target text 2"/>
          <p:cNvSpPr txBox="1"/>
          <p:nvPr/>
        </p:nvSpPr>
        <p:spPr>
          <a:xfrm>
            <a:off x="6172200" y="3310128"/>
            <a:ext cx="2377439" cy="457200"/>
          </a:xfrm>
          <a:prstGeom prst="rect">
            <a:avLst/>
          </a:prstGeom>
          <a:noFill/>
        </p:spPr>
        <p:txBody>
          <a:bodyPr wrap="square" anchor="ctr" lIns="0" rIns="0" tIns="0" bIns="0">
            <a:spAutoFit/>
          </a:bodyPr>
          <a:lstStyle/>
          <a:p>
            <a:pPr algn="ctr">
              <a:spcAft>
                <a:spcPts val="600"/>
              </a:spcAft>
            </a:pPr>
            <a:r>
              <a:rPr sz="1500" b="1" i="0">
                <a:solidFill>
                  <a:srgbClr val="343174"/>
                </a:solidFill>
                <a:latin typeface="Calibri"/>
              </a:rPr>
              <a:t>Not at risk: 15,385</a:t>
            </a:r>
          </a:p>
        </p:txBody>
      </p:sp>
      <p:sp>
        <p:nvSpPr>
          <p:cNvPr id="20" name="Family card 1"/>
          <p:cNvSpPr/>
          <p:nvPr/>
        </p:nvSpPr>
        <p:spPr>
          <a:xfrm>
            <a:off x="2240280" y="4023360"/>
            <a:ext cx="1981199" cy="1600200"/>
          </a:xfrm>
          <a:prstGeom prst="rect">
            <a:avLst/>
          </a:prstGeom>
          <a:solidFill>
            <a:srgbClr val="FFFFFF"/>
          </a:solidFill>
          <a:ln w="12700">
            <a:solidFill>
              <a:srgbClr val="C9CAD3"/>
            </a:solidFill>
          </a:ln>
          <a:effectLst/>
        </p:spPr>
        <p:txBody>
          <a:bodyPr rtlCol="0" anchor="ctr"/>
          <a:lstStyle/>
          <a:p/>
        </p:txBody>
      </p:sp>
      <p:sp>
        <p:nvSpPr>
          <p:cNvPr id="21" name="Family text 1"/>
          <p:cNvSpPr txBox="1"/>
          <p:nvPr/>
        </p:nvSpPr>
        <p:spPr>
          <a:xfrm>
            <a:off x="235915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Engagement</a:t>
            </a:r>
          </a:p>
          <a:p>
            <a:pPr algn="l">
              <a:spcAft>
                <a:spcPts val="500"/>
              </a:spcAft>
            </a:pPr>
            <a:r>
              <a:rPr sz="1400" b="0" i="0">
                <a:solidFill>
                  <a:srgbClr val="22222A"/>
                </a:solidFill>
                <a:latin typeface="Calibri"/>
              </a:rPr>
              <a:t>VLE clicks, active days, clicks 7, 14 and 28 days before deadlines</a:t>
            </a:r>
          </a:p>
        </p:txBody>
      </p:sp>
      <p:sp>
        <p:nvSpPr>
          <p:cNvPr id="22" name="Family card 2"/>
          <p:cNvSpPr/>
          <p:nvPr/>
        </p:nvSpPr>
        <p:spPr>
          <a:xfrm>
            <a:off x="4404360" y="4023360"/>
            <a:ext cx="1981199" cy="1600200"/>
          </a:xfrm>
          <a:prstGeom prst="rect">
            <a:avLst/>
          </a:prstGeom>
          <a:solidFill>
            <a:srgbClr val="FFFFFF"/>
          </a:solidFill>
          <a:ln w="12700">
            <a:solidFill>
              <a:srgbClr val="C9CAD3"/>
            </a:solidFill>
          </a:ln>
          <a:effectLst/>
        </p:spPr>
        <p:txBody>
          <a:bodyPr rtlCol="0" anchor="ctr"/>
          <a:lstStyle/>
          <a:p/>
        </p:txBody>
      </p:sp>
      <p:sp>
        <p:nvSpPr>
          <p:cNvPr id="23" name="Family text 2"/>
          <p:cNvSpPr txBox="1"/>
          <p:nvPr/>
        </p:nvSpPr>
        <p:spPr>
          <a:xfrm>
            <a:off x="452323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Assessment</a:t>
            </a:r>
          </a:p>
          <a:p>
            <a:pPr algn="l">
              <a:spcAft>
                <a:spcPts val="500"/>
              </a:spcAft>
            </a:pPr>
            <a:r>
              <a:rPr sz="1400" b="0" i="0">
                <a:solidFill>
                  <a:srgbClr val="22222A"/>
                </a:solidFill>
                <a:latin typeface="Calibri"/>
              </a:rPr>
              <a:t>Submissions, mean and lowest score, lateness, banked results</a:t>
            </a:r>
          </a:p>
        </p:txBody>
      </p:sp>
      <p:sp>
        <p:nvSpPr>
          <p:cNvPr id="24" name="Family card 3"/>
          <p:cNvSpPr/>
          <p:nvPr/>
        </p:nvSpPr>
        <p:spPr>
          <a:xfrm>
            <a:off x="6568440" y="4023360"/>
            <a:ext cx="1981199" cy="1600200"/>
          </a:xfrm>
          <a:prstGeom prst="rect">
            <a:avLst/>
          </a:prstGeom>
          <a:solidFill>
            <a:srgbClr val="FFFFFF"/>
          </a:solidFill>
          <a:ln w="12700">
            <a:solidFill>
              <a:srgbClr val="C9CAD3"/>
            </a:solidFill>
          </a:ln>
          <a:effectLst/>
        </p:spPr>
        <p:txBody>
          <a:bodyPr rtlCol="0" anchor="ctr"/>
          <a:lstStyle/>
          <a:p/>
        </p:txBody>
      </p:sp>
      <p:sp>
        <p:nvSpPr>
          <p:cNvPr id="25" name="Family text 3"/>
          <p:cNvSpPr txBox="1"/>
          <p:nvPr/>
        </p:nvSpPr>
        <p:spPr>
          <a:xfrm>
            <a:off x="6687312" y="4133088"/>
            <a:ext cx="1743455" cy="1417320"/>
          </a:xfrm>
          <a:prstGeom prst="rect">
            <a:avLst/>
          </a:prstGeom>
          <a:noFill/>
        </p:spPr>
        <p:txBody>
          <a:bodyPr wrap="square" anchor="t" lIns="0" rIns="0" tIns="0" bIns="0">
            <a:spAutoFit/>
          </a:bodyPr>
          <a:lstStyle/>
          <a:p>
            <a:pPr algn="l">
              <a:spcAft>
                <a:spcPts val="500"/>
              </a:spcAft>
            </a:pPr>
            <a:r>
              <a:rPr sz="1600" b="1" i="0">
                <a:solidFill>
                  <a:srgbClr val="343174"/>
                </a:solidFill>
                <a:latin typeface="Calibri"/>
              </a:rPr>
              <a:t>Demographic and registration</a:t>
            </a:r>
          </a:p>
          <a:p>
            <a:pPr algn="l">
              <a:spcAft>
                <a:spcPts val="500"/>
              </a:spcAft>
            </a:pPr>
            <a:r>
              <a:rPr sz="1400" b="0" i="0">
                <a:solidFill>
                  <a:srgbClr val="22222A"/>
                </a:solidFill>
                <a:latin typeface="Calibri"/>
              </a:rPr>
              <a:t>Age band, IMD band, education, region, prior attempts, credits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System Architecture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11</a:t>
            </a:r>
          </a:p>
        </p:txBody>
      </p:sp>
      <p:sp>
        <p:nvSpPr>
          <p:cNvPr id="4" name="Layer 1"/>
          <p:cNvSpPr/>
          <p:nvPr/>
        </p:nvSpPr>
        <p:spPr>
          <a:xfrm>
            <a:off x="2240280" y="1371600"/>
            <a:ext cx="3977639" cy="777240"/>
          </a:xfrm>
          <a:prstGeom prst="rect">
            <a:avLst/>
          </a:prstGeom>
          <a:solidFill>
            <a:srgbClr val="FFFFFF"/>
          </a:solidFill>
          <a:ln w="12700">
            <a:solidFill>
              <a:srgbClr val="343174"/>
            </a:solidFill>
          </a:ln>
          <a:effectLst/>
        </p:spPr>
        <p:txBody>
          <a:bodyPr rtlCol="0" anchor="ctr"/>
          <a:lstStyle/>
          <a:p/>
        </p:txBody>
      </p:sp>
      <p:sp>
        <p:nvSpPr>
          <p:cNvPr id="5" name="Layer text 1"/>
          <p:cNvSpPr txBox="1"/>
          <p:nvPr/>
        </p:nvSpPr>
        <p:spPr>
          <a:xfrm>
            <a:off x="2423160" y="14081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Presentation</a:t>
            </a:r>
          </a:p>
          <a:p>
            <a:pPr algn="l">
              <a:spcAft>
                <a:spcPts val="100"/>
              </a:spcAft>
            </a:pPr>
            <a:r>
              <a:rPr sz="1300" b="0" i="0">
                <a:solidFill>
                  <a:srgbClr val="555560"/>
                </a:solidFill>
                <a:latin typeface="Calibri"/>
              </a:rPr>
              <a:t>React: instructor, advisor and administrator views</a:t>
            </a:r>
          </a:p>
        </p:txBody>
      </p:sp>
      <p:sp>
        <p:nvSpPr>
          <p:cNvPr id="6" name="Layer 2"/>
          <p:cNvSpPr/>
          <p:nvPr/>
        </p:nvSpPr>
        <p:spPr>
          <a:xfrm>
            <a:off x="2240280" y="2286000"/>
            <a:ext cx="3977639" cy="777240"/>
          </a:xfrm>
          <a:prstGeom prst="rect">
            <a:avLst/>
          </a:prstGeom>
          <a:solidFill>
            <a:srgbClr val="FFFFFF"/>
          </a:solidFill>
          <a:ln w="12700">
            <a:solidFill>
              <a:srgbClr val="343174"/>
            </a:solidFill>
          </a:ln>
          <a:effectLst/>
        </p:spPr>
        <p:txBody>
          <a:bodyPr rtlCol="0" anchor="ctr"/>
          <a:lstStyle/>
          <a:p/>
        </p:txBody>
      </p:sp>
      <p:sp>
        <p:nvSpPr>
          <p:cNvPr id="7" name="Layer text 2"/>
          <p:cNvSpPr txBox="1"/>
          <p:nvPr/>
        </p:nvSpPr>
        <p:spPr>
          <a:xfrm>
            <a:off x="2423160" y="23225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Interface / API</a:t>
            </a:r>
          </a:p>
          <a:p>
            <a:pPr algn="l">
              <a:spcAft>
                <a:spcPts val="100"/>
              </a:spcAft>
            </a:pPr>
            <a:r>
              <a:rPr sz="1300" b="0" i="0">
                <a:solidFill>
                  <a:srgbClr val="555560"/>
                </a:solidFill>
                <a:latin typeface="Calibri"/>
              </a:rPr>
              <a:t>Flask, JWT login, role-based access control</a:t>
            </a:r>
          </a:p>
        </p:txBody>
      </p:sp>
      <p:sp>
        <p:nvSpPr>
          <p:cNvPr id="8" name="Layer 3"/>
          <p:cNvSpPr/>
          <p:nvPr/>
        </p:nvSpPr>
        <p:spPr>
          <a:xfrm>
            <a:off x="2240280" y="3200400"/>
            <a:ext cx="3977639" cy="777240"/>
          </a:xfrm>
          <a:prstGeom prst="rect">
            <a:avLst/>
          </a:prstGeom>
          <a:solidFill>
            <a:srgbClr val="FFFFFF"/>
          </a:solidFill>
          <a:ln w="12700">
            <a:solidFill>
              <a:srgbClr val="343174"/>
            </a:solidFill>
          </a:ln>
          <a:effectLst/>
        </p:spPr>
        <p:txBody>
          <a:bodyPr rtlCol="0" anchor="ctr"/>
          <a:lstStyle/>
          <a:p/>
        </p:txBody>
      </p:sp>
      <p:sp>
        <p:nvSpPr>
          <p:cNvPr id="9" name="Layer text 3"/>
          <p:cNvSpPr txBox="1"/>
          <p:nvPr/>
        </p:nvSpPr>
        <p:spPr>
          <a:xfrm>
            <a:off x="2423160" y="32369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Explainability</a:t>
            </a:r>
          </a:p>
          <a:p>
            <a:pPr algn="l">
              <a:spcAft>
                <a:spcPts val="100"/>
              </a:spcAft>
            </a:pPr>
            <a:r>
              <a:rPr sz="1300" b="0" i="0">
                <a:solidFill>
                  <a:srgbClr val="555560"/>
                </a:solidFill>
                <a:latin typeface="Calibri"/>
              </a:rPr>
              <a:t>TreeSHAP global (cached), LIME local (on demand)</a:t>
            </a:r>
          </a:p>
        </p:txBody>
      </p:sp>
      <p:sp>
        <p:nvSpPr>
          <p:cNvPr id="10" name="Layer 4"/>
          <p:cNvSpPr/>
          <p:nvPr/>
        </p:nvSpPr>
        <p:spPr>
          <a:xfrm>
            <a:off x="2240280" y="4114800"/>
            <a:ext cx="3977639" cy="777240"/>
          </a:xfrm>
          <a:prstGeom prst="rect">
            <a:avLst/>
          </a:prstGeom>
          <a:solidFill>
            <a:srgbClr val="FFFFFF"/>
          </a:solidFill>
          <a:ln w="12700">
            <a:solidFill>
              <a:srgbClr val="343174"/>
            </a:solidFill>
          </a:ln>
          <a:effectLst/>
        </p:spPr>
        <p:txBody>
          <a:bodyPr rtlCol="0" anchor="ctr"/>
          <a:lstStyle/>
          <a:p/>
        </p:txBody>
      </p:sp>
      <p:sp>
        <p:nvSpPr>
          <p:cNvPr id="11" name="Layer text 4"/>
          <p:cNvSpPr txBox="1"/>
          <p:nvPr/>
        </p:nvSpPr>
        <p:spPr>
          <a:xfrm>
            <a:off x="2423160" y="41513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Prediction engine</a:t>
            </a:r>
          </a:p>
          <a:p>
            <a:pPr algn="l">
              <a:spcAft>
                <a:spcPts val="100"/>
              </a:spcAft>
            </a:pPr>
            <a:r>
              <a:rPr sz="1300" b="0" i="0">
                <a:solidFill>
                  <a:srgbClr val="555560"/>
                </a:solidFill>
                <a:latin typeface="Calibri"/>
              </a:rPr>
              <a:t>XGBoost pipeline, versioned joblib artefact</a:t>
            </a:r>
          </a:p>
        </p:txBody>
      </p:sp>
      <p:sp>
        <p:nvSpPr>
          <p:cNvPr id="12" name="Layer 5"/>
          <p:cNvSpPr/>
          <p:nvPr/>
        </p:nvSpPr>
        <p:spPr>
          <a:xfrm>
            <a:off x="2240280" y="5029200"/>
            <a:ext cx="3977639" cy="777240"/>
          </a:xfrm>
          <a:prstGeom prst="rect">
            <a:avLst/>
          </a:prstGeom>
          <a:solidFill>
            <a:srgbClr val="FFFFFF"/>
          </a:solidFill>
          <a:ln w="12700">
            <a:solidFill>
              <a:srgbClr val="555560"/>
            </a:solidFill>
          </a:ln>
          <a:effectLst/>
        </p:spPr>
        <p:txBody>
          <a:bodyPr rtlCol="0" anchor="ctr"/>
          <a:lstStyle/>
          <a:p/>
        </p:txBody>
      </p:sp>
      <p:sp>
        <p:nvSpPr>
          <p:cNvPr id="13" name="Layer text 5"/>
          <p:cNvSpPr txBox="1"/>
          <p:nvPr/>
        </p:nvSpPr>
        <p:spPr>
          <a:xfrm>
            <a:off x="2423160" y="5065776"/>
            <a:ext cx="3657599" cy="713232"/>
          </a:xfrm>
          <a:prstGeom prst="rect">
            <a:avLst/>
          </a:prstGeom>
          <a:noFill/>
        </p:spPr>
        <p:txBody>
          <a:bodyPr wrap="square" anchor="ctr" lIns="0" rIns="0" tIns="0" bIns="0">
            <a:spAutoFit/>
          </a:bodyPr>
          <a:lstStyle/>
          <a:p>
            <a:pPr algn="l">
              <a:spcAft>
                <a:spcPts val="100"/>
              </a:spcAft>
            </a:pPr>
            <a:r>
              <a:rPr sz="1600" b="1" i="0">
                <a:solidFill>
                  <a:srgbClr val="22222A"/>
                </a:solidFill>
                <a:latin typeface="Calibri"/>
              </a:rPr>
              <a:t>Data layer</a:t>
            </a:r>
          </a:p>
          <a:p>
            <a:pPr algn="l">
              <a:spcAft>
                <a:spcPts val="100"/>
              </a:spcAft>
            </a:pPr>
            <a:r>
              <a:rPr sz="1300" b="0" i="0">
                <a:solidFill>
                  <a:srgbClr val="555560"/>
                </a:solidFill>
                <a:latin typeface="Calibri"/>
              </a:rPr>
              <a:t>pandas, deadline-anchored feature engineering</a:t>
            </a:r>
          </a:p>
        </p:txBody>
      </p:sp>
      <p:sp>
        <p:nvSpPr>
          <p:cNvPr id="14" name="LMS label"/>
          <p:cNvSpPr txBox="1"/>
          <p:nvPr/>
        </p:nvSpPr>
        <p:spPr>
          <a:xfrm>
            <a:off x="6446520" y="1371600"/>
            <a:ext cx="210312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LMS integration (tested)</a:t>
            </a:r>
          </a:p>
        </p:txBody>
      </p:sp>
      <p:sp>
        <p:nvSpPr>
          <p:cNvPr id="15" name="LMS card 1"/>
          <p:cNvSpPr/>
          <p:nvPr/>
        </p:nvSpPr>
        <p:spPr>
          <a:xfrm>
            <a:off x="6446520" y="1737360"/>
            <a:ext cx="2103120" cy="1234440"/>
          </a:xfrm>
          <a:prstGeom prst="rect">
            <a:avLst/>
          </a:prstGeom>
          <a:solidFill>
            <a:srgbClr val="F2F2F5"/>
          </a:solidFill>
          <a:ln>
            <a:noFill/>
          </a:ln>
          <a:effectLst/>
        </p:spPr>
        <p:txBody>
          <a:bodyPr rtlCol="0" anchor="ctr"/>
          <a:lstStyle/>
          <a:p/>
        </p:txBody>
      </p:sp>
      <p:sp>
        <p:nvSpPr>
          <p:cNvPr id="16" name="LMS text 1"/>
          <p:cNvSpPr txBox="1"/>
          <p:nvPr/>
        </p:nvSpPr>
        <p:spPr>
          <a:xfrm>
            <a:off x="6556248" y="18105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Moodle 5.2</a:t>
            </a:r>
          </a:p>
          <a:p>
            <a:pPr algn="l">
              <a:spcAft>
                <a:spcPts val="300"/>
              </a:spcAft>
            </a:pPr>
            <a:r>
              <a:rPr sz="1300" b="0" i="0">
                <a:solidFill>
                  <a:srgbClr val="22222A"/>
                </a:solidFill>
                <a:latin typeface="Calibri"/>
              </a:rPr>
              <a:t>Native plugin; uses Moodle login, roles and enrolments</a:t>
            </a:r>
          </a:p>
        </p:txBody>
      </p:sp>
      <p:sp>
        <p:nvSpPr>
          <p:cNvPr id="17" name="LMS card 2"/>
          <p:cNvSpPr/>
          <p:nvPr/>
        </p:nvSpPr>
        <p:spPr>
          <a:xfrm>
            <a:off x="6446520" y="3108960"/>
            <a:ext cx="2103120" cy="1234440"/>
          </a:xfrm>
          <a:prstGeom prst="rect">
            <a:avLst/>
          </a:prstGeom>
          <a:solidFill>
            <a:srgbClr val="F2F2F5"/>
          </a:solidFill>
          <a:ln>
            <a:noFill/>
          </a:ln>
          <a:effectLst/>
        </p:spPr>
        <p:txBody>
          <a:bodyPr rtlCol="0" anchor="ctr"/>
          <a:lstStyle/>
          <a:p/>
        </p:txBody>
      </p:sp>
      <p:sp>
        <p:nvSpPr>
          <p:cNvPr id="18" name="LMS text 2"/>
          <p:cNvSpPr txBox="1"/>
          <p:nvPr/>
        </p:nvSpPr>
        <p:spPr>
          <a:xfrm>
            <a:off x="6556248" y="31821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Canvas</a:t>
            </a:r>
          </a:p>
          <a:p>
            <a:pPr algn="l">
              <a:spcAft>
                <a:spcPts val="300"/>
              </a:spcAft>
            </a:pPr>
            <a:r>
              <a:rPr sz="1300" b="0" i="0">
                <a:solidFill>
                  <a:srgbClr val="22222A"/>
                </a:solidFill>
                <a:latin typeface="Calibri"/>
              </a:rPr>
              <a:t>Dashboard embedded via External URL module item</a:t>
            </a:r>
          </a:p>
        </p:txBody>
      </p:sp>
      <p:sp>
        <p:nvSpPr>
          <p:cNvPr id="19" name="LMS card 3"/>
          <p:cNvSpPr/>
          <p:nvPr/>
        </p:nvSpPr>
        <p:spPr>
          <a:xfrm>
            <a:off x="6446520" y="4480560"/>
            <a:ext cx="2103120" cy="1234440"/>
          </a:xfrm>
          <a:prstGeom prst="rect">
            <a:avLst/>
          </a:prstGeom>
          <a:solidFill>
            <a:srgbClr val="F2F2F5"/>
          </a:solidFill>
          <a:ln>
            <a:noFill/>
          </a:ln>
          <a:effectLst/>
        </p:spPr>
        <p:txBody>
          <a:bodyPr rtlCol="0" anchor="ctr"/>
          <a:lstStyle/>
          <a:p/>
        </p:txBody>
      </p:sp>
      <p:sp>
        <p:nvSpPr>
          <p:cNvPr id="20" name="LMS text 3"/>
          <p:cNvSpPr txBox="1"/>
          <p:nvPr/>
        </p:nvSpPr>
        <p:spPr>
          <a:xfrm>
            <a:off x="6556248" y="4553712"/>
            <a:ext cx="1883663" cy="1097280"/>
          </a:xfrm>
          <a:prstGeom prst="rect">
            <a:avLst/>
          </a:prstGeom>
          <a:noFill/>
        </p:spPr>
        <p:txBody>
          <a:bodyPr wrap="square" anchor="ctr" lIns="0" rIns="0" tIns="0" bIns="0">
            <a:spAutoFit/>
          </a:bodyPr>
          <a:lstStyle/>
          <a:p>
            <a:pPr algn="l">
              <a:spcAft>
                <a:spcPts val="300"/>
              </a:spcAft>
            </a:pPr>
            <a:r>
              <a:rPr sz="1500" b="1" i="0">
                <a:solidFill>
                  <a:srgbClr val="343174"/>
                </a:solidFill>
                <a:latin typeface="Calibri"/>
              </a:rPr>
              <a:t>Docker Compose</a:t>
            </a:r>
          </a:p>
          <a:p>
            <a:pPr algn="l">
              <a:spcAft>
                <a:spcPts val="300"/>
              </a:spcAft>
            </a:pPr>
            <a:r>
              <a:rPr sz="1300" b="0" i="0">
                <a:solidFill>
                  <a:srgbClr val="22222A"/>
                </a:solidFill>
                <a:latin typeface="Calibri"/>
              </a:rPr>
              <a:t>API, Moodle and Canvas in one local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Prototype Model Performance (XGBoost)</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12</a:t>
            </a:r>
          </a:p>
        </p:txBody>
      </p:sp>
      <p:sp>
        <p:nvSpPr>
          <p:cNvPr id="4" name="Metric card 1"/>
          <p:cNvSpPr/>
          <p:nvPr/>
        </p:nvSpPr>
        <p:spPr>
          <a:xfrm>
            <a:off x="2240280" y="1371600"/>
            <a:ext cx="1188719" cy="1188720"/>
          </a:xfrm>
          <a:prstGeom prst="rect">
            <a:avLst/>
          </a:prstGeom>
          <a:solidFill>
            <a:srgbClr val="F2F2F5"/>
          </a:solidFill>
          <a:ln>
            <a:noFill/>
          </a:ln>
          <a:effectLst/>
        </p:spPr>
        <p:txBody>
          <a:bodyPr rtlCol="0" anchor="ctr"/>
          <a:lstStyle/>
          <a:p/>
        </p:txBody>
      </p:sp>
      <p:sp>
        <p:nvSpPr>
          <p:cNvPr id="5" name="Metric 1"/>
          <p:cNvSpPr txBox="1"/>
          <p:nvPr/>
        </p:nvSpPr>
        <p:spPr>
          <a:xfrm>
            <a:off x="224028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0.877</a:t>
            </a:r>
          </a:p>
          <a:p>
            <a:pPr algn="ctr">
              <a:spcAft>
                <a:spcPts val="0"/>
              </a:spcAft>
            </a:pPr>
            <a:r>
              <a:rPr sz="1300" b="0" i="0">
                <a:solidFill>
                  <a:srgbClr val="555560"/>
                </a:solidFill>
                <a:latin typeface="Calibri"/>
              </a:rPr>
              <a:t>Accuracy</a:t>
            </a:r>
          </a:p>
        </p:txBody>
      </p:sp>
      <p:sp>
        <p:nvSpPr>
          <p:cNvPr id="6" name="Metric card 2"/>
          <p:cNvSpPr/>
          <p:nvPr/>
        </p:nvSpPr>
        <p:spPr>
          <a:xfrm>
            <a:off x="3520440" y="1371600"/>
            <a:ext cx="1188719" cy="1188720"/>
          </a:xfrm>
          <a:prstGeom prst="rect">
            <a:avLst/>
          </a:prstGeom>
          <a:solidFill>
            <a:srgbClr val="F2F2F5"/>
          </a:solidFill>
          <a:ln>
            <a:noFill/>
          </a:ln>
          <a:effectLst/>
        </p:spPr>
        <p:txBody>
          <a:bodyPr rtlCol="0" anchor="ctr"/>
          <a:lstStyle/>
          <a:p/>
        </p:txBody>
      </p:sp>
      <p:sp>
        <p:nvSpPr>
          <p:cNvPr id="7" name="Metric 2"/>
          <p:cNvSpPr txBox="1"/>
          <p:nvPr/>
        </p:nvSpPr>
        <p:spPr>
          <a:xfrm>
            <a:off x="352044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0.866</a:t>
            </a:r>
          </a:p>
          <a:p>
            <a:pPr algn="ctr">
              <a:spcAft>
                <a:spcPts val="0"/>
              </a:spcAft>
            </a:pPr>
            <a:r>
              <a:rPr sz="1300" b="0" i="0">
                <a:solidFill>
                  <a:srgbClr val="555560"/>
                </a:solidFill>
                <a:latin typeface="Calibri"/>
              </a:rPr>
              <a:t>Precision</a:t>
            </a:r>
          </a:p>
        </p:txBody>
      </p:sp>
      <p:sp>
        <p:nvSpPr>
          <p:cNvPr id="8" name="Metric card 3"/>
          <p:cNvSpPr/>
          <p:nvPr/>
        </p:nvSpPr>
        <p:spPr>
          <a:xfrm>
            <a:off x="4800600" y="1371600"/>
            <a:ext cx="1188719" cy="1188720"/>
          </a:xfrm>
          <a:prstGeom prst="rect">
            <a:avLst/>
          </a:prstGeom>
          <a:solidFill>
            <a:srgbClr val="343174"/>
          </a:solidFill>
          <a:ln>
            <a:noFill/>
          </a:ln>
          <a:effectLst/>
        </p:spPr>
        <p:txBody>
          <a:bodyPr rtlCol="0" anchor="ctr"/>
          <a:lstStyle/>
          <a:p/>
        </p:txBody>
      </p:sp>
      <p:sp>
        <p:nvSpPr>
          <p:cNvPr id="9" name="Metric 3"/>
          <p:cNvSpPr txBox="1"/>
          <p:nvPr/>
        </p:nvSpPr>
        <p:spPr>
          <a:xfrm>
            <a:off x="4800600" y="1417320"/>
            <a:ext cx="1188719" cy="1097280"/>
          </a:xfrm>
          <a:prstGeom prst="rect">
            <a:avLst/>
          </a:prstGeom>
          <a:noFill/>
        </p:spPr>
        <p:txBody>
          <a:bodyPr wrap="square" anchor="ctr" lIns="0" rIns="0" tIns="0" bIns="0">
            <a:spAutoFit/>
          </a:bodyPr>
          <a:lstStyle/>
          <a:p>
            <a:pPr algn="ctr">
              <a:spcAft>
                <a:spcPts val="0"/>
              </a:spcAft>
            </a:pPr>
            <a:r>
              <a:rPr sz="2600" b="1" i="0">
                <a:solidFill>
                  <a:srgbClr val="FFFFFF"/>
                </a:solidFill>
                <a:latin typeface="Calibri"/>
              </a:rPr>
              <a:t>0.909</a:t>
            </a:r>
          </a:p>
          <a:p>
            <a:pPr algn="ctr">
              <a:spcAft>
                <a:spcPts val="0"/>
              </a:spcAft>
            </a:pPr>
            <a:r>
              <a:rPr sz="1300" b="0" i="0">
                <a:solidFill>
                  <a:srgbClr val="FFFFFF"/>
                </a:solidFill>
                <a:latin typeface="Calibri"/>
              </a:rPr>
              <a:t>Recall</a:t>
            </a:r>
          </a:p>
        </p:txBody>
      </p:sp>
      <p:sp>
        <p:nvSpPr>
          <p:cNvPr id="10" name="Metric card 4"/>
          <p:cNvSpPr/>
          <p:nvPr/>
        </p:nvSpPr>
        <p:spPr>
          <a:xfrm>
            <a:off x="6080759" y="1371600"/>
            <a:ext cx="1188719" cy="1188720"/>
          </a:xfrm>
          <a:prstGeom prst="rect">
            <a:avLst/>
          </a:prstGeom>
          <a:solidFill>
            <a:srgbClr val="F2F2F5"/>
          </a:solidFill>
          <a:ln>
            <a:noFill/>
          </a:ln>
          <a:effectLst/>
        </p:spPr>
        <p:txBody>
          <a:bodyPr rtlCol="0" anchor="ctr"/>
          <a:lstStyle/>
          <a:p/>
        </p:txBody>
      </p:sp>
      <p:sp>
        <p:nvSpPr>
          <p:cNvPr id="11" name="Metric 4"/>
          <p:cNvSpPr txBox="1"/>
          <p:nvPr/>
        </p:nvSpPr>
        <p:spPr>
          <a:xfrm>
            <a:off x="6080759"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0.887</a:t>
            </a:r>
          </a:p>
          <a:p>
            <a:pPr algn="ctr">
              <a:spcAft>
                <a:spcPts val="0"/>
              </a:spcAft>
            </a:pPr>
            <a:r>
              <a:rPr sz="1300" b="0" i="0">
                <a:solidFill>
                  <a:srgbClr val="555560"/>
                </a:solidFill>
                <a:latin typeface="Calibri"/>
              </a:rPr>
              <a:t>F1-score</a:t>
            </a:r>
          </a:p>
        </p:txBody>
      </p:sp>
      <p:sp>
        <p:nvSpPr>
          <p:cNvPr id="12" name="Metric card 5"/>
          <p:cNvSpPr/>
          <p:nvPr/>
        </p:nvSpPr>
        <p:spPr>
          <a:xfrm>
            <a:off x="7360920" y="1371600"/>
            <a:ext cx="1188719" cy="1188720"/>
          </a:xfrm>
          <a:prstGeom prst="rect">
            <a:avLst/>
          </a:prstGeom>
          <a:solidFill>
            <a:srgbClr val="F2F2F5"/>
          </a:solidFill>
          <a:ln>
            <a:noFill/>
          </a:ln>
          <a:effectLst/>
        </p:spPr>
        <p:txBody>
          <a:bodyPr rtlCol="0" anchor="ctr"/>
          <a:lstStyle/>
          <a:p/>
        </p:txBody>
      </p:sp>
      <p:sp>
        <p:nvSpPr>
          <p:cNvPr id="13" name="Metric 5"/>
          <p:cNvSpPr txBox="1"/>
          <p:nvPr/>
        </p:nvSpPr>
        <p:spPr>
          <a:xfrm>
            <a:off x="7360920" y="1417320"/>
            <a:ext cx="1188719" cy="1097280"/>
          </a:xfrm>
          <a:prstGeom prst="rect">
            <a:avLst/>
          </a:prstGeom>
          <a:noFill/>
        </p:spPr>
        <p:txBody>
          <a:bodyPr wrap="square" anchor="ctr" lIns="0" rIns="0" tIns="0" bIns="0">
            <a:spAutoFit/>
          </a:bodyPr>
          <a:lstStyle/>
          <a:p>
            <a:pPr algn="ctr">
              <a:spcAft>
                <a:spcPts val="0"/>
              </a:spcAft>
            </a:pPr>
            <a:r>
              <a:rPr sz="2600" b="1" i="0">
                <a:solidFill>
                  <a:srgbClr val="343174"/>
                </a:solidFill>
                <a:latin typeface="Calibri"/>
              </a:rPr>
              <a:t>0.962</a:t>
            </a:r>
          </a:p>
          <a:p>
            <a:pPr algn="ctr">
              <a:spcAft>
                <a:spcPts val="0"/>
              </a:spcAft>
            </a:pPr>
            <a:r>
              <a:rPr sz="1300" b="0" i="0">
                <a:solidFill>
                  <a:srgbClr val="555560"/>
                </a:solidFill>
                <a:latin typeface="Calibri"/>
              </a:rPr>
              <a:t>ROC-AUC</a:t>
            </a:r>
          </a:p>
        </p:txBody>
      </p:sp>
      <p:sp>
        <p:nvSpPr>
          <p:cNvPr id="14" name="CM label"/>
          <p:cNvSpPr txBox="1"/>
          <p:nvPr/>
        </p:nvSpPr>
        <p:spPr>
          <a:xfrm>
            <a:off x="2240280" y="2788920"/>
            <a:ext cx="3566160" cy="320040"/>
          </a:xfrm>
          <a:prstGeom prst="rect">
            <a:avLst/>
          </a:prstGeom>
          <a:noFill/>
        </p:spPr>
        <p:txBody>
          <a:bodyPr wrap="square" anchor="t" lIns="0" rIns="0" tIns="0" bIns="0">
            <a:spAutoFit/>
          </a:bodyPr>
          <a:lstStyle/>
          <a:p>
            <a:pPr algn="l">
              <a:spcAft>
                <a:spcPts val="600"/>
              </a:spcAft>
            </a:pPr>
            <a:r>
              <a:rPr sz="1300" b="1" i="0">
                <a:solidFill>
                  <a:srgbClr val="555560"/>
                </a:solidFill>
                <a:latin typeface="Calibri"/>
              </a:rPr>
              <a:t>Confusion matrix (threshold 0.5)</a:t>
            </a:r>
          </a:p>
        </p:txBody>
      </p:sp>
      <p:graphicFrame>
        <p:nvGraphicFramePr>
          <p:cNvPr id="15" name="Confusion matrix"/>
          <p:cNvGraphicFramePr>
            <a:graphicFrameLocks noGrp="1"/>
          </p:cNvGraphicFramePr>
          <p:nvPr/>
        </p:nvGraphicFramePr>
        <p:xfrm>
          <a:off x="2240280" y="3108960"/>
          <a:ext cx="3566160" cy="1508760"/>
        </p:xfrm>
        <a:graphic>
          <a:graphicData uri="http://schemas.openxmlformats.org/drawingml/2006/table">
            <a:tbl>
              <a:tblPr firstRow="0" bandRow="0">
                <a:tableStyleId>{5C22544A-7EE6-4342-B048-85BDC9FD1C3A}</a:tableStyleId>
              </a:tblPr>
              <a:tblGrid>
                <a:gridCol w="1097280"/>
                <a:gridCol w="1234440"/>
                <a:gridCol w="1234440"/>
              </a:tblGrid>
              <a:tr h="502920">
                <a:tc>
                  <a:txBody>
                    <a:bodyPr wrap="square"/>
                    <a:lstStyle/>
                    <a:p>
                      <a:pPr algn="l"/>
                      <a:r>
                        <a:rPr sz="1400" b="1" i="0">
                          <a:solidFill>
                            <a:srgbClr val="FFFFFF"/>
                          </a:solidFill>
                          <a:latin typeface="Calibri"/>
                        </a:rPr>
                        <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not at risk</a:t>
                      </a:r>
                    </a:p>
                  </a:txBody>
                  <a:tcPr marL="73152" marR="73152" marT="36576" marB="36576" anchor="ctr">
                    <a:solidFill>
                      <a:srgbClr val="343174"/>
                    </a:solidFill>
                  </a:tcPr>
                </a:tc>
                <a:tc>
                  <a:txBody>
                    <a:bodyPr wrap="square"/>
                    <a:lstStyle/>
                    <a:p>
                      <a:pPr algn="ctr"/>
                      <a:r>
                        <a:rPr sz="1400" b="1" i="0">
                          <a:solidFill>
                            <a:srgbClr val="FFFFFF"/>
                          </a:solidFill>
                          <a:latin typeface="Calibri"/>
                        </a:rPr>
                        <a:t>Predicted at risk</a:t>
                      </a:r>
                    </a:p>
                  </a:txBody>
                  <a:tcPr marL="73152" marR="73152" marT="36576" marB="36576" anchor="ctr">
                    <a:solidFill>
                      <a:srgbClr val="343174"/>
                    </a:solidFill>
                  </a:tcPr>
                </a:tc>
              </a:tr>
              <a:tr h="502920">
                <a:tc>
                  <a:txBody>
                    <a:bodyPr wrap="square"/>
                    <a:lstStyle/>
                    <a:p>
                      <a:pPr algn="l"/>
                      <a:r>
                        <a:rPr sz="1400" b="1" i="0">
                          <a:solidFill>
                            <a:srgbClr val="22222A"/>
                          </a:solidFill>
                          <a:latin typeface="Calibri"/>
                        </a:rPr>
                        <a:t>Not at risk</a:t>
                      </a:r>
                    </a:p>
                  </a:txBody>
                  <a:tcPr marL="73152" marR="73152" marT="36576" marB="36576" anchor="ctr">
                    <a:solidFill>
                      <a:srgbClr val="FFFFFF"/>
                    </a:solidFill>
                  </a:tcPr>
                </a:tc>
                <a:tc>
                  <a:txBody>
                    <a:bodyPr wrap="square"/>
                    <a:lstStyle/>
                    <a:p>
                      <a:pPr algn="ctr"/>
                      <a:r>
                        <a:rPr sz="1400" b="1" i="0">
                          <a:solidFill>
                            <a:srgbClr val="22222A"/>
                          </a:solidFill>
                          <a:latin typeface="Calibri"/>
                        </a:rPr>
                        <a:t>12,963</a:t>
                      </a:r>
                    </a:p>
                  </a:txBody>
                  <a:tcPr marL="73152" marR="73152" marT="36576" marB="36576" anchor="ctr">
                    <a:solidFill>
                      <a:srgbClr val="DCDDEA"/>
                    </a:solidFill>
                  </a:tcPr>
                </a:tc>
                <a:tc>
                  <a:txBody>
                    <a:bodyPr wrap="square"/>
                    <a:lstStyle/>
                    <a:p>
                      <a:pPr algn="ctr"/>
                      <a:r>
                        <a:rPr sz="1400" b="0" i="0">
                          <a:solidFill>
                            <a:srgbClr val="22222A"/>
                          </a:solidFill>
                          <a:latin typeface="Calibri"/>
                        </a:rPr>
                        <a:t>2,422</a:t>
                      </a:r>
                    </a:p>
                  </a:txBody>
                  <a:tcPr marL="73152" marR="73152" marT="36576" marB="36576" anchor="ctr">
                    <a:solidFill>
                      <a:srgbClr val="FFFFFF"/>
                    </a:solidFill>
                  </a:tcPr>
                </a:tc>
              </a:tr>
              <a:tr h="502920">
                <a:tc>
                  <a:txBody>
                    <a:bodyPr wrap="square"/>
                    <a:lstStyle/>
                    <a:p>
                      <a:pPr algn="l"/>
                      <a:r>
                        <a:rPr sz="1400" b="1" i="0">
                          <a:solidFill>
                            <a:srgbClr val="22222A"/>
                          </a:solidFill>
                          <a:latin typeface="Calibri"/>
                        </a:rPr>
                        <a:t>At risk</a:t>
                      </a:r>
                    </a:p>
                  </a:txBody>
                  <a:tcPr marL="73152" marR="73152" marT="36576" marB="36576" anchor="ctr">
                    <a:solidFill>
                      <a:srgbClr val="F6F6FA"/>
                    </a:solidFill>
                  </a:tcPr>
                </a:tc>
                <a:tc>
                  <a:txBody>
                    <a:bodyPr wrap="square"/>
                    <a:lstStyle/>
                    <a:p>
                      <a:pPr algn="ctr"/>
                      <a:r>
                        <a:rPr sz="1400" b="0" i="0">
                          <a:solidFill>
                            <a:srgbClr val="22222A"/>
                          </a:solidFill>
                          <a:latin typeface="Calibri"/>
                        </a:rPr>
                        <a:t>1,574</a:t>
                      </a:r>
                    </a:p>
                  </a:txBody>
                  <a:tcPr marL="73152" marR="73152" marT="36576" marB="36576" anchor="ctr">
                    <a:solidFill>
                      <a:srgbClr val="F6F6FA"/>
                    </a:solidFill>
                  </a:tcPr>
                </a:tc>
                <a:tc>
                  <a:txBody>
                    <a:bodyPr wrap="square"/>
                    <a:lstStyle/>
                    <a:p>
                      <a:pPr algn="ctr"/>
                      <a:r>
                        <a:rPr sz="1400" b="1" i="0">
                          <a:solidFill>
                            <a:srgbClr val="22222A"/>
                          </a:solidFill>
                          <a:latin typeface="Calibri"/>
                        </a:rPr>
                        <a:t>15,634</a:t>
                      </a:r>
                    </a:p>
                  </a:txBody>
                  <a:tcPr marL="73152" marR="73152" marT="36576" marB="36576" anchor="ctr">
                    <a:solidFill>
                      <a:srgbClr val="DCDDEA"/>
                    </a:solidFill>
                  </a:tcPr>
                </a:tc>
              </a:tr>
            </a:tbl>
          </a:graphicData>
        </a:graphic>
      </p:graphicFrame>
      <p:sp>
        <p:nvSpPr>
          <p:cNvPr id="16" name="Protocol card"/>
          <p:cNvSpPr/>
          <p:nvPr/>
        </p:nvSpPr>
        <p:spPr>
          <a:xfrm>
            <a:off x="6035040" y="2788920"/>
            <a:ext cx="2514599" cy="2697480"/>
          </a:xfrm>
          <a:prstGeom prst="rect">
            <a:avLst/>
          </a:prstGeom>
          <a:solidFill>
            <a:srgbClr val="FFFFFF"/>
          </a:solidFill>
          <a:ln w="12700">
            <a:solidFill>
              <a:srgbClr val="C9CAD3"/>
            </a:solidFill>
          </a:ln>
          <a:effectLst/>
        </p:spPr>
        <p:txBody>
          <a:bodyPr rtlCol="0" anchor="ctr"/>
          <a:lstStyle/>
          <a:p/>
        </p:txBody>
      </p:sp>
      <p:sp>
        <p:nvSpPr>
          <p:cNvPr id="17" name="Protocol text"/>
          <p:cNvSpPr txBox="1"/>
          <p:nvPr/>
        </p:nvSpPr>
        <p:spPr>
          <a:xfrm>
            <a:off x="6172200" y="2898648"/>
            <a:ext cx="2240279" cy="3063240"/>
          </a:xfrm>
          <a:prstGeom prst="rect">
            <a:avLst/>
          </a:prstGeom>
          <a:noFill/>
        </p:spPr>
        <p:txBody>
          <a:bodyPr wrap="square" anchor="t" lIns="0" rIns="0" tIns="0" bIns="0">
            <a:spAutoFit/>
          </a:bodyPr>
          <a:lstStyle/>
          <a:p>
            <a:pPr algn="l">
              <a:spcAft>
                <a:spcPts val="600"/>
              </a:spcAft>
            </a:pPr>
            <a:r>
              <a:rPr sz="1600" b="1" i="0">
                <a:solidFill>
                  <a:srgbClr val="343174"/>
                </a:solidFill>
                <a:latin typeface="Calibri"/>
              </a:rPr>
              <a:t>Evaluation protocol</a:t>
            </a:r>
          </a:p>
          <a:p>
            <a:pPr algn="l" marL="201168" indent="-201168">
              <a:spcAft>
                <a:spcPts val="600"/>
              </a:spcAft>
              <a:buClr>
                <a:srgbClr val="343174"/>
              </a:buClr>
              <a:buFont typeface="Arial"/>
              <a:buChar char="•"/>
            </a:pPr>
            <a:r>
              <a:rPr sz="1400" b="0" i="0">
                <a:solidFill>
                  <a:srgbClr val="22222A"/>
                </a:solidFill>
                <a:latin typeface="Calibri"/>
              </a:rPr>
              <a:t>GroupKFold, 4 folds by course presentation</a:t>
            </a:r>
          </a:p>
          <a:p>
            <a:pPr algn="l" marL="201168" indent="-201168">
              <a:spcAft>
                <a:spcPts val="600"/>
              </a:spcAft>
              <a:buClr>
                <a:srgbClr val="343174"/>
              </a:buClr>
              <a:buFont typeface="Arial"/>
              <a:buChar char="•"/>
            </a:pPr>
            <a:r>
              <a:rPr sz="1400" b="0" i="0">
                <a:solidFill>
                  <a:srgbClr val="22222A"/>
                </a:solidFill>
                <a:latin typeface="Calibri"/>
              </a:rPr>
              <a:t>Out-of-fold predictions for all 32,593 rows</a:t>
            </a:r>
          </a:p>
          <a:p>
            <a:pPr algn="l" marL="201168" indent="-201168">
              <a:spcAft>
                <a:spcPts val="600"/>
              </a:spcAft>
              <a:buClr>
                <a:srgbClr val="343174"/>
              </a:buClr>
              <a:buFont typeface="Arial"/>
              <a:buChar char="•"/>
            </a:pPr>
            <a:r>
              <a:rPr sz="1400" b="0" i="0">
                <a:solidFill>
                  <a:srgbClr val="22222A"/>
                </a:solidFill>
                <a:latin typeface="Calibri"/>
              </a:rPr>
              <a:t>300 trees, depth 5, no tuning or resampling</a:t>
            </a:r>
          </a:p>
          <a:p>
            <a:pPr algn="l" marL="201168" indent="-201168">
              <a:spcAft>
                <a:spcPts val="600"/>
              </a:spcAft>
              <a:buClr>
                <a:srgbClr val="343174"/>
              </a:buClr>
              <a:buFont typeface="Arial"/>
              <a:buChar char="•"/>
            </a:pPr>
            <a:r>
              <a:rPr sz="1400" b="0" i="0">
                <a:solidFill>
                  <a:srgbClr val="343174"/>
                </a:solidFill>
                <a:latin typeface="Calibri"/>
              </a:rPr>
              <a:t>Retrospective: features span the full presentation</a:t>
            </a:r>
          </a:p>
        </p:txBody>
      </p:sp>
      <p:sp>
        <p:nvSpPr>
          <p:cNvPr id="18" name="Recall callout"/>
          <p:cNvSpPr txBox="1"/>
          <p:nvPr/>
        </p:nvSpPr>
        <p:spPr>
          <a:xfrm>
            <a:off x="2240280" y="4846320"/>
            <a:ext cx="3566160" cy="1097280"/>
          </a:xfrm>
          <a:prstGeom prst="rect">
            <a:avLst/>
          </a:prstGeom>
          <a:noFill/>
        </p:spPr>
        <p:txBody>
          <a:bodyPr wrap="square" anchor="t" lIns="0" rIns="0" tIns="0" bIns="0">
            <a:spAutoFit/>
          </a:bodyPr>
          <a:lstStyle/>
          <a:p>
            <a:pPr algn="l">
              <a:spcAft>
                <a:spcPts val="0"/>
              </a:spcAft>
            </a:pPr>
            <a:r>
              <a:rPr sz="2000" b="1" i="0">
                <a:solidFill>
                  <a:srgbClr val="343174"/>
                </a:solidFill>
                <a:latin typeface="Calibri"/>
              </a:rPr>
              <a:t>15,634 of 17,208</a:t>
            </a:r>
          </a:p>
          <a:p>
            <a:pPr algn="l">
              <a:spcAft>
                <a:spcPts val="0"/>
              </a:spcAft>
            </a:pPr>
            <a:r>
              <a:rPr sz="1400" b="0" i="0">
                <a:solidFill>
                  <a:srgbClr val="555560"/>
                </a:solidFill>
                <a:latin typeface="Calibri"/>
              </a:rPr>
              <a:t>at-risk students correctly flagged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Comparing the Three Ensemble Models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13</a:t>
            </a:r>
          </a:p>
        </p:txBody>
      </p:sp>
      <p:graphicFrame>
        <p:nvGraphicFramePr>
          <p:cNvPr id="4" name="Model comparison"/>
          <p:cNvGraphicFramePr>
            <a:graphicFrameLocks noGrp="1"/>
          </p:cNvGraphicFramePr>
          <p:nvPr/>
        </p:nvGraphicFramePr>
        <p:xfrm>
          <a:off x="2240280" y="1371600"/>
          <a:ext cx="6309360" cy="1920240"/>
        </p:xfrm>
        <a:graphic>
          <a:graphicData uri="http://schemas.openxmlformats.org/drawingml/2006/table">
            <a:tbl>
              <a:tblPr firstRow="0" bandRow="0">
                <a:tableStyleId>{5C22544A-7EE6-4342-B048-85BDC9FD1C3A}</a:tableStyleId>
              </a:tblPr>
              <a:tblGrid>
                <a:gridCol w="2103120"/>
                <a:gridCol w="1051560"/>
                <a:gridCol w="1051560"/>
                <a:gridCol w="1051560"/>
                <a:gridCol w="1051560"/>
              </a:tblGrid>
              <a:tr h="480060">
                <a:tc>
                  <a:txBody>
                    <a:bodyPr wrap="square"/>
                    <a:lstStyle/>
                    <a:p>
                      <a:pPr algn="l"/>
                      <a:r>
                        <a:rPr sz="1500" b="1" i="0">
                          <a:solidFill>
                            <a:srgbClr val="FFFFFF"/>
                          </a:solidFill>
                          <a:latin typeface="Calibri"/>
                        </a:rPr>
                        <a:t>Model</a:t>
                      </a:r>
                    </a:p>
                  </a:txBody>
                  <a:tcPr marL="73152" marR="73152" marT="36576" marB="36576" anchor="ctr">
                    <a:solidFill>
                      <a:srgbClr val="343174"/>
                    </a:solidFill>
                  </a:tcPr>
                </a:tc>
                <a:tc>
                  <a:txBody>
                    <a:bodyPr wrap="square"/>
                    <a:lstStyle/>
                    <a:p>
                      <a:pPr algn="ctr"/>
                      <a:r>
                        <a:rPr sz="1500" b="1" i="0">
                          <a:solidFill>
                            <a:srgbClr val="FFFFFF"/>
                          </a:solidFill>
                          <a:latin typeface="Calibri"/>
                        </a:rPr>
                        <a:t>Accuracy</a:t>
                      </a:r>
                    </a:p>
                  </a:txBody>
                  <a:tcPr marL="73152" marR="73152" marT="36576" marB="36576" anchor="ctr">
                    <a:solidFill>
                      <a:srgbClr val="343174"/>
                    </a:solidFill>
                  </a:tcPr>
                </a:tc>
                <a:tc>
                  <a:txBody>
                    <a:bodyPr wrap="square"/>
                    <a:lstStyle/>
                    <a:p>
                      <a:pPr algn="ctr"/>
                      <a:r>
                        <a:rPr sz="1500" b="1" i="0">
                          <a:solidFill>
                            <a:srgbClr val="FFFFFF"/>
                          </a:solidFill>
                          <a:latin typeface="Calibri"/>
                        </a:rPr>
                        <a:t>Precision</a:t>
                      </a:r>
                    </a:p>
                  </a:txBody>
                  <a:tcPr marL="73152" marR="73152" marT="36576" marB="36576" anchor="ctr">
                    <a:solidFill>
                      <a:srgbClr val="343174"/>
                    </a:solidFill>
                  </a:tcPr>
                </a:tc>
                <a:tc>
                  <a:txBody>
                    <a:bodyPr wrap="square"/>
                    <a:lstStyle/>
                    <a:p>
                      <a:pPr algn="ctr"/>
                      <a:r>
                        <a:rPr sz="1500" b="1" i="0">
                          <a:solidFill>
                            <a:srgbClr val="FFFFFF"/>
                          </a:solidFill>
                          <a:latin typeface="Calibri"/>
                        </a:rPr>
                        <a:t>Recall</a:t>
                      </a:r>
                    </a:p>
                  </a:txBody>
                  <a:tcPr marL="73152" marR="73152" marT="36576" marB="36576" anchor="ctr">
                    <a:solidFill>
                      <a:srgbClr val="343174"/>
                    </a:solidFill>
                  </a:tcPr>
                </a:tc>
                <a:tc>
                  <a:txBody>
                    <a:bodyPr wrap="square"/>
                    <a:lstStyle/>
                    <a:p>
                      <a:pPr algn="ctr"/>
                      <a:r>
                        <a:rPr sz="1500" b="1" i="0">
                          <a:solidFill>
                            <a:srgbClr val="FFFFFF"/>
                          </a:solidFill>
                          <a:latin typeface="Calibri"/>
                        </a:rPr>
                        <a:t>F1-score</a:t>
                      </a:r>
                    </a:p>
                  </a:txBody>
                  <a:tcPr marL="73152" marR="73152" marT="36576" marB="36576" anchor="ctr">
                    <a:solidFill>
                      <a:srgbClr val="343174"/>
                    </a:solidFill>
                  </a:tcPr>
                </a:tc>
              </a:tr>
              <a:tr h="480060">
                <a:tc>
                  <a:txBody>
                    <a:bodyPr wrap="square"/>
                    <a:lstStyle/>
                    <a:p>
                      <a:pPr algn="l"/>
                      <a:r>
                        <a:rPr sz="1500" b="1" i="0">
                          <a:solidFill>
                            <a:srgbClr val="22222A"/>
                          </a:solidFill>
                          <a:latin typeface="Calibri"/>
                        </a:rPr>
                        <a:t>XGBoost (prototype)</a:t>
                      </a:r>
                    </a:p>
                  </a:txBody>
                  <a:tcPr marL="73152" marR="73152" marT="36576" marB="36576" anchor="ctr">
                    <a:solidFill>
                      <a:srgbClr val="FFFFFF"/>
                    </a:solidFill>
                  </a:tcPr>
                </a:tc>
                <a:tc>
                  <a:txBody>
                    <a:bodyPr wrap="square"/>
                    <a:lstStyle/>
                    <a:p>
                      <a:pPr algn="ctr"/>
                      <a:r>
                        <a:rPr sz="1500" b="0" i="0">
                          <a:solidFill>
                            <a:srgbClr val="22222A"/>
                          </a:solidFill>
                          <a:latin typeface="Calibri"/>
                        </a:rPr>
                        <a:t>0.877</a:t>
                      </a:r>
                    </a:p>
                  </a:txBody>
                  <a:tcPr marL="73152" marR="73152" marT="36576" marB="36576" anchor="ctr">
                    <a:solidFill>
                      <a:srgbClr val="FFFFFF"/>
                    </a:solidFill>
                  </a:tcPr>
                </a:tc>
                <a:tc>
                  <a:txBody>
                    <a:bodyPr wrap="square"/>
                    <a:lstStyle/>
                    <a:p>
                      <a:pPr algn="ctr"/>
                      <a:r>
                        <a:rPr sz="1500" b="0" i="0">
                          <a:solidFill>
                            <a:srgbClr val="22222A"/>
                          </a:solidFill>
                          <a:latin typeface="Calibri"/>
                        </a:rPr>
                        <a:t>0.866</a:t>
                      </a:r>
                    </a:p>
                  </a:txBody>
                  <a:tcPr marL="73152" marR="73152" marT="36576" marB="36576" anchor="ctr">
                    <a:solidFill>
                      <a:srgbClr val="FFFFFF"/>
                    </a:solidFill>
                  </a:tcPr>
                </a:tc>
                <a:tc>
                  <a:txBody>
                    <a:bodyPr wrap="square"/>
                    <a:lstStyle/>
                    <a:p>
                      <a:pPr algn="ctr"/>
                      <a:r>
                        <a:rPr sz="1500" b="1" i="0">
                          <a:solidFill>
                            <a:srgbClr val="22222A"/>
                          </a:solidFill>
                          <a:latin typeface="Calibri"/>
                        </a:rPr>
                        <a:t>0.909</a:t>
                      </a:r>
                    </a:p>
                  </a:txBody>
                  <a:tcPr marL="73152" marR="73152" marT="36576" marB="36576" anchor="ctr">
                    <a:solidFill>
                      <a:srgbClr val="DCDDEA"/>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r>
              <a:tr h="480060">
                <a:tc>
                  <a:txBody>
                    <a:bodyPr wrap="square"/>
                    <a:lstStyle/>
                    <a:p>
                      <a:pPr algn="l"/>
                      <a:r>
                        <a:rPr sz="1500" b="1" i="0">
                          <a:solidFill>
                            <a:srgbClr val="22222A"/>
                          </a:solidFill>
                          <a:latin typeface="Calibri"/>
                        </a:rPr>
                        <a:t>Random Forest</a:t>
                      </a:r>
                    </a:p>
                  </a:txBody>
                  <a:tcPr marL="73152" marR="73152" marT="36576" marB="36576" anchor="ctr">
                    <a:solidFill>
                      <a:srgbClr val="F6F6FA"/>
                    </a:solidFill>
                  </a:tcPr>
                </a:tc>
                <a:tc>
                  <a:txBody>
                    <a:bodyPr wrap="square"/>
                    <a:lstStyle/>
                    <a:p>
                      <a:pPr algn="ctr"/>
                      <a:r>
                        <a:rPr sz="1500" b="1" i="0">
                          <a:solidFill>
                            <a:srgbClr val="22222A"/>
                          </a:solidFill>
                          <a:latin typeface="Calibri"/>
                        </a:rPr>
                        <a:t>0.892</a:t>
                      </a:r>
                    </a:p>
                  </a:txBody>
                  <a:tcPr marL="73152" marR="73152" marT="36576" marB="36576" anchor="ctr">
                    <a:solidFill>
                      <a:srgbClr val="DCDDEA"/>
                    </a:solidFill>
                  </a:tcPr>
                </a:tc>
                <a:tc>
                  <a:txBody>
                    <a:bodyPr wrap="square"/>
                    <a:lstStyle/>
                    <a:p>
                      <a:pPr algn="ctr"/>
                      <a:r>
                        <a:rPr sz="1500" b="1" i="0">
                          <a:solidFill>
                            <a:srgbClr val="22222A"/>
                          </a:solidFill>
                          <a:latin typeface="Calibri"/>
                        </a:rPr>
                        <a:t>0.900</a:t>
                      </a:r>
                    </a:p>
                  </a:txBody>
                  <a:tcPr marL="73152" marR="73152" marT="36576" marB="36576" anchor="ctr">
                    <a:solidFill>
                      <a:srgbClr val="DCDDEA"/>
                    </a:solidFill>
                  </a:tcPr>
                </a:tc>
                <a:tc>
                  <a:txBody>
                    <a:bodyPr wrap="square"/>
                    <a:lstStyle/>
                    <a:p>
                      <a:pPr algn="ctr"/>
                      <a:r>
                        <a:rPr sz="1500" b="0" i="0">
                          <a:solidFill>
                            <a:srgbClr val="22222A"/>
                          </a:solidFill>
                          <a:latin typeface="Calibri"/>
                        </a:rPr>
                        <a:t>0.896</a:t>
                      </a:r>
                    </a:p>
                  </a:txBody>
                  <a:tcPr marL="73152" marR="73152" marT="36576" marB="36576" anchor="ctr">
                    <a:solidFill>
                      <a:srgbClr val="F6F6FA"/>
                    </a:solidFill>
                  </a:tcPr>
                </a:tc>
                <a:tc>
                  <a:txBody>
                    <a:bodyPr wrap="square"/>
                    <a:lstStyle/>
                    <a:p>
                      <a:pPr algn="ctr"/>
                      <a:r>
                        <a:rPr sz="1500" b="1" i="0">
                          <a:solidFill>
                            <a:srgbClr val="22222A"/>
                          </a:solidFill>
                          <a:latin typeface="Calibri"/>
                        </a:rPr>
                        <a:t>0.898</a:t>
                      </a:r>
                    </a:p>
                  </a:txBody>
                  <a:tcPr marL="73152" marR="73152" marT="36576" marB="36576" anchor="ctr">
                    <a:solidFill>
                      <a:srgbClr val="DCDDEA"/>
                    </a:solidFill>
                  </a:tcPr>
                </a:tc>
              </a:tr>
              <a:tr h="480060">
                <a:tc>
                  <a:txBody>
                    <a:bodyPr wrap="square"/>
                    <a:lstStyle/>
                    <a:p>
                      <a:pPr algn="l"/>
                      <a:r>
                        <a:rPr sz="1500" b="1" i="0">
                          <a:solidFill>
                            <a:srgbClr val="22222A"/>
                          </a:solidFill>
                          <a:latin typeface="Calibri"/>
                        </a:rPr>
                        <a:t>Gradient Boosting</a:t>
                      </a:r>
                    </a:p>
                  </a:txBody>
                  <a:tcPr marL="73152" marR="73152" marT="36576" marB="36576" anchor="ctr">
                    <a:solidFill>
                      <a:srgbClr val="FFFFFF"/>
                    </a:solidFill>
                  </a:tcPr>
                </a:tc>
                <a:tc>
                  <a:txBody>
                    <a:bodyPr wrap="square"/>
                    <a:lstStyle/>
                    <a:p>
                      <a:pPr algn="ctr"/>
                      <a:r>
                        <a:rPr sz="1500" b="0" i="0">
                          <a:solidFill>
                            <a:srgbClr val="22222A"/>
                          </a:solidFill>
                          <a:latin typeface="Calibri"/>
                        </a:rPr>
                        <a:t>0.887</a:t>
                      </a:r>
                    </a:p>
                  </a:txBody>
                  <a:tcPr marL="73152" marR="73152" marT="36576" marB="36576" anchor="ctr">
                    <a:solidFill>
                      <a:srgbClr val="FFFFFF"/>
                    </a:solidFill>
                  </a:tcPr>
                </a:tc>
                <a:tc>
                  <a:txBody>
                    <a:bodyPr wrap="square"/>
                    <a:lstStyle/>
                    <a:p>
                      <a:pPr algn="ctr"/>
                      <a:r>
                        <a:rPr sz="1500" b="0" i="0">
                          <a:solidFill>
                            <a:srgbClr val="22222A"/>
                          </a:solidFill>
                          <a:latin typeface="Calibri"/>
                        </a:rPr>
                        <a:t>0.890</a:t>
                      </a:r>
                    </a:p>
                  </a:txBody>
                  <a:tcPr marL="73152" marR="73152" marT="36576" marB="36576" anchor="ctr">
                    <a:solidFill>
                      <a:srgbClr val="FFFFFF"/>
                    </a:solidFill>
                  </a:tcPr>
                </a:tc>
                <a:tc>
                  <a:txBody>
                    <a:bodyPr wrap="square"/>
                    <a:lstStyle/>
                    <a:p>
                      <a:pPr algn="ctr"/>
                      <a:r>
                        <a:rPr sz="1500" b="0" i="0">
                          <a:solidFill>
                            <a:srgbClr val="22222A"/>
                          </a:solidFill>
                          <a:latin typeface="Calibri"/>
                        </a:rPr>
                        <a:t>0.896</a:t>
                      </a:r>
                    </a:p>
                  </a:txBody>
                  <a:tcPr marL="73152" marR="73152" marT="36576" marB="36576" anchor="ctr">
                    <a:solidFill>
                      <a:srgbClr val="FFFFFF"/>
                    </a:solidFill>
                  </a:tcPr>
                </a:tc>
                <a:tc>
                  <a:txBody>
                    <a:bodyPr wrap="square"/>
                    <a:lstStyle/>
                    <a:p>
                      <a:pPr algn="ctr"/>
                      <a:r>
                        <a:rPr sz="1500" b="0" i="0">
                          <a:solidFill>
                            <a:srgbClr val="22222A"/>
                          </a:solidFill>
                          <a:latin typeface="Calibri"/>
                        </a:rPr>
                        <a:t>0.893</a:t>
                      </a:r>
                    </a:p>
                  </a:txBody>
                  <a:tcPr marL="73152" marR="73152" marT="36576" marB="36576" anchor="ctr">
                    <a:solidFill>
                      <a:srgbClr val="FFFFFF"/>
                    </a:solidFill>
                  </a:tcPr>
                </a:tc>
              </a:tr>
            </a:tbl>
          </a:graphicData>
        </a:graphic>
      </p:graphicFrame>
      <p:sp>
        <p:nvSpPr>
          <p:cNvPr id="5" name="Table note"/>
          <p:cNvSpPr txBox="1"/>
          <p:nvPr/>
        </p:nvSpPr>
        <p:spPr>
          <a:xfrm>
            <a:off x="2240280" y="3337560"/>
            <a:ext cx="6309359" cy="274320"/>
          </a:xfrm>
          <a:prstGeom prst="rect">
            <a:avLst/>
          </a:prstGeom>
          <a:noFill/>
        </p:spPr>
        <p:txBody>
          <a:bodyPr wrap="square" anchor="t" lIns="0" rIns="0" tIns="0" bIns="0">
            <a:spAutoFit/>
          </a:bodyPr>
          <a:lstStyle/>
          <a:p>
            <a:pPr algn="l">
              <a:spcAft>
                <a:spcPts val="600"/>
              </a:spcAft>
            </a:pPr>
            <a:r>
              <a:rPr sz="1200" b="0" i="1">
                <a:solidFill>
                  <a:srgbClr val="555560"/>
                </a:solidFill>
                <a:latin typeface="Calibri"/>
              </a:rPr>
              <a:t>Shaded: best value in each column</a:t>
            </a:r>
          </a:p>
        </p:txBody>
      </p:sp>
      <p:sp>
        <p:nvSpPr>
          <p:cNvPr id="6" name="Takeaway card 1"/>
          <p:cNvSpPr/>
          <p:nvPr/>
        </p:nvSpPr>
        <p:spPr>
          <a:xfrm>
            <a:off x="2240280" y="3840480"/>
            <a:ext cx="3040379" cy="1371600"/>
          </a:xfrm>
          <a:prstGeom prst="rect">
            <a:avLst/>
          </a:prstGeom>
          <a:solidFill>
            <a:srgbClr val="F2F2F5"/>
          </a:solidFill>
          <a:ln>
            <a:noFill/>
          </a:ln>
          <a:effectLst/>
        </p:spPr>
        <p:txBody>
          <a:bodyPr rtlCol="0" anchor="ctr"/>
          <a:lstStyle/>
          <a:p/>
        </p:txBody>
      </p:sp>
      <p:sp>
        <p:nvSpPr>
          <p:cNvPr id="7" name="Takeaway text 1"/>
          <p:cNvSpPr txBox="1"/>
          <p:nvPr/>
        </p:nvSpPr>
        <p:spPr>
          <a:xfrm>
            <a:off x="240487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Random Forest</a:t>
            </a:r>
          </a:p>
          <a:p>
            <a:pPr algn="l">
              <a:spcAft>
                <a:spcPts val="600"/>
              </a:spcAft>
            </a:pPr>
            <a:r>
              <a:rPr sz="1500" b="0" i="0">
                <a:solidFill>
                  <a:srgbClr val="22222A"/>
                </a:solidFill>
                <a:latin typeface="Calibri"/>
              </a:rPr>
              <a:t>Highest F1 (0.898), accuracy and precision</a:t>
            </a:r>
          </a:p>
        </p:txBody>
      </p:sp>
      <p:sp>
        <p:nvSpPr>
          <p:cNvPr id="8" name="Takeaway card 2"/>
          <p:cNvSpPr/>
          <p:nvPr/>
        </p:nvSpPr>
        <p:spPr>
          <a:xfrm>
            <a:off x="5509260" y="3840480"/>
            <a:ext cx="3040379" cy="1371600"/>
          </a:xfrm>
          <a:prstGeom prst="rect">
            <a:avLst/>
          </a:prstGeom>
          <a:solidFill>
            <a:srgbClr val="F2F2F5"/>
          </a:solidFill>
          <a:ln>
            <a:noFill/>
          </a:ln>
          <a:effectLst/>
        </p:spPr>
        <p:txBody>
          <a:bodyPr rtlCol="0" anchor="ctr"/>
          <a:lstStyle/>
          <a:p/>
        </p:txBody>
      </p:sp>
      <p:sp>
        <p:nvSpPr>
          <p:cNvPr id="9" name="Takeaway text 2"/>
          <p:cNvSpPr txBox="1"/>
          <p:nvPr/>
        </p:nvSpPr>
        <p:spPr>
          <a:xfrm>
            <a:off x="5673852" y="3959352"/>
            <a:ext cx="2711196" cy="1554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XGBoost: kept</a:t>
            </a:r>
          </a:p>
          <a:p>
            <a:pPr algn="l">
              <a:spcAft>
                <a:spcPts val="600"/>
              </a:spcAft>
            </a:pPr>
            <a:r>
              <a:rPr sz="1500" b="0" i="0">
                <a:solidFill>
                  <a:srgbClr val="22222A"/>
                </a:solidFill>
                <a:latin typeface="Calibri"/>
              </a:rPr>
              <a:t>Highest recall (0.909), the pre-set selection criterion: a missed at-risk student gets no support</a:t>
            </a:r>
          </a:p>
        </p:txBody>
      </p:sp>
      <p:sp>
        <p:nvSpPr>
          <p:cNvPr id="10" name="Gap note"/>
          <p:cNvSpPr txBox="1"/>
          <p:nvPr/>
        </p:nvSpPr>
        <p:spPr>
          <a:xfrm>
            <a:off x="2240280" y="5394960"/>
            <a:ext cx="6309359" cy="365760"/>
          </a:xfrm>
          <a:prstGeom prst="rect">
            <a:avLst/>
          </a:prstGeom>
          <a:noFill/>
        </p:spPr>
        <p:txBody>
          <a:bodyPr wrap="square" anchor="t" lIns="0" rIns="0" tIns="0" bIns="0">
            <a:spAutoFit/>
          </a:bodyPr>
          <a:lstStyle/>
          <a:p>
            <a:pPr algn="l">
              <a:spcAft>
                <a:spcPts val="600"/>
              </a:spcAft>
            </a:pPr>
            <a:r>
              <a:rPr sz="1400" b="0" i="0">
                <a:solidFill>
                  <a:srgbClr val="555560"/>
                </a:solidFill>
                <a:latin typeface="Calibri"/>
              </a:rPr>
              <a:t>F1 gap between best and worst model: 0.011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Variability Across Course Presentations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14</a:t>
            </a:r>
          </a:p>
        </p:txBody>
      </p:sp>
      <p:graphicFrame>
        <p:nvGraphicFramePr>
          <p:cNvPr id="4" name="Presentation chart"/>
          <p:cNvGraphicFramePr>
            <a:graphicFrameLocks noGrp="1"/>
          </p:cNvGraphicFramePr>
          <p:nvPr/>
        </p:nvGraphicFramePr>
        <p:xfrm>
          <a:off x="2240280" y="1325880"/>
          <a:ext cx="6309359" cy="3063240"/>
        </p:xfrm>
        <a:graphic>
          <a:graphicData uri="http://schemas.openxmlformats.org/drawingml/2006/chart">
            <c:chart xmlns:c="http://schemas.openxmlformats.org/drawingml/2006/chart" r:id="rId3"/>
          </a:graphicData>
        </a:graphic>
      </p:graphicFrame>
      <p:sp>
        <p:nvSpPr>
          <p:cNvPr id="5" name="Point label 1"/>
          <p:cNvSpPr txBox="1"/>
          <p:nvPr/>
        </p:nvSpPr>
        <p:spPr>
          <a:xfrm>
            <a:off x="2240280" y="452628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2013</a:t>
            </a:r>
          </a:p>
        </p:txBody>
      </p:sp>
      <p:sp>
        <p:nvSpPr>
          <p:cNvPr id="6" name="Point text 1"/>
          <p:cNvSpPr txBox="1"/>
          <p:nvPr/>
        </p:nvSpPr>
        <p:spPr>
          <a:xfrm>
            <a:off x="3108960" y="452628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Precision above 0.95, recall 0.86 to 0.88</a:t>
            </a:r>
          </a:p>
        </p:txBody>
      </p:sp>
      <p:sp>
        <p:nvSpPr>
          <p:cNvPr id="7" name="Point label 2"/>
          <p:cNvSpPr txBox="1"/>
          <p:nvPr/>
        </p:nvSpPr>
        <p:spPr>
          <a:xfrm>
            <a:off x="2240280" y="502920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2014</a:t>
            </a:r>
          </a:p>
        </p:txBody>
      </p:sp>
      <p:sp>
        <p:nvSpPr>
          <p:cNvPr id="8" name="Point text 2"/>
          <p:cNvSpPr txBox="1"/>
          <p:nvPr/>
        </p:nvSpPr>
        <p:spPr>
          <a:xfrm>
            <a:off x="3108960" y="502920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Recall up to 0.963, precision 0.81 to 0.82</a:t>
            </a:r>
          </a:p>
        </p:txBody>
      </p:sp>
      <p:sp>
        <p:nvSpPr>
          <p:cNvPr id="9" name="Point label 3"/>
          <p:cNvSpPr txBox="1"/>
          <p:nvPr/>
        </p:nvSpPr>
        <p:spPr>
          <a:xfrm>
            <a:off x="2240280" y="5532120"/>
            <a:ext cx="822960" cy="457200"/>
          </a:xfrm>
          <a:prstGeom prst="rect">
            <a:avLst/>
          </a:prstGeom>
          <a:noFill/>
        </p:spPr>
        <p:txBody>
          <a:bodyPr wrap="square" anchor="ctr" lIns="0" rIns="0" tIns="0" bIns="0">
            <a:spAutoFit/>
          </a:bodyPr>
          <a:lstStyle/>
          <a:p>
            <a:pPr algn="l">
              <a:spcAft>
                <a:spcPts val="600"/>
              </a:spcAft>
            </a:pPr>
            <a:r>
              <a:rPr sz="1500" b="1" i="0">
                <a:solidFill>
                  <a:srgbClr val="343174"/>
                </a:solidFill>
                <a:latin typeface="Calibri"/>
              </a:rPr>
              <a:t>Range</a:t>
            </a:r>
          </a:p>
        </p:txBody>
      </p:sp>
      <p:sp>
        <p:nvSpPr>
          <p:cNvPr id="10" name="Point text 3"/>
          <p:cNvSpPr txBox="1"/>
          <p:nvPr/>
        </p:nvSpPr>
        <p:spPr>
          <a:xfrm>
            <a:off x="3108960" y="5532120"/>
            <a:ext cx="5440679" cy="45720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Accuracy 0.846 to 0.916: generalise pooled figures with care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Explainability: SHAP and LIME</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15</a:t>
            </a:r>
          </a:p>
        </p:txBody>
      </p:sp>
      <p:pic>
        <p:nvPicPr>
          <p:cNvPr id="4" name="SHAP and LIME top 10" descr="image13.png"/>
          <p:cNvPicPr>
            <a:picLocks noChangeAspect="1"/>
          </p:cNvPicPr>
          <p:nvPr/>
        </p:nvPicPr>
        <p:blipFill>
          <a:blip r:embed="rId3"/>
          <a:stretch>
            <a:fillRect/>
          </a:stretch>
        </p:blipFill>
        <p:spPr>
          <a:xfrm>
            <a:off x="2240280" y="1325880"/>
            <a:ext cx="6309359" cy="2366010"/>
          </a:xfrm>
          <a:prstGeom prst="rect">
            <a:avLst/>
          </a:prstGeom>
        </p:spPr>
      </p:pic>
      <p:sp>
        <p:nvSpPr>
          <p:cNvPr id="5" name="Finding card 1"/>
          <p:cNvSpPr/>
          <p:nvPr/>
        </p:nvSpPr>
        <p:spPr>
          <a:xfrm>
            <a:off x="2240280" y="3874770"/>
            <a:ext cx="1981199" cy="1234440"/>
          </a:xfrm>
          <a:prstGeom prst="rect">
            <a:avLst/>
          </a:prstGeom>
          <a:solidFill>
            <a:srgbClr val="F2F2F5"/>
          </a:solidFill>
          <a:ln>
            <a:noFill/>
          </a:ln>
          <a:effectLst/>
        </p:spPr>
        <p:txBody>
          <a:bodyPr rtlCol="0" anchor="ctr"/>
          <a:lstStyle/>
          <a:p/>
        </p:txBody>
      </p:sp>
      <p:sp>
        <p:nvSpPr>
          <p:cNvPr id="6" name="Finding 1"/>
          <p:cNvSpPr txBox="1"/>
          <p:nvPr/>
        </p:nvSpPr>
        <p:spPr>
          <a:xfrm>
            <a:off x="233172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#1</a:t>
            </a:r>
          </a:p>
          <a:p>
            <a:pPr algn="ctr">
              <a:spcAft>
                <a:spcPts val="0"/>
              </a:spcAft>
            </a:pPr>
            <a:r>
              <a:rPr sz="1300" b="0" i="0">
                <a:solidFill>
                  <a:srgbClr val="22222A"/>
                </a:solidFill>
                <a:latin typeface="Calibri"/>
              </a:rPr>
              <a:t>Assessments submitted leads in both methods</a:t>
            </a:r>
          </a:p>
        </p:txBody>
      </p:sp>
      <p:sp>
        <p:nvSpPr>
          <p:cNvPr id="7" name="Finding card 2"/>
          <p:cNvSpPr/>
          <p:nvPr/>
        </p:nvSpPr>
        <p:spPr>
          <a:xfrm>
            <a:off x="4404360" y="3874770"/>
            <a:ext cx="1981199" cy="1234440"/>
          </a:xfrm>
          <a:prstGeom prst="rect">
            <a:avLst/>
          </a:prstGeom>
          <a:solidFill>
            <a:srgbClr val="F2F2F5"/>
          </a:solidFill>
          <a:ln>
            <a:noFill/>
          </a:ln>
          <a:effectLst/>
        </p:spPr>
        <p:txBody>
          <a:bodyPr rtlCol="0" anchor="ctr"/>
          <a:lstStyle/>
          <a:p/>
        </p:txBody>
      </p:sp>
      <p:sp>
        <p:nvSpPr>
          <p:cNvPr id="8" name="Finding 2"/>
          <p:cNvSpPr txBox="1"/>
          <p:nvPr/>
        </p:nvSpPr>
        <p:spPr>
          <a:xfrm>
            <a:off x="4495799"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6</a:t>
            </a:r>
          </a:p>
          <a:p>
            <a:pPr algn="ctr">
              <a:spcAft>
                <a:spcPts val="0"/>
              </a:spcAft>
            </a:pPr>
            <a:r>
              <a:rPr sz="1300" b="0" i="0">
                <a:solidFill>
                  <a:srgbClr val="22222A"/>
                </a:solidFill>
                <a:latin typeface="Calibri"/>
              </a:rPr>
              <a:t>further features shared in each top 10</a:t>
            </a:r>
          </a:p>
        </p:txBody>
      </p:sp>
      <p:sp>
        <p:nvSpPr>
          <p:cNvPr id="9" name="Finding card 3"/>
          <p:cNvSpPr/>
          <p:nvPr/>
        </p:nvSpPr>
        <p:spPr>
          <a:xfrm>
            <a:off x="6568440" y="3874770"/>
            <a:ext cx="1981199" cy="1234440"/>
          </a:xfrm>
          <a:prstGeom prst="rect">
            <a:avLst/>
          </a:prstGeom>
          <a:solidFill>
            <a:srgbClr val="F2F2F5"/>
          </a:solidFill>
          <a:ln>
            <a:noFill/>
          </a:ln>
          <a:effectLst/>
        </p:spPr>
        <p:txBody>
          <a:bodyPr rtlCol="0" anchor="ctr"/>
          <a:lstStyle/>
          <a:p/>
        </p:txBody>
      </p:sp>
      <p:sp>
        <p:nvSpPr>
          <p:cNvPr id="10" name="Finding 3"/>
          <p:cNvSpPr txBox="1"/>
          <p:nvPr/>
        </p:nvSpPr>
        <p:spPr>
          <a:xfrm>
            <a:off x="6659880" y="3920489"/>
            <a:ext cx="1798320" cy="1143000"/>
          </a:xfrm>
          <a:prstGeom prst="rect">
            <a:avLst/>
          </a:prstGeom>
          <a:noFill/>
        </p:spPr>
        <p:txBody>
          <a:bodyPr wrap="square" anchor="ctr" lIns="0" rIns="0" tIns="0" bIns="0">
            <a:spAutoFit/>
          </a:bodyPr>
          <a:lstStyle/>
          <a:p>
            <a:pPr algn="ctr">
              <a:spcAft>
                <a:spcPts val="0"/>
              </a:spcAft>
            </a:pPr>
            <a:r>
              <a:rPr sz="2400" b="1" i="0">
                <a:solidFill>
                  <a:srgbClr val="343174"/>
                </a:solidFill>
                <a:latin typeface="Calibri"/>
              </a:rPr>
              <a:t>0.635</a:t>
            </a:r>
          </a:p>
          <a:p>
            <a:pPr algn="ctr">
              <a:spcAft>
                <a:spcPts val="0"/>
              </a:spcAft>
            </a:pPr>
            <a:r>
              <a:rPr sz="1300" b="0" i="0">
                <a:solidFill>
                  <a:srgbClr val="22222A"/>
                </a:solidFill>
                <a:latin typeface="Calibri"/>
              </a:rPr>
              <a:t>mean top-5 overlap per student (SD 0.197)</a:t>
            </a:r>
          </a:p>
        </p:txBody>
      </p:sp>
      <p:sp>
        <p:nvSpPr>
          <p:cNvPr id="11" name="Caution"/>
          <p:cNvSpPr txBox="1"/>
          <p:nvPr/>
        </p:nvSpPr>
        <p:spPr>
          <a:xfrm>
            <a:off x="2240280" y="5246370"/>
            <a:ext cx="6309359" cy="548640"/>
          </a:xfrm>
          <a:prstGeom prst="rect">
            <a:avLst/>
          </a:prstGeom>
          <a:noFill/>
        </p:spPr>
        <p:txBody>
          <a:bodyPr wrap="square" anchor="t" lIns="0" rIns="0" tIns="0" bIns="0">
            <a:spAutoFit/>
          </a:bodyPr>
          <a:lstStyle/>
          <a:p>
            <a:pPr algn="l">
              <a:spcAft>
                <a:spcPts val="600"/>
              </a:spcAft>
            </a:pPr>
            <a:r>
              <a:rPr sz="1500" b="0" i="1">
                <a:solidFill>
                  <a:srgbClr val="343174"/>
                </a:solidFill>
                <a:latin typeface="Calibri"/>
              </a:rPr>
              <a:t>Attributions describe how the model behaves, not what causes student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Role-Aware Dashboard: Three Views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16</a:t>
            </a:r>
          </a:p>
        </p:txBody>
      </p:sp>
      <p:pic>
        <p:nvPicPr>
          <p:cNvPr id="4" name="Instructor screenshot" descr="image14.png"/>
          <p:cNvPicPr>
            <a:picLocks noChangeAspect="1"/>
          </p:cNvPicPr>
          <p:nvPr/>
        </p:nvPicPr>
        <p:blipFill>
          <a:blip r:embed="rId3"/>
          <a:stretch>
            <a:fillRect/>
          </a:stretch>
        </p:blipFill>
        <p:spPr>
          <a:xfrm>
            <a:off x="2240280" y="1371600"/>
            <a:ext cx="2011679" cy="1127977"/>
          </a:xfrm>
          <a:prstGeom prst="rect">
            <a:avLst/>
          </a:prstGeom>
          <a:ln w="9525">
            <a:solidFill>
              <a:srgbClr val="C9CAD3"/>
            </a:solidFill>
          </a:ln>
        </p:spPr>
      </p:pic>
      <p:sp>
        <p:nvSpPr>
          <p:cNvPr id="5" name="Instructor name"/>
          <p:cNvSpPr txBox="1"/>
          <p:nvPr/>
        </p:nvSpPr>
        <p:spPr>
          <a:xfrm>
            <a:off x="2240280" y="2743200"/>
            <a:ext cx="2011679" cy="411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Instructor</a:t>
            </a:r>
          </a:p>
        </p:txBody>
      </p:sp>
      <p:sp>
        <p:nvSpPr>
          <p:cNvPr id="6" name="Instructor tag"/>
          <p:cNvSpPr/>
          <p:nvPr/>
        </p:nvSpPr>
        <p:spPr>
          <a:xfrm>
            <a:off x="2240280" y="3200400"/>
            <a:ext cx="1234440" cy="329184"/>
          </a:xfrm>
          <a:prstGeom prst="rect">
            <a:avLst/>
          </a:prstGeom>
          <a:solidFill>
            <a:srgbClr val="343174"/>
          </a:solidFill>
          <a:ln>
            <a:noFill/>
          </a:ln>
          <a:effectLst/>
        </p:spPr>
        <p:txBody>
          <a:bodyPr rtlCol="0" anchor="ctr"/>
          <a:lstStyle/>
          <a:p/>
        </p:txBody>
      </p:sp>
      <p:sp>
        <p:nvSpPr>
          <p:cNvPr id="7" name="Instructor tag text"/>
          <p:cNvSpPr txBox="1"/>
          <p:nvPr/>
        </p:nvSpPr>
        <p:spPr>
          <a:xfrm>
            <a:off x="2240280"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Individual</a:t>
            </a:r>
          </a:p>
        </p:txBody>
      </p:sp>
      <p:sp>
        <p:nvSpPr>
          <p:cNvPr id="8" name="Instructor detail"/>
          <p:cNvSpPr txBox="1"/>
          <p:nvPr/>
        </p:nvSpPr>
        <p:spPr>
          <a:xfrm>
            <a:off x="2240280"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Acts within a running course</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Per-student SHAP and LIME, side by side</a:t>
            </a:r>
          </a:p>
        </p:txBody>
      </p:sp>
      <p:pic>
        <p:nvPicPr>
          <p:cNvPr id="9" name="Advisor screenshot" descr="image9.png"/>
          <p:cNvPicPr>
            <a:picLocks noChangeAspect="1"/>
          </p:cNvPicPr>
          <p:nvPr/>
        </p:nvPicPr>
        <p:blipFill>
          <a:blip r:embed="rId4"/>
          <a:stretch>
            <a:fillRect/>
          </a:stretch>
        </p:blipFill>
        <p:spPr>
          <a:xfrm>
            <a:off x="4389120" y="1371600"/>
            <a:ext cx="2011679" cy="1092054"/>
          </a:xfrm>
          <a:prstGeom prst="rect">
            <a:avLst/>
          </a:prstGeom>
          <a:ln w="9525">
            <a:solidFill>
              <a:srgbClr val="C9CAD3"/>
            </a:solidFill>
          </a:ln>
        </p:spPr>
      </p:pic>
      <p:sp>
        <p:nvSpPr>
          <p:cNvPr id="10" name="Advisor name"/>
          <p:cNvSpPr txBox="1"/>
          <p:nvPr/>
        </p:nvSpPr>
        <p:spPr>
          <a:xfrm>
            <a:off x="4389120" y="2743200"/>
            <a:ext cx="2011679" cy="411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Advisor</a:t>
            </a:r>
          </a:p>
        </p:txBody>
      </p:sp>
      <p:sp>
        <p:nvSpPr>
          <p:cNvPr id="11" name="Advisor tag"/>
          <p:cNvSpPr/>
          <p:nvPr/>
        </p:nvSpPr>
        <p:spPr>
          <a:xfrm>
            <a:off x="4389120" y="3200400"/>
            <a:ext cx="1234440" cy="329184"/>
          </a:xfrm>
          <a:prstGeom prst="rect">
            <a:avLst/>
          </a:prstGeom>
          <a:solidFill>
            <a:srgbClr val="343174"/>
          </a:solidFill>
          <a:ln>
            <a:noFill/>
          </a:ln>
          <a:effectLst/>
        </p:spPr>
        <p:txBody>
          <a:bodyPr rtlCol="0" anchor="ctr"/>
          <a:lstStyle/>
          <a:p/>
        </p:txBody>
      </p:sp>
      <p:sp>
        <p:nvSpPr>
          <p:cNvPr id="12" name="Advisor tag text"/>
          <p:cNvSpPr txBox="1"/>
          <p:nvPr/>
        </p:nvSpPr>
        <p:spPr>
          <a:xfrm>
            <a:off x="4389120"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Caseload</a:t>
            </a:r>
          </a:p>
        </p:txBody>
      </p:sp>
      <p:sp>
        <p:nvSpPr>
          <p:cNvPr id="13" name="Advisor detail"/>
          <p:cNvSpPr txBox="1"/>
          <p:nvPr/>
        </p:nvSpPr>
        <p:spPr>
          <a:xfrm>
            <a:off x="4389120"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Prioritises a caseload, plans 1:1 talks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Reasoning averaged over flagged students</a:t>
            </a:r>
          </a:p>
        </p:txBody>
      </p:sp>
      <p:pic>
        <p:nvPicPr>
          <p:cNvPr id="14" name="Administrator screenshot" descr="image12.png"/>
          <p:cNvPicPr>
            <a:picLocks noChangeAspect="1"/>
          </p:cNvPicPr>
          <p:nvPr/>
        </p:nvPicPr>
        <p:blipFill>
          <a:blip r:embed="rId5"/>
          <a:stretch>
            <a:fillRect/>
          </a:stretch>
        </p:blipFill>
        <p:spPr>
          <a:xfrm>
            <a:off x="6537959" y="1371600"/>
            <a:ext cx="2011679" cy="1214192"/>
          </a:xfrm>
          <a:prstGeom prst="rect">
            <a:avLst/>
          </a:prstGeom>
          <a:ln w="9525">
            <a:solidFill>
              <a:srgbClr val="C9CAD3"/>
            </a:solidFill>
          </a:ln>
        </p:spPr>
      </p:pic>
      <p:sp>
        <p:nvSpPr>
          <p:cNvPr id="15" name="Administrator name"/>
          <p:cNvSpPr txBox="1"/>
          <p:nvPr/>
        </p:nvSpPr>
        <p:spPr>
          <a:xfrm>
            <a:off x="6537959" y="2743200"/>
            <a:ext cx="2011679" cy="411480"/>
          </a:xfrm>
          <a:prstGeom prst="rect">
            <a:avLst/>
          </a:prstGeom>
          <a:noFill/>
        </p:spPr>
        <p:txBody>
          <a:bodyPr wrap="square" anchor="t" lIns="0" rIns="0" tIns="0" bIns="0">
            <a:spAutoFit/>
          </a:bodyPr>
          <a:lstStyle/>
          <a:p>
            <a:pPr algn="l">
              <a:spcAft>
                <a:spcPts val="600"/>
              </a:spcAft>
            </a:pPr>
            <a:r>
              <a:rPr sz="1800" b="1" i="0">
                <a:solidFill>
                  <a:srgbClr val="343174"/>
                </a:solidFill>
                <a:latin typeface="Calibri"/>
              </a:rPr>
              <a:t>Administrator</a:t>
            </a:r>
          </a:p>
        </p:txBody>
      </p:sp>
      <p:sp>
        <p:nvSpPr>
          <p:cNvPr id="16" name="Administrator tag"/>
          <p:cNvSpPr/>
          <p:nvPr/>
        </p:nvSpPr>
        <p:spPr>
          <a:xfrm>
            <a:off x="6537959" y="3200400"/>
            <a:ext cx="1234440" cy="329184"/>
          </a:xfrm>
          <a:prstGeom prst="rect">
            <a:avLst/>
          </a:prstGeom>
          <a:solidFill>
            <a:srgbClr val="343174"/>
          </a:solidFill>
          <a:ln>
            <a:noFill/>
          </a:ln>
          <a:effectLst/>
        </p:spPr>
        <p:txBody>
          <a:bodyPr rtlCol="0" anchor="ctr"/>
          <a:lstStyle/>
          <a:p/>
        </p:txBody>
      </p:sp>
      <p:sp>
        <p:nvSpPr>
          <p:cNvPr id="17" name="Administrator tag text"/>
          <p:cNvSpPr txBox="1"/>
          <p:nvPr/>
        </p:nvSpPr>
        <p:spPr>
          <a:xfrm>
            <a:off x="6537959" y="3200400"/>
            <a:ext cx="1234440" cy="329184"/>
          </a:xfrm>
          <a:prstGeom prst="rect">
            <a:avLst/>
          </a:prstGeom>
          <a:noFill/>
        </p:spPr>
        <p:txBody>
          <a:bodyPr wrap="square" anchor="ctr" lIns="0" rIns="0" tIns="0" bIns="0">
            <a:spAutoFit/>
          </a:bodyPr>
          <a:lstStyle/>
          <a:p>
            <a:pPr algn="ctr">
              <a:spcAft>
                <a:spcPts val="600"/>
              </a:spcAft>
            </a:pPr>
            <a:r>
              <a:rPr sz="1300" b="1" i="0">
                <a:solidFill>
                  <a:srgbClr val="FFFFFF"/>
                </a:solidFill>
                <a:latin typeface="Calibri"/>
              </a:rPr>
              <a:t>Cohort</a:t>
            </a:r>
          </a:p>
        </p:txBody>
      </p:sp>
      <p:sp>
        <p:nvSpPr>
          <p:cNvPr id="18" name="Administrator detail"/>
          <p:cNvSpPr txBox="1"/>
          <p:nvPr/>
        </p:nvSpPr>
        <p:spPr>
          <a:xfrm>
            <a:off x="6537959" y="3657600"/>
            <a:ext cx="2011679" cy="1828800"/>
          </a:xfrm>
          <a:prstGeom prst="rect">
            <a:avLst/>
          </a:prstGeom>
          <a:noFill/>
        </p:spPr>
        <p:txBody>
          <a:bodyPr wrap="square" anchor="t" lIns="0" rIns="0" tIns="0" bIns="0">
            <a:spAutoFit/>
          </a:bodyPr>
          <a:lstStyle/>
          <a:p>
            <a:pPr algn="l">
              <a:spcAft>
                <a:spcPts val="300"/>
              </a:spcAft>
            </a:pPr>
            <a:r>
              <a:rPr sz="1200" b="1" i="0">
                <a:solidFill>
                  <a:srgbClr val="555560"/>
                </a:solidFill>
                <a:latin typeface="Calibri"/>
              </a:rPr>
              <a:t>Decision</a:t>
            </a:r>
          </a:p>
          <a:p>
            <a:pPr algn="l">
              <a:spcAft>
                <a:spcPts val="300"/>
              </a:spcAft>
            </a:pPr>
            <a:r>
              <a:rPr sz="1400" b="0" i="0">
                <a:solidFill>
                  <a:srgbClr val="22222A"/>
                </a:solidFill>
                <a:latin typeface="Calibri"/>
              </a:rPr>
              <a:t>Directs institutional resources</a:t>
            </a:r>
          </a:p>
          <a:p>
            <a:pPr algn="l">
              <a:spcAft>
                <a:spcPts val="300"/>
              </a:spcAft>
            </a:pPr>
            <a:r>
              <a:rPr sz="1200" b="1" i="0">
                <a:solidFill>
                  <a:srgbClr val="555560"/>
                </a:solidFill>
                <a:latin typeface="Calibri"/>
              </a:rPr>
              <a:t>Shows</a:t>
            </a:r>
          </a:p>
          <a:p>
            <a:pPr algn="l">
              <a:spcAft>
                <a:spcPts val="300"/>
              </a:spcAft>
            </a:pPr>
            <a:r>
              <a:rPr sz="1400" b="0" i="0">
                <a:solidFill>
                  <a:srgbClr val="22222A"/>
                </a:solidFill>
                <a:latin typeface="Calibri"/>
              </a:rPr>
              <a:t>Model performance and population-wide drivers</a:t>
            </a:r>
          </a:p>
        </p:txBody>
      </p:sp>
      <p:sp>
        <p:nvSpPr>
          <p:cNvPr id="19" name="Summary band"/>
          <p:cNvSpPr/>
          <p:nvPr/>
        </p:nvSpPr>
        <p:spPr>
          <a:xfrm>
            <a:off x="2240280" y="5486400"/>
            <a:ext cx="6309359" cy="548640"/>
          </a:xfrm>
          <a:prstGeom prst="rect">
            <a:avLst/>
          </a:prstGeom>
          <a:solidFill>
            <a:srgbClr val="F2F2F5"/>
          </a:solidFill>
          <a:ln>
            <a:noFill/>
          </a:ln>
          <a:effectLst/>
        </p:spPr>
        <p:txBody>
          <a:bodyPr rtlCol="0" anchor="ctr"/>
          <a:lstStyle/>
          <a:p/>
        </p:txBody>
      </p:sp>
      <p:sp>
        <p:nvSpPr>
          <p:cNvPr id="20" name="Summary text"/>
          <p:cNvSpPr txBox="1"/>
          <p:nvPr/>
        </p:nvSpPr>
        <p:spPr>
          <a:xfrm>
            <a:off x="2240280" y="5486400"/>
            <a:ext cx="6309359" cy="548640"/>
          </a:xfrm>
          <a:prstGeom prst="rect">
            <a:avLst/>
          </a:prstGeom>
          <a:noFill/>
        </p:spPr>
        <p:txBody>
          <a:bodyPr wrap="square" anchor="ctr" lIns="0" rIns="0" tIns="0" bIns="0">
            <a:spAutoFit/>
          </a:bodyPr>
          <a:lstStyle/>
          <a:p>
            <a:pPr algn="ctr">
              <a:spcAft>
                <a:spcPts val="600"/>
              </a:spcAft>
            </a:pPr>
            <a:r>
              <a:rPr sz="1600" b="1" i="0">
                <a:solidFill>
                  <a:srgbClr val="343174"/>
                </a:solidFill>
                <a:latin typeface="Calibri"/>
              </a:rPr>
              <a:t>Same prediction, different depth of explanation for each 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Instructor View in Detail</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17</a:t>
            </a:r>
          </a:p>
        </p:txBody>
      </p:sp>
      <p:pic>
        <p:nvPicPr>
          <p:cNvPr id="4" name="Instructor view screenshot" descr="image14.png"/>
          <p:cNvPicPr>
            <a:picLocks noChangeAspect="1"/>
          </p:cNvPicPr>
          <p:nvPr/>
        </p:nvPicPr>
        <p:blipFill>
          <a:blip r:embed="rId3"/>
          <a:stretch>
            <a:fillRect/>
          </a:stretch>
        </p:blipFill>
        <p:spPr>
          <a:xfrm>
            <a:off x="2240280" y="1325880"/>
            <a:ext cx="6309359" cy="3537748"/>
          </a:xfrm>
          <a:prstGeom prst="rect">
            <a:avLst/>
          </a:prstGeom>
          <a:ln w="9525">
            <a:solidFill>
              <a:srgbClr val="C9CAD3"/>
            </a:solidFill>
          </a:ln>
        </p:spPr>
      </p:pic>
      <p:sp>
        <p:nvSpPr>
          <p:cNvPr id="5" name="Callout 1"/>
          <p:cNvSpPr/>
          <p:nvPr/>
        </p:nvSpPr>
        <p:spPr>
          <a:xfrm>
            <a:off x="2240280" y="5092228"/>
            <a:ext cx="329184" cy="329184"/>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1</a:t>
            </a:r>
          </a:p>
        </p:txBody>
      </p:sp>
      <p:sp>
        <p:nvSpPr>
          <p:cNvPr id="6" name="Callout text 1"/>
          <p:cNvSpPr txBox="1"/>
          <p:nvPr/>
        </p:nvSpPr>
        <p:spPr>
          <a:xfrm>
            <a:off x="2697480" y="5073940"/>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Students ranked by predicted risk in the selected course</a:t>
            </a:r>
          </a:p>
        </p:txBody>
      </p:sp>
      <p:sp>
        <p:nvSpPr>
          <p:cNvPr id="7" name="Callout 2"/>
          <p:cNvSpPr/>
          <p:nvPr/>
        </p:nvSpPr>
        <p:spPr>
          <a:xfrm>
            <a:off x="2240280" y="5531140"/>
            <a:ext cx="329184" cy="329184"/>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2</a:t>
            </a:r>
          </a:p>
        </p:txBody>
      </p:sp>
      <p:sp>
        <p:nvSpPr>
          <p:cNvPr id="8" name="Callout text 2"/>
          <p:cNvSpPr txBox="1"/>
          <p:nvPr/>
        </p:nvSpPr>
        <p:spPr>
          <a:xfrm>
            <a:off x="2697480" y="5512852"/>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and LIME top 5 side by side, with direction of effect</a:t>
            </a:r>
          </a:p>
        </p:txBody>
      </p:sp>
      <p:sp>
        <p:nvSpPr>
          <p:cNvPr id="9" name="Callout 3"/>
          <p:cNvSpPr/>
          <p:nvPr/>
        </p:nvSpPr>
        <p:spPr>
          <a:xfrm>
            <a:off x="2240280" y="5970052"/>
            <a:ext cx="329184" cy="329184"/>
          </a:xfrm>
          <a:prstGeom prst="ellipse">
            <a:avLst/>
          </a:prstGeom>
          <a:solidFill>
            <a:srgbClr val="343174"/>
          </a:solidFill>
          <a:ln>
            <a:noFill/>
          </a:ln>
          <a:effectLst/>
        </p:spPr>
        <p:txBody>
          <a:bodyPr rtlCol="0" anchor="ctr" lIns="0" rIns="0" tIns="0" bIns="0"/>
          <a:lstStyle/>
          <a:p>
            <a:pPr algn="ctr"/>
            <a:r>
              <a:rPr sz="1300" b="1" i="0">
                <a:solidFill>
                  <a:srgbClr val="FFFFFF"/>
                </a:solidFill>
                <a:latin typeface="Calibri"/>
              </a:rPr>
              <a:t>3</a:t>
            </a:r>
          </a:p>
        </p:txBody>
      </p:sp>
      <p:sp>
        <p:nvSpPr>
          <p:cNvPr id="10" name="Callout text 3"/>
          <p:cNvSpPr txBox="1"/>
          <p:nvPr/>
        </p:nvSpPr>
        <p:spPr>
          <a:xfrm>
            <a:off x="2697480" y="5951764"/>
            <a:ext cx="5852159" cy="384048"/>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Agreement note: 4 of 5 top features shared for this student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Contributions</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18</a:t>
            </a:r>
          </a:p>
        </p:txBody>
      </p:sp>
      <p:sp>
        <p:nvSpPr>
          <p:cNvPr id="4" name="Number 1"/>
          <p:cNvSpPr/>
          <p:nvPr/>
        </p:nvSpPr>
        <p:spPr>
          <a:xfrm>
            <a:off x="2240280" y="1417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1</a:t>
            </a:r>
          </a:p>
        </p:txBody>
      </p:sp>
      <p:sp>
        <p:nvSpPr>
          <p:cNvPr id="5" name="Item 1"/>
          <p:cNvSpPr txBox="1"/>
          <p:nvPr/>
        </p:nvSpPr>
        <p:spPr>
          <a:xfrm>
            <a:off x="2880360" y="1399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Prediction and explanation in one running system</a:t>
            </a:r>
          </a:p>
          <a:p>
            <a:pPr algn="l">
              <a:spcAft>
                <a:spcPts val="200"/>
              </a:spcAft>
            </a:pPr>
            <a:r>
              <a:rPr sz="1500" b="0" i="0">
                <a:solidFill>
                  <a:srgbClr val="555560"/>
                </a:solidFill>
                <a:latin typeface="Calibri"/>
              </a:rPr>
              <a:t>The explanation layer serves the interface directly, not as an offline analysis.</a:t>
            </a:r>
          </a:p>
        </p:txBody>
      </p:sp>
      <p:sp>
        <p:nvSpPr>
          <p:cNvPr id="6" name="Number 2"/>
          <p:cNvSpPr/>
          <p:nvPr/>
        </p:nvSpPr>
        <p:spPr>
          <a:xfrm>
            <a:off x="2240280" y="2560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2</a:t>
            </a:r>
          </a:p>
        </p:txBody>
      </p:sp>
      <p:sp>
        <p:nvSpPr>
          <p:cNvPr id="7" name="Item 2"/>
          <p:cNvSpPr txBox="1"/>
          <p:nvPr/>
        </p:nvSpPr>
        <p:spPr>
          <a:xfrm>
            <a:off x="2880360" y="2542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Role-aware treatment of explanation</a:t>
            </a:r>
          </a:p>
          <a:p>
            <a:pPr algn="l">
              <a:spcAft>
                <a:spcPts val="200"/>
              </a:spcAft>
            </a:pPr>
            <a:r>
              <a:rPr sz="1500" b="0" i="0">
                <a:solidFill>
                  <a:srgbClr val="555560"/>
                </a:solidFill>
                <a:latin typeface="Calibri"/>
              </a:rPr>
              <a:t>Distinct views derived from each role's responsibilities and questions.</a:t>
            </a:r>
          </a:p>
        </p:txBody>
      </p:sp>
      <p:sp>
        <p:nvSpPr>
          <p:cNvPr id="8" name="Number 3"/>
          <p:cNvSpPr/>
          <p:nvPr/>
        </p:nvSpPr>
        <p:spPr>
          <a:xfrm>
            <a:off x="2240280" y="3703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3</a:t>
            </a:r>
          </a:p>
        </p:txBody>
      </p:sp>
      <p:sp>
        <p:nvSpPr>
          <p:cNvPr id="9" name="Item 3"/>
          <p:cNvSpPr txBox="1"/>
          <p:nvPr/>
        </p:nvSpPr>
        <p:spPr>
          <a:xfrm>
            <a:off x="2880360" y="3685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CommonKADS applied to explainable learning analytics</a:t>
            </a:r>
          </a:p>
          <a:p>
            <a:pPr algn="l">
              <a:spcAft>
                <a:spcPts val="200"/>
              </a:spcAft>
            </a:pPr>
            <a:r>
              <a:rPr sz="1500" b="0" i="0">
                <a:solidFill>
                  <a:srgbClr val="555560"/>
                </a:solidFill>
                <a:latin typeface="Calibri"/>
              </a:rPr>
              <a:t>Shows the design problem is largely a knowledge problem.</a:t>
            </a:r>
          </a:p>
        </p:txBody>
      </p:sp>
      <p:sp>
        <p:nvSpPr>
          <p:cNvPr id="10" name="Number 4"/>
          <p:cNvSpPr/>
          <p:nvPr/>
        </p:nvSpPr>
        <p:spPr>
          <a:xfrm>
            <a:off x="2240280" y="4846320"/>
            <a:ext cx="457200" cy="457200"/>
          </a:xfrm>
          <a:prstGeom prst="ellipse">
            <a:avLst/>
          </a:prstGeom>
          <a:solidFill>
            <a:srgbClr val="343174"/>
          </a:solidFill>
          <a:ln>
            <a:noFill/>
          </a:ln>
          <a:effectLst/>
        </p:spPr>
        <p:txBody>
          <a:bodyPr rtlCol="0" anchor="ctr" lIns="0" rIns="0" tIns="0" bIns="0"/>
          <a:lstStyle/>
          <a:p>
            <a:pPr algn="ctr"/>
            <a:r>
              <a:rPr sz="1500" b="1" i="0">
                <a:solidFill>
                  <a:srgbClr val="FFFFFF"/>
                </a:solidFill>
                <a:latin typeface="Calibri"/>
              </a:rPr>
              <a:t>4</a:t>
            </a:r>
          </a:p>
        </p:txBody>
      </p:sp>
      <p:sp>
        <p:nvSpPr>
          <p:cNvPr id="11" name="Item 4"/>
          <p:cNvSpPr txBox="1"/>
          <p:nvPr/>
        </p:nvSpPr>
        <p:spPr>
          <a:xfrm>
            <a:off x="2880360" y="4828032"/>
            <a:ext cx="5669279" cy="1097280"/>
          </a:xfrm>
          <a:prstGeom prst="rect">
            <a:avLst/>
          </a:prstGeom>
          <a:noFill/>
        </p:spPr>
        <p:txBody>
          <a:bodyPr wrap="square" anchor="t" lIns="0" rIns="0" tIns="0" bIns="0">
            <a:spAutoFit/>
          </a:bodyPr>
          <a:lstStyle/>
          <a:p>
            <a:pPr algn="l">
              <a:spcAft>
                <a:spcPts val="200"/>
              </a:spcAft>
            </a:pPr>
            <a:r>
              <a:rPr sz="1800" b="1" i="0">
                <a:solidFill>
                  <a:srgbClr val="22222A"/>
                </a:solidFill>
                <a:latin typeface="Calibri"/>
              </a:rPr>
              <a:t>Evidence on SHAP and LIME agreement</a:t>
            </a:r>
          </a:p>
          <a:p>
            <a:pPr algn="l">
              <a:spcAft>
                <a:spcPts val="200"/>
              </a:spcAft>
            </a:pPr>
            <a:r>
              <a:rPr sz="1500" b="0" i="0">
                <a:solidFill>
                  <a:srgbClr val="555560"/>
                </a:solidFill>
                <a:latin typeface="Calibri"/>
              </a:rPr>
              <a:t>Where the methods converge and differ, at global and local level.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Limitations and Future Work</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19</a:t>
            </a:r>
          </a:p>
        </p:txBody>
      </p:sp>
      <p:sp>
        <p:nvSpPr>
          <p:cNvPr id="4" name="Limitations card"/>
          <p:cNvSpPr/>
          <p:nvPr/>
        </p:nvSpPr>
        <p:spPr>
          <a:xfrm>
            <a:off x="2240280" y="1371600"/>
            <a:ext cx="3040379" cy="4572000"/>
          </a:xfrm>
          <a:prstGeom prst="rect">
            <a:avLst/>
          </a:prstGeom>
          <a:solidFill>
            <a:srgbClr val="F2F2F5"/>
          </a:solidFill>
          <a:ln>
            <a:noFill/>
          </a:ln>
          <a:effectLst/>
        </p:spPr>
        <p:txBody>
          <a:bodyPr rtlCol="0" anchor="ctr"/>
          <a:lstStyle/>
          <a:p/>
        </p:txBody>
      </p:sp>
      <p:sp>
        <p:nvSpPr>
          <p:cNvPr id="5" name="Limitations text"/>
          <p:cNvSpPr txBox="1"/>
          <p:nvPr/>
        </p:nvSpPr>
        <p:spPr>
          <a:xfrm>
            <a:off x="2423160" y="1554480"/>
            <a:ext cx="2674620" cy="4297680"/>
          </a:xfrm>
          <a:prstGeom prst="rect">
            <a:avLst/>
          </a:prstGeom>
          <a:noFill/>
        </p:spPr>
        <p:txBody>
          <a:bodyPr wrap="square" anchor="t" lIns="0" rIns="0" tIns="0" bIns="0">
            <a:spAutoFit/>
          </a:bodyPr>
          <a:lstStyle/>
          <a:p>
            <a:pPr algn="l">
              <a:spcAft>
                <a:spcPts val="1400"/>
              </a:spcAft>
            </a:pPr>
            <a:r>
              <a:rPr sz="2000" b="1" i="0">
                <a:solidFill>
                  <a:srgbClr val="343174"/>
                </a:solidFill>
                <a:latin typeface="Calibri"/>
              </a:rPr>
              <a:t>Limitations</a:t>
            </a:r>
          </a:p>
          <a:p>
            <a:pPr algn="l" marL="201168" indent="-201168">
              <a:spcAft>
                <a:spcPts val="1400"/>
              </a:spcAft>
              <a:buClr>
                <a:srgbClr val="343174"/>
              </a:buClr>
              <a:buFont typeface="Arial"/>
              <a:buChar char="•"/>
            </a:pPr>
            <a:r>
              <a:rPr sz="1700" b="0" i="0">
                <a:solidFill>
                  <a:srgbClr val="22222A"/>
                </a:solidFill>
                <a:latin typeface="Calibri"/>
              </a:rPr>
              <a:t>No practitioner data: trust, usability and decision quality untested</a:t>
            </a:r>
          </a:p>
          <a:p>
            <a:pPr algn="l" marL="201168" indent="-201168">
              <a:spcAft>
                <a:spcPts val="1400"/>
              </a:spcAft>
              <a:buClr>
                <a:srgbClr val="343174"/>
              </a:buClr>
              <a:buFont typeface="Arial"/>
              <a:buChar char="•"/>
            </a:pPr>
            <a:r>
              <a:rPr sz="1700" b="0" i="0">
                <a:solidFill>
                  <a:srgbClr val="22222A"/>
                </a:solidFill>
                <a:latin typeface="Calibri"/>
              </a:rPr>
              <a:t>Retrospective features: no early-warning point evaluated</a:t>
            </a:r>
          </a:p>
          <a:p>
            <a:pPr algn="l" marL="201168" indent="-201168">
              <a:spcAft>
                <a:spcPts val="1400"/>
              </a:spcAft>
              <a:buClr>
                <a:srgbClr val="343174"/>
              </a:buClr>
              <a:buFont typeface="Arial"/>
              <a:buChar char="•"/>
            </a:pPr>
            <a:r>
              <a:rPr sz="1700" b="0" i="0">
                <a:solidFill>
                  <a:srgbClr val="22222A"/>
                </a:solidFill>
                <a:latin typeface="Calibri"/>
              </a:rPr>
              <a:t>One dataset (OULAD) and context</a:t>
            </a:r>
          </a:p>
          <a:p>
            <a:pPr algn="l" marL="201168" indent="-201168">
              <a:spcAft>
                <a:spcPts val="1400"/>
              </a:spcAft>
              <a:buClr>
                <a:srgbClr val="343174"/>
              </a:buClr>
              <a:buFont typeface="Arial"/>
              <a:buChar char="•"/>
            </a:pPr>
            <a:r>
              <a:rPr sz="1700" b="0" i="0">
                <a:solidFill>
                  <a:srgbClr val="22222A"/>
                </a:solidFill>
                <a:latin typeface="Calibri"/>
              </a:rPr>
              <a:t>Stability, fidelity, calibration and fairness checks not completed</a:t>
            </a:r>
          </a:p>
        </p:txBody>
      </p:sp>
      <p:sp>
        <p:nvSpPr>
          <p:cNvPr id="6" name="Future work card"/>
          <p:cNvSpPr/>
          <p:nvPr/>
        </p:nvSpPr>
        <p:spPr>
          <a:xfrm>
            <a:off x="5509260" y="1371600"/>
            <a:ext cx="3040379" cy="4572000"/>
          </a:xfrm>
          <a:prstGeom prst="rect">
            <a:avLst/>
          </a:prstGeom>
          <a:solidFill>
            <a:srgbClr val="F2F2F5"/>
          </a:solidFill>
          <a:ln>
            <a:noFill/>
          </a:ln>
          <a:effectLst/>
        </p:spPr>
        <p:txBody>
          <a:bodyPr rtlCol="0" anchor="ctr"/>
          <a:lstStyle/>
          <a:p/>
        </p:txBody>
      </p:sp>
      <p:sp>
        <p:nvSpPr>
          <p:cNvPr id="7" name="Future work text"/>
          <p:cNvSpPr txBox="1"/>
          <p:nvPr/>
        </p:nvSpPr>
        <p:spPr>
          <a:xfrm>
            <a:off x="5692140" y="1554480"/>
            <a:ext cx="2674620" cy="4297680"/>
          </a:xfrm>
          <a:prstGeom prst="rect">
            <a:avLst/>
          </a:prstGeom>
          <a:noFill/>
        </p:spPr>
        <p:txBody>
          <a:bodyPr wrap="square" anchor="t" lIns="0" rIns="0" tIns="0" bIns="0">
            <a:spAutoFit/>
          </a:bodyPr>
          <a:lstStyle/>
          <a:p>
            <a:pPr algn="l">
              <a:spcAft>
                <a:spcPts val="1400"/>
              </a:spcAft>
            </a:pPr>
            <a:r>
              <a:rPr sz="2000" b="1" i="0">
                <a:solidFill>
                  <a:srgbClr val="343174"/>
                </a:solidFill>
                <a:latin typeface="Calibri"/>
              </a:rPr>
              <a:t>Future work</a:t>
            </a:r>
          </a:p>
          <a:p>
            <a:pPr algn="l" marL="201168" indent="-201168">
              <a:spcAft>
                <a:spcPts val="1400"/>
              </a:spcAft>
              <a:buClr>
                <a:srgbClr val="343174"/>
              </a:buClr>
              <a:buFont typeface="Arial"/>
              <a:buChar char="•"/>
            </a:pPr>
            <a:r>
              <a:rPr sz="1700" b="0" i="0">
                <a:solidFill>
                  <a:srgbClr val="22222A"/>
                </a:solidFill>
                <a:latin typeface="Calibri"/>
              </a:rPr>
              <a:t>Early-warning evaluation at weeks 2, 4, 6 and 8</a:t>
            </a:r>
          </a:p>
          <a:p>
            <a:pPr algn="l" marL="201168" indent="-201168">
              <a:spcAft>
                <a:spcPts val="1400"/>
              </a:spcAft>
              <a:buClr>
                <a:srgbClr val="343174"/>
              </a:buClr>
              <a:buFont typeface="Arial"/>
              <a:buChar char="•"/>
            </a:pPr>
            <a:r>
              <a:rPr sz="1700" b="0" i="0">
                <a:solidFill>
                  <a:srgbClr val="22222A"/>
                </a:solidFill>
                <a:latin typeface="Calibri"/>
              </a:rPr>
              <a:t>Probability calibration (Platt, isotonic)</a:t>
            </a:r>
          </a:p>
          <a:p>
            <a:pPr algn="l" marL="201168" indent="-201168">
              <a:spcAft>
                <a:spcPts val="1400"/>
              </a:spcAft>
              <a:buClr>
                <a:srgbClr val="343174"/>
              </a:buClr>
              <a:buFont typeface="Arial"/>
              <a:buChar char="•"/>
            </a:pPr>
            <a:r>
              <a:rPr sz="1700" b="0" i="0">
                <a:solidFill>
                  <a:srgbClr val="22222A"/>
                </a:solidFill>
                <a:latin typeface="Calibri"/>
              </a:rPr>
              <a:t>Subgroup fairness assessment</a:t>
            </a:r>
          </a:p>
          <a:p>
            <a:pPr algn="l" marL="201168" indent="-201168">
              <a:spcAft>
                <a:spcPts val="1400"/>
              </a:spcAft>
              <a:buClr>
                <a:srgbClr val="343174"/>
              </a:buClr>
              <a:buFont typeface="Arial"/>
              <a:buChar char="•"/>
            </a:pPr>
            <a:r>
              <a:rPr sz="1700" b="0" i="0">
                <a:solidFill>
                  <a:srgbClr val="22222A"/>
                </a:solidFill>
                <a:latin typeface="Calibri"/>
              </a:rPr>
              <a:t>Practitioner study using TAM constructs</a:t>
            </a:r>
          </a:p>
          <a:p>
            <a:pPr algn="l" marL="201168" indent="-201168">
              <a:spcAft>
                <a:spcPts val="1400"/>
              </a:spcAft>
              <a:buClr>
                <a:srgbClr val="343174"/>
              </a:buClr>
              <a:buFont typeface="Arial"/>
              <a:buChar char="•"/>
            </a:pPr>
            <a:r>
              <a:rPr sz="1700" b="0" i="0">
                <a:solidFill>
                  <a:srgbClr val="22222A"/>
                </a:solidFill>
                <a:latin typeface="Calibri"/>
              </a:rPr>
              <a:t>Other institutions and live data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240280" y="502920"/>
            <a:ext cx="6309359" cy="731520"/>
          </a:xfrm>
        </p:spPr>
        <p:txBody>
          <a:bodyPr wrap="square" anchor="ctr" lIns="0" rIns="0">
            <a:normAutofit/>
          </a:bodyPr>
          <a:lstStyle/>
          <a:p>
            <a:pPr algn="l"/>
            <a:r>
              <a:rPr sz="2800" b="1" i="0">
                <a:solidFill>
                  <a:srgbClr val="343174"/>
                </a:solidFill>
                <a:latin typeface="Calibri"/>
              </a:rPr>
              <a:t>Conclusion</a:t>
            </a:r>
          </a:p>
        </p:txBody>
      </p:sp>
      <p:sp>
        <p:nvSpPr>
          <p:cNvPr id="3" name="Slide number"/>
          <p:cNvSpPr txBox="1"/>
          <p:nvPr/>
        </p:nvSpPr>
        <p:spPr>
          <a:xfrm>
            <a:off x="8001000" y="6108192"/>
            <a:ext cx="548640" cy="256032"/>
          </a:xfrm>
          <a:prstGeom prst="rect">
            <a:avLst/>
          </a:prstGeom>
          <a:noFill/>
        </p:spPr>
        <p:txBody>
          <a:bodyPr wrap="square" anchor="t" lIns="0" rIns="0" tIns="0" bIns="0">
            <a:spAutoFit/>
          </a:bodyPr>
          <a:lstStyle/>
          <a:p>
            <a:pPr algn="r">
              <a:spcAft>
                <a:spcPts val="600"/>
              </a:spcAft>
            </a:pPr>
            <a:r>
              <a:rPr sz="1100" b="0" i="0">
                <a:solidFill>
                  <a:srgbClr val="555560"/>
                </a:solidFill>
                <a:latin typeface="Calibri"/>
              </a:rPr>
              <a:t>20</a:t>
            </a:r>
          </a:p>
        </p:txBody>
      </p:sp>
      <p:sp>
        <p:nvSpPr>
          <p:cNvPr id="4" name="Answer card 1"/>
          <p:cNvSpPr/>
          <p:nvPr/>
        </p:nvSpPr>
        <p:spPr>
          <a:xfrm>
            <a:off x="2240280" y="1371600"/>
            <a:ext cx="6309359" cy="1143000"/>
          </a:xfrm>
          <a:prstGeom prst="rect">
            <a:avLst/>
          </a:prstGeom>
          <a:solidFill>
            <a:srgbClr val="F2F2F5"/>
          </a:solidFill>
          <a:ln>
            <a:noFill/>
          </a:ln>
          <a:effectLst/>
        </p:spPr>
        <p:txBody>
          <a:bodyPr rtlCol="0" anchor="ctr"/>
          <a:lstStyle/>
          <a:p/>
        </p:txBody>
      </p:sp>
      <p:sp>
        <p:nvSpPr>
          <p:cNvPr id="5" name="Answer label 1"/>
          <p:cNvSpPr/>
          <p:nvPr/>
        </p:nvSpPr>
        <p:spPr>
          <a:xfrm>
            <a:off x="2240280" y="1371600"/>
            <a:ext cx="868680" cy="1143000"/>
          </a:xfrm>
          <a:prstGeom prst="rect">
            <a:avLst/>
          </a:prstGeom>
          <a:solidFill>
            <a:srgbClr val="343174"/>
          </a:solidFill>
          <a:ln>
            <a:noFill/>
          </a:ln>
          <a:effectLst/>
        </p:spPr>
        <p:txBody>
          <a:bodyPr rtlCol="0" anchor="ctr"/>
          <a:lstStyle/>
          <a:p/>
        </p:txBody>
      </p:sp>
      <p:sp>
        <p:nvSpPr>
          <p:cNvPr id="6" name="Answer label text 1"/>
          <p:cNvSpPr txBox="1"/>
          <p:nvPr/>
        </p:nvSpPr>
        <p:spPr>
          <a:xfrm>
            <a:off x="2240280" y="1371600"/>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RQ1</a:t>
            </a:r>
          </a:p>
        </p:txBody>
      </p:sp>
      <p:sp>
        <p:nvSpPr>
          <p:cNvPr id="7" name="Answer text 1"/>
          <p:cNvSpPr txBox="1"/>
          <p:nvPr/>
        </p:nvSpPr>
        <p:spPr>
          <a:xfrm>
            <a:off x="3264408" y="1417320"/>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SHAP (global, cached) and LIME (local, on demand) integrated in a CommonKADS-designed pipeline; they agree on the main drivers and partly differ per student.</a:t>
            </a:r>
          </a:p>
        </p:txBody>
      </p:sp>
      <p:sp>
        <p:nvSpPr>
          <p:cNvPr id="8" name="Answer card 2"/>
          <p:cNvSpPr/>
          <p:nvPr/>
        </p:nvSpPr>
        <p:spPr>
          <a:xfrm>
            <a:off x="2240280" y="2670048"/>
            <a:ext cx="6309359" cy="1143000"/>
          </a:xfrm>
          <a:prstGeom prst="rect">
            <a:avLst/>
          </a:prstGeom>
          <a:solidFill>
            <a:srgbClr val="F2F2F5"/>
          </a:solidFill>
          <a:ln>
            <a:noFill/>
          </a:ln>
          <a:effectLst/>
        </p:spPr>
        <p:txBody>
          <a:bodyPr rtlCol="0" anchor="ctr"/>
          <a:lstStyle/>
          <a:p/>
        </p:txBody>
      </p:sp>
      <p:sp>
        <p:nvSpPr>
          <p:cNvPr id="9" name="Answer label 2"/>
          <p:cNvSpPr/>
          <p:nvPr/>
        </p:nvSpPr>
        <p:spPr>
          <a:xfrm>
            <a:off x="2240280" y="2670048"/>
            <a:ext cx="868680" cy="1143000"/>
          </a:xfrm>
          <a:prstGeom prst="rect">
            <a:avLst/>
          </a:prstGeom>
          <a:solidFill>
            <a:srgbClr val="343174"/>
          </a:solidFill>
          <a:ln>
            <a:noFill/>
          </a:ln>
          <a:effectLst/>
        </p:spPr>
        <p:txBody>
          <a:bodyPr rtlCol="0" anchor="ctr"/>
          <a:lstStyle/>
          <a:p/>
        </p:txBody>
      </p:sp>
      <p:sp>
        <p:nvSpPr>
          <p:cNvPr id="10" name="Answer label text 2"/>
          <p:cNvSpPr txBox="1"/>
          <p:nvPr/>
        </p:nvSpPr>
        <p:spPr>
          <a:xfrm>
            <a:off x="2240280" y="2670048"/>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RQ2</a:t>
            </a:r>
          </a:p>
        </p:txBody>
      </p:sp>
      <p:sp>
        <p:nvSpPr>
          <p:cNvPr id="11" name="Answer text 2"/>
          <p:cNvSpPr txBox="1"/>
          <p:nvPr/>
        </p:nvSpPr>
        <p:spPr>
          <a:xfrm>
            <a:off x="3264408" y="2715768"/>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Individual, caseload and cohort views derived from the Agent Model and implemented; not yet tested with users.</a:t>
            </a:r>
          </a:p>
        </p:txBody>
      </p:sp>
      <p:sp>
        <p:nvSpPr>
          <p:cNvPr id="12" name="Answer card 3"/>
          <p:cNvSpPr/>
          <p:nvPr/>
        </p:nvSpPr>
        <p:spPr>
          <a:xfrm>
            <a:off x="2240280" y="3968496"/>
            <a:ext cx="6309359" cy="1143000"/>
          </a:xfrm>
          <a:prstGeom prst="rect">
            <a:avLst/>
          </a:prstGeom>
          <a:solidFill>
            <a:srgbClr val="F2F2F5"/>
          </a:solidFill>
          <a:ln>
            <a:noFill/>
          </a:ln>
          <a:effectLst/>
        </p:spPr>
        <p:txBody>
          <a:bodyPr rtlCol="0" anchor="ctr"/>
          <a:lstStyle/>
          <a:p/>
        </p:txBody>
      </p:sp>
      <p:sp>
        <p:nvSpPr>
          <p:cNvPr id="13" name="Answer label 3"/>
          <p:cNvSpPr/>
          <p:nvPr/>
        </p:nvSpPr>
        <p:spPr>
          <a:xfrm>
            <a:off x="2240280" y="3968496"/>
            <a:ext cx="868680" cy="1143000"/>
          </a:xfrm>
          <a:prstGeom prst="rect">
            <a:avLst/>
          </a:prstGeom>
          <a:solidFill>
            <a:srgbClr val="343174"/>
          </a:solidFill>
          <a:ln>
            <a:noFill/>
          </a:ln>
          <a:effectLst/>
        </p:spPr>
        <p:txBody>
          <a:bodyPr rtlCol="0" anchor="ctr"/>
          <a:lstStyle/>
          <a:p/>
        </p:txBody>
      </p:sp>
      <p:sp>
        <p:nvSpPr>
          <p:cNvPr id="14" name="Answer label text 3"/>
          <p:cNvSpPr txBox="1"/>
          <p:nvPr/>
        </p:nvSpPr>
        <p:spPr>
          <a:xfrm>
            <a:off x="2240280" y="3968496"/>
            <a:ext cx="868680" cy="1143000"/>
          </a:xfrm>
          <a:prstGeom prst="rect">
            <a:avLst/>
          </a:prstGeom>
          <a:noFill/>
        </p:spPr>
        <p:txBody>
          <a:bodyPr wrap="square" anchor="ctr" lIns="0" rIns="0" tIns="0" bIns="0">
            <a:spAutoFit/>
          </a:bodyPr>
          <a:lstStyle/>
          <a:p>
            <a:pPr algn="ctr">
              <a:spcAft>
                <a:spcPts val="600"/>
              </a:spcAft>
            </a:pPr>
            <a:r>
              <a:rPr sz="2000" b="1" i="0">
                <a:solidFill>
                  <a:srgbClr val="FFFFFF"/>
                </a:solidFill>
                <a:latin typeface="Calibri"/>
              </a:rPr>
              <a:t>RQ3</a:t>
            </a:r>
          </a:p>
        </p:txBody>
      </p:sp>
      <p:sp>
        <p:nvSpPr>
          <p:cNvPr id="15" name="Answer text 3"/>
          <p:cNvSpPr txBox="1"/>
          <p:nvPr/>
        </p:nvSpPr>
        <p:spPr>
          <a:xfrm>
            <a:off x="3264408" y="4014215"/>
            <a:ext cx="5120640" cy="1051560"/>
          </a:xfrm>
          <a:prstGeom prst="rect">
            <a:avLst/>
          </a:prstGeom>
          <a:noFill/>
        </p:spPr>
        <p:txBody>
          <a:bodyPr wrap="square" anchor="ctr" lIns="0" rIns="0" tIns="0" bIns="0">
            <a:spAutoFit/>
          </a:bodyPr>
          <a:lstStyle/>
          <a:p>
            <a:pPr algn="l">
              <a:spcAft>
                <a:spcPts val="600"/>
              </a:spcAft>
            </a:pPr>
            <a:r>
              <a:rPr sz="1500" b="0" i="0">
                <a:solidFill>
                  <a:srgbClr val="22222A"/>
                </a:solidFill>
                <a:latin typeface="Calibri"/>
              </a:rPr>
              <a:t>Technical preconditions in place: recall 0.909, reasons traceable to recorded behaviour, cross-checked methods. Practitioner value is still to be shown.</a:t>
            </a:r>
          </a:p>
        </p:txBody>
      </p:sp>
      <p:sp>
        <p:nvSpPr>
          <p:cNvPr id="16" name="Closing statement"/>
          <p:cNvSpPr txBox="1"/>
          <p:nvPr/>
        </p:nvSpPr>
        <p:spPr>
          <a:xfrm>
            <a:off x="2240280" y="5349240"/>
            <a:ext cx="6309359" cy="685800"/>
          </a:xfrm>
          <a:prstGeom prst="rect">
            <a:avLst/>
          </a:prstGeom>
          <a:noFill/>
        </p:spPr>
        <p:txBody>
          <a:bodyPr wrap="square" anchor="t" lIns="0" rIns="0" tIns="0" bIns="0">
            <a:spAutoFit/>
          </a:bodyPr>
          <a:lstStyle/>
          <a:p>
            <a:pPr algn="l">
              <a:spcAft>
                <a:spcPts val="600"/>
              </a:spcAft>
            </a:pPr>
            <a:r>
              <a:rPr sz="1700" b="1" i="0">
                <a:solidFill>
                  <a:srgbClr val="343174"/>
                </a:solidFill>
                <a:latin typeface="Calibri"/>
              </a:rPr>
              <a:t>A working, technically evaluated prototype and a foundation for practitioner validation.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402</TotalTime>
  <Words>2</Words>
  <Application>Microsoft Office PowerPoint</Application>
  <PresentationFormat>On-screen Show (4:3)</PresentationFormat>
  <Paragraphs>3</Paragraphs>
  <Slides>2</Slides>
  <Notes>0</Notes>
  <HiddenSlides>0</HiddenSlides>
  <MMClips>0</MMClips>
  <ScaleCrop>false</ScaleCrop>
  <HeadingPairs>
    <vt:vector size="4" baseType="variant">
      <vt:variant>
        <vt:lpstr>Theme</vt:lpstr>
      </vt:variant>
      <vt:variant>
        <vt:i4>2</vt:i4>
      </vt:variant>
      <vt:variant>
        <vt:lpstr>Slide Titles</vt:lpstr>
      </vt:variant>
      <vt:variant>
        <vt:i4>2</vt:i4>
      </vt:variant>
    </vt:vector>
  </HeadingPairs>
  <TitlesOfParts>
    <vt:vector size="4" baseType="lpstr">
      <vt:lpstr>Office Theme</vt:lpstr>
      <vt:lpstr>Custom Design</vt:lpstr>
      <vt:lpstr>     </vt:lpstr>
      <vt:lpstr>     </vt:lpstr>
    </vt:vector>
  </TitlesOfParts>
  <Company>Microsoft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Internal Defense: Role-Aware Explainable AI Dashboard</dc:title>
  <dc:creator>Daniel Larry</dc:creator>
  <cp:lastModifiedBy>Usoh Usoh</cp:lastModifiedBy>
  <cp:revision>46</cp:revision>
  <dcterms:created xsi:type="dcterms:W3CDTF">2012-03-20T13:18:15Z</dcterms:created>
  <dcterms:modified xsi:type="dcterms:W3CDTF">2018-02-14T11:14:47Z</dcterms:modified>
</cp:coreProperties>
</file>