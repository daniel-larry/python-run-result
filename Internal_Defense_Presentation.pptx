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Daniel Larry, and this is my MSc thesis, supervised by Dr. Zainab Shamsiya Usman. I built and technically evaluated a dashboard that predicts which students are at risk of failing or withdrawing, explains each prediction with SHAP and LIME, and presents that explanation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ten minutes I will cover the problem and my research questions, the methodology, the system I built, the results of the technical evaluation, how the dashboard explains its predictions to each role, and then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record how students engage, and models trained on that data can flag students who may fail or withdraw. On benchmarks such as OULAD, ensemble models already do this well. The problem is what happens after the flag. Most systems give a score without a reason, and the same view goes to instructors, advisors and administrators, even though they make very different decisions. SHAP and LIME can explain predictions, but they are rarely built into working dashboards. In the literature I reviewed, I found no system that serves all three staff roles from one prediction model with role-specific explanations; the only role-specific XAI dashboard I found, by Afzaal and colleagues, is for students.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was to investigate how a role-aware explainable AI dashboard can support at-risk prediction in an LMS, using OULAD. The three objectives were to review the literature, to build and evaluate the model with SHAP and LIME, and to design, implement and technically evaluate the role-aware dashboard. The research questions are on the right, exactly as in the thesis. Note that RQ3 asks about technical potential, because this study did not include a user study.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methodology is knowledge engineering, using CommonKADS from Schreiber and colleagues. I chose it because the core problem is a knowledge problem: how to represent what the model produces, the prediction and its explanation, and deliver it to each role in the form that role needs. CommonKADS gives six models, from the organisation down to the system design. The work went through four phases. Design science structures the research process, and TAM was only a design lens. To be clear about scope: knowledge was acquired from published literature, not interviews, and no practitioner data was collected, so usability was not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which come from the CommonKADS Design Model. The data layer builds features from OULAD. The prediction engine serves an XGBoost pipeline. The explainability module caches global TreeSHAP values and runs LIME on demand. The API layer handles login and role-based access, and the presentation layer gives three role views. It was integrated with two LMSs: a native Moodle plugin that uses Moodle's own login and roles, and an embedded page in Canvas. Everything runs locally under Docker Compose.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from Kuzilek and colleagues: 32,593 student records across 22 module presentations. A student is at risk if they withdrew or failed, which is 52.8 percent, so the classes are only mildly imbalanced. There are 24 input columns, 59 features after encoding, in three families. For evaluation I grouped the folds by course presentation, so the model is always tested on a presentation it never saw. Recall is the main metric, because a missed at-risk student gets no support, while a false alarm can simply be reviewed and set aside. One limit: features cover the whole presentation, so this is retrospective classification, not early warning.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over all 32,593 records. Recall is 0.909: the model caught 15,634 of the 17,208 at-risk students and missed 1,574. The cost is 2,422 false alarms, about 15.7 percent of the not-at-risk group. F1 is 0.887 and ROC-AUC 0.962. I compared three ensembles under the same protocol. Random Forest had the best F1, 0.898, but XGBoost had the best recall, which was my pre-set criterion, so I kept XGBoost. Performance varied across presentations, with accuracy from 0.846 to 0.916, so the pooled numbers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Globally, across all students, SHAP shows that the number of assessments submitted dominates, more than four times the next feature, followed by active days, module FFF and mean score. LIME, on 40 sampled students, puts the same feature first and shares six more in its top ten. Per student, the two methods share on average 0.635 of their top five features, so agreement is partial, which is why the dashboard shows both. For example, for student s678287 SHAP says assessments submitted adds 5.3 log-odds towards at-risk, and LIME agrees on four of the top five. One caution: clicks in the 28 days before deadlines pushes towards at-risk, which is counter-intuitive; it correlates 0.98 with total clicks, so it is most likely collinearity. These are attributions of the model's reasoning, not causes.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dashboard running inside Moodle, in course FFF-2014J. It is the instructor view: students ranked by risk, and for the selected student, SHAP and LIME side by side with a note on how far they agree. The same prediction is shown at three levels. Instructors see individual students. Advisors see their caseload across modules, with reasoning averaged across those students. Administrators see the whole institution, including how accurate the model is. These views were derived from the CommonKADS Agent Model and the literature; they have not yet been tested with real staff.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Prediction and explanation run together in one working system, integrated with Moodle and Canvas. Explanations are tailored to each staff role. CommonKADS is applied to explainable learning analytics, which shows the design problem is mainly a knowledge problem. And there is evidence on where SHAP and LIME agree and differ. The limitations are just as important. No practitioners used the system, so trust, usability and decision quality are untested. The evaluation is retrospective. It uses one dataset. And the planned stability, fidelity, calibration and fairness checks were not completed.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 research questions. RQ1: SHAP and LIME were integrated into a pipeline designed with CommonKADS; they agree on the main drivers and partly differ per student. RQ2: individual, caseload and cohort views were derived from the Agent Model and implemented in Moodle and Canvas. RQ3: the technical preconditions are in place, with high recall, reasons traceable to recorded behaviour, and two methods cross-checked; whether practitioners actually benefit is the next study. Future work: early-warning evaluation at weeks 2 to 8, calibration, fairness by subgroup, and a practitioner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675120" cy="160020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309360" cy="1600200"/>
          </a:xfrm>
        </p:spPr>
        <p:txBody>
          <a:bodyPr wrap="square" anchor="ctr"/>
          <a:lstStyle/>
          <a:p>
            <a:pPr algn="ctr"/>
            <a:r>
              <a:rPr sz="2400" b="1" i="0">
                <a:solidFill>
                  <a:srgbClr val="FFFFFF"/>
                </a:solidFill>
                <a:latin typeface="Calibri"/>
              </a:rPr>
              <a:t>A ROLE-AWARE EXPLAINABLE AI DASHBOARD FOR STUDENT AT-RISK CLASSIFICATION IN LEARNING MANAGEMENT SYSTEMS</a:t>
            </a:r>
          </a:p>
        </p:txBody>
      </p:sp>
      <p:sp>
        <p:nvSpPr>
          <p:cNvPr id="4" name="Details box"/>
          <p:cNvSpPr/>
          <p:nvPr/>
        </p:nvSpPr>
        <p:spPr>
          <a:xfrm>
            <a:off x="2057400" y="2633472"/>
            <a:ext cx="6675120" cy="1481328"/>
          </a:xfrm>
          <a:prstGeom prst="rect">
            <a:avLst/>
          </a:prstGeom>
          <a:solidFill>
            <a:srgbClr val="FFFFFF"/>
          </a:solidFill>
          <a:ln w="19050">
            <a:solidFill>
              <a:srgbClr val="C00000"/>
            </a:solidFill>
          </a:ln>
        </p:spPr>
        <p:txBody>
          <a:bodyPr rtlCol="0" anchor="ctr"/>
          <a:lstStyle/>
          <a:p>
            <a:pPr algn="ctr"/>
          </a:p>
        </p:txBody>
      </p:sp>
      <p:sp>
        <p:nvSpPr>
          <p:cNvPr id="5" name="Details"/>
          <p:cNvSpPr txBox="1"/>
          <p:nvPr/>
        </p:nvSpPr>
        <p:spPr>
          <a:xfrm>
            <a:off x="2057400" y="2697480"/>
            <a:ext cx="6675120" cy="1371600"/>
          </a:xfrm>
          <a:prstGeom prst="rect">
            <a:avLst/>
          </a:prstGeom>
          <a:noFill/>
        </p:spPr>
        <p:txBody>
          <a:bodyPr wrap="square" anchor="ctr" lIns="0" rIns="0" tIns="0" bIns="0">
            <a:spAutoFit/>
          </a:bodyPr>
          <a:lstStyle/>
          <a:p>
            <a:pPr algn="ctr">
              <a:spcAft>
                <a:spcPts val="200"/>
              </a:spcAft>
            </a:pPr>
            <a:r>
              <a:rPr sz="2000" b="1" i="0">
                <a:solidFill>
                  <a:srgbClr val="1F3864"/>
                </a:solidFill>
                <a:latin typeface="Calibri"/>
              </a:rPr>
              <a:t>MSc Thesis Internal Defense</a:t>
            </a:r>
          </a:p>
          <a:p>
            <a:pPr algn="ctr">
              <a:spcAft>
                <a:spcPts val="200"/>
              </a:spcAft>
            </a:pPr>
            <a:r>
              <a:rPr sz="1800" b="0" i="0">
                <a:solidFill>
                  <a:srgbClr val="1F3864"/>
                </a:solidFill>
                <a:latin typeface="Calibri"/>
              </a:rPr>
              <a:t>Daniel Larry (A00020528)</a:t>
            </a:r>
          </a:p>
          <a:p>
            <a:pPr algn="ctr">
              <a:spcAft>
                <a:spcPts val="200"/>
              </a:spcAft>
            </a:pPr>
            <a:r>
              <a:rPr sz="1600" b="0" i="0">
                <a:solidFill>
                  <a:srgbClr val="595959"/>
                </a:solidFill>
                <a:latin typeface="Calibri"/>
              </a:rPr>
              <a:t>Supervisor: Dr. Zainab Shamsiya Usman</a:t>
            </a:r>
          </a:p>
          <a:p>
            <a:pPr algn="ctr">
              <a:spcAft>
                <a:spcPts val="200"/>
              </a:spcAft>
            </a:pPr>
            <a:r>
              <a:rPr sz="1500" b="0" i="0">
                <a:solidFill>
                  <a:srgbClr val="595959"/>
                </a:solidFill>
                <a:latin typeface="Calibri"/>
              </a:rPr>
              <a:t>Department of Computer Science | American University of Nigeria |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Presentation Outline</a:t>
            </a:r>
          </a:p>
        </p:txBody>
      </p:sp>
      <p:sp>
        <p:nvSpPr>
          <p:cNvPr id="4" name="Outline panel"/>
          <p:cNvSpPr/>
          <p:nvPr/>
        </p:nvSpPr>
        <p:spPr>
          <a:xfrm>
            <a:off x="2057400" y="1069848"/>
            <a:ext cx="6812280" cy="5285232"/>
          </a:xfrm>
          <a:prstGeom prst="rect">
            <a:avLst/>
          </a:prstGeom>
          <a:solidFill>
            <a:srgbClr val="F5F7FA"/>
          </a:solidFill>
          <a:ln>
            <a:noFill/>
          </a:ln>
        </p:spPr>
        <p:txBody>
          <a:bodyPr rtlCol="0" anchor="ctr"/>
          <a:lstStyle/>
          <a:p>
            <a:pPr algn="ctr"/>
          </a:p>
        </p:txBody>
      </p:sp>
      <p:sp>
        <p:nvSpPr>
          <p:cNvPr id="5" name="Outline lead"/>
          <p:cNvSpPr txBox="1"/>
          <p:nvPr/>
        </p:nvSpPr>
        <p:spPr>
          <a:xfrm>
            <a:off x="2194560" y="1207007"/>
            <a:ext cx="6537960" cy="457200"/>
          </a:xfrm>
          <a:prstGeom prst="rect">
            <a:avLst/>
          </a:prstGeom>
          <a:noFill/>
        </p:spPr>
        <p:txBody>
          <a:bodyPr wrap="square" anchor="t" lIns="0" rIns="0" tIns="0" bIns="0">
            <a:spAutoFit/>
          </a:bodyPr>
          <a:lstStyle/>
          <a:p>
            <a:pPr algn="l">
              <a:spcAft>
                <a:spcPts val="600"/>
              </a:spcAft>
            </a:pPr>
            <a:r>
              <a:rPr sz="2400" b="1" i="0">
                <a:solidFill>
                  <a:srgbClr val="1F3864"/>
                </a:solidFill>
                <a:latin typeface="Calibri"/>
              </a:rPr>
              <a:t>This presentation covers:</a:t>
            </a:r>
          </a:p>
        </p:txBody>
      </p:sp>
      <p:sp>
        <p:nvSpPr>
          <p:cNvPr id="6" name="Outline"/>
          <p:cNvSpPr txBox="1"/>
          <p:nvPr/>
        </p:nvSpPr>
        <p:spPr>
          <a:xfrm>
            <a:off x="2194560" y="1801368"/>
            <a:ext cx="6537960" cy="4462272"/>
          </a:xfrm>
          <a:prstGeom prst="rect">
            <a:avLst/>
          </a:prstGeom>
          <a:noFill/>
        </p:spPr>
        <p:txBody>
          <a:bodyPr wrap="square" lIns="36576" rIns="36576" tIns="36576" bIns="36576">
            <a:spAutoFit/>
          </a:bodyPr>
          <a:lstStyle/>
          <a:p>
            <a:pPr marL="274320" indent="-274320">
              <a:spcAft>
                <a:spcPts val="400"/>
              </a:spcAft>
              <a:buClr>
                <a:srgbClr val="1F3864"/>
              </a:buClr>
              <a:buFont typeface="Arial"/>
              <a:buChar char="▪"/>
            </a:pPr>
            <a:r>
              <a:rPr sz="2200" b="0" i="0">
                <a:solidFill>
                  <a:srgbClr val="1F3864"/>
                </a:solidFill>
                <a:latin typeface="Calibri"/>
              </a:rPr>
              <a:t>Background &amp; Problem Statement</a:t>
            </a:r>
          </a:p>
          <a:p>
            <a:pPr marL="274320" indent="-274320">
              <a:spcAft>
                <a:spcPts val="400"/>
              </a:spcAft>
              <a:buClr>
                <a:srgbClr val="1F3864"/>
              </a:buClr>
              <a:buFont typeface="Arial"/>
              <a:buChar char="▪"/>
            </a:pPr>
            <a:r>
              <a:rPr sz="2200" b="0" i="0">
                <a:solidFill>
                  <a:srgbClr val="1F3864"/>
                </a:solidFill>
                <a:latin typeface="Calibri"/>
              </a:rPr>
              <a:t>Aim, Objectives &amp; Research Questions</a:t>
            </a:r>
          </a:p>
          <a:p>
            <a:pPr marL="274320" indent="-274320">
              <a:spcAft>
                <a:spcPts val="400"/>
              </a:spcAft>
              <a:buClr>
                <a:srgbClr val="1F3864"/>
              </a:buClr>
              <a:buFont typeface="Arial"/>
              <a:buChar char="▪"/>
            </a:pPr>
            <a:r>
              <a:rPr sz="2200" b="0" i="0">
                <a:solidFill>
                  <a:srgbClr val="1F3864"/>
                </a:solidFill>
                <a:latin typeface="Calibri"/>
              </a:rPr>
              <a:t>Methodology: Knowledge Engineering (CommonKADS)</a:t>
            </a:r>
          </a:p>
          <a:p>
            <a:pPr marL="274320" indent="-274320">
              <a:spcAft>
                <a:spcPts val="400"/>
              </a:spcAft>
              <a:buClr>
                <a:srgbClr val="1F3864"/>
              </a:buClr>
              <a:buFont typeface="Arial"/>
              <a:buChar char="▪"/>
            </a:pPr>
            <a:r>
              <a:rPr sz="2200" b="0" i="0">
                <a:solidFill>
                  <a:srgbClr val="1F3864"/>
                </a:solidFill>
                <a:latin typeface="Calibri"/>
              </a:rPr>
              <a:t>System Architecture &amp; Implementation</a:t>
            </a:r>
          </a:p>
          <a:p>
            <a:pPr marL="274320" indent="-274320">
              <a:spcAft>
                <a:spcPts val="400"/>
              </a:spcAft>
              <a:buClr>
                <a:srgbClr val="1F3864"/>
              </a:buClr>
              <a:buFont typeface="Arial"/>
              <a:buChar char="▪"/>
            </a:pPr>
            <a:r>
              <a:rPr sz="2200" b="0" i="0">
                <a:solidFill>
                  <a:srgbClr val="1F3864"/>
                </a:solidFill>
                <a:latin typeface="Calibri"/>
              </a:rPr>
              <a:t>Dataset &amp; Evaluation Protocol</a:t>
            </a:r>
          </a:p>
          <a:p>
            <a:pPr marL="274320" indent="-274320">
              <a:spcAft>
                <a:spcPts val="400"/>
              </a:spcAft>
              <a:buClr>
                <a:srgbClr val="1F3864"/>
              </a:buClr>
              <a:buFont typeface="Arial"/>
              <a:buChar char="▪"/>
            </a:pPr>
            <a:r>
              <a:rPr sz="2200" b="0" i="0">
                <a:solidFill>
                  <a:srgbClr val="1F3864"/>
                </a:solidFill>
                <a:latin typeface="Calibri"/>
              </a:rPr>
              <a:t>Results: Prediction &amp; Explainability</a:t>
            </a:r>
          </a:p>
          <a:p>
            <a:pPr marL="274320" indent="-274320">
              <a:spcAft>
                <a:spcPts val="400"/>
              </a:spcAft>
              <a:buClr>
                <a:srgbClr val="1F3864"/>
              </a:buClr>
              <a:buFont typeface="Arial"/>
              <a:buChar char="▪"/>
            </a:pPr>
            <a:r>
              <a:rPr sz="2200" b="0" i="0">
                <a:solidFill>
                  <a:srgbClr val="1F3864"/>
                </a:solidFill>
                <a:latin typeface="Calibri"/>
              </a:rPr>
              <a:t>The Role-Aware Dashboard in Moodle</a:t>
            </a:r>
          </a:p>
          <a:p>
            <a:pPr marL="274320" indent="-274320">
              <a:spcAft>
                <a:spcPts val="400"/>
              </a:spcAft>
              <a:buClr>
                <a:srgbClr val="1F3864"/>
              </a:buClr>
              <a:buFont typeface="Arial"/>
              <a:buChar char="▪"/>
            </a:pPr>
            <a:r>
              <a:rPr sz="2200" b="0" i="0">
                <a:solidFill>
                  <a:srgbClr val="1F3864"/>
                </a:solidFill>
                <a:latin typeface="Calibri"/>
              </a:rPr>
              <a:t>Contributions, Limitations &amp;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Background &amp; Problem Statement</a:t>
            </a:r>
          </a:p>
        </p:txBody>
      </p:sp>
      <p:sp>
        <p:nvSpPr>
          <p:cNvPr id="4" name="Left panel"/>
          <p:cNvSpPr/>
          <p:nvPr/>
        </p:nvSpPr>
        <p:spPr>
          <a:xfrm>
            <a:off x="2057400" y="1069848"/>
            <a:ext cx="3337560" cy="5285232"/>
          </a:xfrm>
          <a:prstGeom prst="rect">
            <a:avLst/>
          </a:prstGeom>
          <a:solidFill>
            <a:srgbClr val="F5F7FA"/>
          </a:solidFill>
          <a:ln>
            <a:noFill/>
          </a:ln>
        </p:spPr>
        <p:txBody>
          <a:bodyPr rtlCol="0" anchor="ctr"/>
          <a:lstStyle/>
          <a:p>
            <a:pPr algn="ctr"/>
          </a:p>
        </p:txBody>
      </p:sp>
      <p:sp>
        <p:nvSpPr>
          <p:cNvPr id="5" name="Right panel"/>
          <p:cNvSpPr/>
          <p:nvPr/>
        </p:nvSpPr>
        <p:spPr>
          <a:xfrm>
            <a:off x="5504688" y="1069848"/>
            <a:ext cx="3364992" cy="5285232"/>
          </a:xfrm>
          <a:prstGeom prst="rect">
            <a:avLst/>
          </a:prstGeom>
          <a:solidFill>
            <a:srgbClr val="1F3864"/>
          </a:solidFill>
          <a:ln>
            <a:noFill/>
          </a:ln>
        </p:spPr>
        <p:txBody>
          <a:bodyPr rtlCol="0" anchor="ctr"/>
          <a:lstStyle/>
          <a:p>
            <a:pPr algn="ctr"/>
          </a:p>
        </p:txBody>
      </p:sp>
      <p:sp>
        <p:nvSpPr>
          <p:cNvPr id="6" name="Left text"/>
          <p:cNvSpPr txBox="1"/>
          <p:nvPr/>
        </p:nvSpPr>
        <p:spPr>
          <a:xfrm>
            <a:off x="2148840" y="1161288"/>
            <a:ext cx="3154679" cy="5102352"/>
          </a:xfrm>
          <a:prstGeom prst="rect">
            <a:avLst/>
          </a:prstGeom>
          <a:noFill/>
        </p:spPr>
        <p:txBody>
          <a:bodyPr wrap="square" lIns="36576" rIns="36576" tIns="36576" bIns="36576">
            <a:spAutoFit/>
          </a:bodyPr>
          <a:lstStyle/>
          <a:p>
            <a:pPr>
              <a:spcBef>
                <a:spcPts val="800"/>
              </a:spcBef>
              <a:spcAft>
                <a:spcPts val="300"/>
              </a:spcAft>
            </a:pPr>
            <a:r>
              <a:rPr sz="2000" b="1" i="0">
                <a:solidFill>
                  <a:srgbClr val="C00000"/>
                </a:solidFill>
                <a:latin typeface="Calibri"/>
              </a:rPr>
              <a:t>Context</a:t>
            </a:r>
          </a:p>
          <a:p>
            <a:pPr marL="274320" indent="-274320">
              <a:spcAft>
                <a:spcPts val="400"/>
              </a:spcAft>
              <a:buClr>
                <a:srgbClr val="1F3864"/>
              </a:buClr>
              <a:buFont typeface="Arial"/>
              <a:buChar char="▪"/>
            </a:pPr>
            <a:r>
              <a:rPr sz="1700" b="0" i="0">
                <a:solidFill>
                  <a:srgbClr val="1F3864"/>
                </a:solidFill>
                <a:latin typeface="Calibri"/>
              </a:rPr>
              <a:t>LMS logs record how students engage</a:t>
            </a:r>
          </a:p>
          <a:p>
            <a:pPr marL="274320" indent="-274320">
              <a:spcAft>
                <a:spcPts val="400"/>
              </a:spcAft>
              <a:buClr>
                <a:srgbClr val="1F3864"/>
              </a:buClr>
              <a:buFont typeface="Arial"/>
              <a:buChar char="▪"/>
            </a:pPr>
            <a:r>
              <a:rPr sz="1700" b="0" i="0">
                <a:solidFill>
                  <a:srgbClr val="1F3864"/>
                </a:solidFill>
                <a:latin typeface="Calibri"/>
              </a:rPr>
              <a:t>Ensemble models already flag at-risk students accurately on OULAD</a:t>
            </a:r>
          </a:p>
          <a:p>
            <a:pPr>
              <a:spcBef>
                <a:spcPts val="800"/>
              </a:spcBef>
              <a:spcAft>
                <a:spcPts val="300"/>
              </a:spcAft>
            </a:pPr>
            <a:r>
              <a:rPr sz="2000" b="1" i="0">
                <a:solidFill>
                  <a:srgbClr val="C00000"/>
                </a:solidFill>
                <a:latin typeface="Calibri"/>
              </a:rPr>
              <a:t>The Problem</a:t>
            </a:r>
          </a:p>
          <a:p>
            <a:pPr marL="274320" indent="-274320">
              <a:spcAft>
                <a:spcPts val="400"/>
              </a:spcAft>
              <a:buClr>
                <a:srgbClr val="1F3864"/>
              </a:buClr>
              <a:buFont typeface="Arial"/>
              <a:buChar char="▪"/>
            </a:pPr>
            <a:r>
              <a:rPr sz="1700" b="0" i="0">
                <a:solidFill>
                  <a:srgbClr val="1F3864"/>
                </a:solidFill>
                <a:latin typeface="Calibri"/>
              </a:rPr>
              <a:t>Predictions arrive as scores, without reasons</a:t>
            </a:r>
          </a:p>
          <a:p>
            <a:pPr marL="274320" indent="-274320">
              <a:spcAft>
                <a:spcPts val="400"/>
              </a:spcAft>
              <a:buClr>
                <a:srgbClr val="1F3864"/>
              </a:buClr>
              <a:buFont typeface="Arial"/>
              <a:buChar char="▪"/>
            </a:pPr>
            <a:r>
              <a:rPr sz="1700" b="0" i="0">
                <a:solidFill>
                  <a:srgbClr val="1F3864"/>
                </a:solidFill>
                <a:latin typeface="Calibri"/>
              </a:rPr>
              <a:t>Instructors, advisors and administrators get the same view</a:t>
            </a:r>
          </a:p>
          <a:p>
            <a:pPr marL="274320" indent="-274320">
              <a:spcAft>
                <a:spcPts val="400"/>
              </a:spcAft>
              <a:buClr>
                <a:srgbClr val="1F3864"/>
              </a:buClr>
              <a:buFont typeface="Arial"/>
              <a:buChar char="▪"/>
            </a:pPr>
            <a:r>
              <a:rPr sz="1700" b="0" i="0">
                <a:solidFill>
                  <a:srgbClr val="1F3864"/>
                </a:solidFill>
                <a:latin typeface="Calibri"/>
              </a:rPr>
              <a:t>SHAP and LIME are rarely built into working dashboards</a:t>
            </a:r>
          </a:p>
        </p:txBody>
      </p:sp>
      <p:sp>
        <p:nvSpPr>
          <p:cNvPr id="7" name="Right text"/>
          <p:cNvSpPr txBox="1"/>
          <p:nvPr/>
        </p:nvSpPr>
        <p:spPr>
          <a:xfrm>
            <a:off x="5641848" y="1161288"/>
            <a:ext cx="3136392" cy="5102352"/>
          </a:xfrm>
          <a:prstGeom prst="rect">
            <a:avLst/>
          </a:prstGeom>
          <a:noFill/>
        </p:spPr>
        <p:txBody>
          <a:bodyPr wrap="square" lIns="36576" rIns="36576" tIns="36576" bIns="36576">
            <a:spAutoFit/>
          </a:bodyPr>
          <a:lstStyle/>
          <a:p>
            <a:pPr>
              <a:spcBef>
                <a:spcPts val="800"/>
              </a:spcBef>
              <a:spcAft>
                <a:spcPts val="300"/>
              </a:spcAft>
            </a:pPr>
            <a:r>
              <a:rPr sz="2000" b="1" i="0">
                <a:solidFill>
                  <a:srgbClr val="FFFFFF"/>
                </a:solidFill>
                <a:latin typeface="Calibri"/>
              </a:rPr>
              <a:t>The Gap</a:t>
            </a:r>
          </a:p>
          <a:p>
            <a:pPr marL="274320" indent="-274320">
              <a:spcAft>
                <a:spcPts val="400"/>
              </a:spcAft>
              <a:buClr>
                <a:srgbClr val="FFFFFF"/>
              </a:buClr>
              <a:buFont typeface="Arial"/>
              <a:buChar char="►"/>
            </a:pPr>
            <a:r>
              <a:rPr sz="1700" b="0" i="0">
                <a:solidFill>
                  <a:srgbClr val="FFFFFF"/>
                </a:solidFill>
                <a:latin typeface="Calibri"/>
              </a:rPr>
              <a:t>No reviewed study serves all three staff roles from one prediction system with role-specific explanations</a:t>
            </a:r>
          </a:p>
          <a:p>
            <a:pPr marL="274320" indent="-274320">
              <a:spcAft>
                <a:spcPts val="400"/>
              </a:spcAft>
              <a:buClr>
                <a:srgbClr val="FFFFFF"/>
              </a:buClr>
              <a:buFont typeface="Arial"/>
              <a:buChar char="►"/>
            </a:pPr>
            <a:r>
              <a:rPr sz="1700" b="0" i="0">
                <a:solidFill>
                  <a:srgbClr val="FFFFFF"/>
                </a:solidFill>
                <a:latin typeface="Calibri"/>
              </a:rPr>
              <a:t>The only role-specific XAI dashboard found targets students (Afzaal et al., 2021)</a:t>
            </a:r>
          </a:p>
        </p:txBody>
      </p:sp>
      <p:sp>
        <p:nvSpPr>
          <p:cNvPr id="8" name="Scale numbers"/>
          <p:cNvSpPr txBox="1"/>
          <p:nvPr/>
        </p:nvSpPr>
        <p:spPr>
          <a:xfrm>
            <a:off x="5504688" y="4133087"/>
            <a:ext cx="3364992" cy="2194560"/>
          </a:xfrm>
          <a:prstGeom prst="rect">
            <a:avLst/>
          </a:prstGeom>
          <a:noFill/>
        </p:spPr>
        <p:txBody>
          <a:bodyPr wrap="square" anchor="t" lIns="0" rIns="0" tIns="0" bIns="0">
            <a:spAutoFit/>
          </a:bodyPr>
          <a:lstStyle/>
          <a:p>
            <a:pPr algn="ctr">
              <a:spcAft>
                <a:spcPts val="0"/>
              </a:spcAft>
            </a:pPr>
            <a:r>
              <a:rPr sz="4000" b="1" i="0">
                <a:solidFill>
                  <a:srgbClr val="FF7676"/>
                </a:solidFill>
                <a:latin typeface="Calibri"/>
              </a:rPr>
              <a:t>32,593</a:t>
            </a:r>
          </a:p>
          <a:p>
            <a:pPr algn="ctr">
              <a:spcAft>
                <a:spcPts val="0"/>
              </a:spcAft>
            </a:pPr>
            <a:r>
              <a:rPr sz="1500" b="0" i="0">
                <a:solidFill>
                  <a:srgbClr val="FFFFFF"/>
                </a:solidFill>
                <a:latin typeface="Calibri"/>
              </a:rPr>
              <a:t>student records (OULAD)</a:t>
            </a:r>
          </a:p>
          <a:p>
            <a:pPr algn="ctr">
              <a:spcAft>
                <a:spcPts val="0"/>
              </a:spcAft>
            </a:pPr>
            <a:r>
              <a:rPr sz="3600" b="1" i="0">
                <a:solidFill>
                  <a:srgbClr val="FF7676"/>
                </a:solidFill>
                <a:latin typeface="Calibri"/>
              </a:rPr>
              <a:t>3 roles</a:t>
            </a:r>
          </a:p>
          <a:p>
            <a:pPr algn="ctr">
              <a:spcAft>
                <a:spcPts val="0"/>
              </a:spcAft>
            </a:pPr>
            <a:r>
              <a:rPr sz="1500" b="0" i="0">
                <a:solidFill>
                  <a:srgbClr val="FFFFFF"/>
                </a:solidFill>
                <a:latin typeface="Calibri"/>
              </a:rPr>
              <a:t>Instructor | Advisor | Administrator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Aim, Objectives &amp; Research Questions</a:t>
            </a:r>
          </a:p>
        </p:txBody>
      </p:sp>
      <p:sp>
        <p:nvSpPr>
          <p:cNvPr id="4" name="Aim band"/>
          <p:cNvSpPr/>
          <p:nvPr/>
        </p:nvSpPr>
        <p:spPr>
          <a:xfrm>
            <a:off x="2057400" y="1069848"/>
            <a:ext cx="6812280" cy="777240"/>
          </a:xfrm>
          <a:prstGeom prst="rect">
            <a:avLst/>
          </a:prstGeom>
          <a:solidFill>
            <a:srgbClr val="E8EEF7"/>
          </a:solidFill>
          <a:ln>
            <a:noFill/>
          </a:ln>
        </p:spPr>
        <p:txBody>
          <a:bodyPr rtlCol="0" anchor="ctr"/>
          <a:lstStyle/>
          <a:p>
            <a:pPr algn="ctr"/>
          </a:p>
        </p:txBody>
      </p:sp>
      <p:sp>
        <p:nvSpPr>
          <p:cNvPr id="5" name="Aim"/>
          <p:cNvSpPr txBox="1"/>
          <p:nvPr/>
        </p:nvSpPr>
        <p:spPr>
          <a:xfrm>
            <a:off x="2194560" y="1069848"/>
            <a:ext cx="6537960" cy="777240"/>
          </a:xfrm>
          <a:prstGeom prst="rect">
            <a:avLst/>
          </a:prstGeom>
          <a:noFill/>
        </p:spPr>
        <p:txBody>
          <a:bodyPr wrap="square" anchor="ctr" lIns="0" rIns="0" tIns="0" bIns="0">
            <a:spAutoFit/>
          </a:bodyPr>
          <a:lstStyle/>
          <a:p>
            <a:pPr algn="l">
              <a:spcAft>
                <a:spcPts val="600"/>
              </a:spcAft>
            </a:pPr>
            <a:r>
              <a:rPr sz="1600" b="1" i="0">
                <a:solidFill>
                  <a:srgbClr val="C00000"/>
                </a:solidFill>
                <a:latin typeface="Calibri"/>
              </a:rPr>
              <a:t>Aim: </a:t>
            </a:r>
            <a:r>
              <a:rPr sz="1600" b="0" i="0">
                <a:solidFill>
                  <a:srgbClr val="1F3864"/>
                </a:solidFill>
                <a:latin typeface="Calibri"/>
              </a:rPr>
              <a:t>investigate how a role-aware explainable AI dashboard can support at-risk student prediction in LMS environments, using OULAD</a:t>
            </a:r>
          </a:p>
        </p:txBody>
      </p:sp>
      <p:sp>
        <p:nvSpPr>
          <p:cNvPr id="6" name="Objectives panel"/>
          <p:cNvSpPr/>
          <p:nvPr/>
        </p:nvSpPr>
        <p:spPr>
          <a:xfrm>
            <a:off x="2057400" y="1938528"/>
            <a:ext cx="2377440" cy="4416552"/>
          </a:xfrm>
          <a:prstGeom prst="rect">
            <a:avLst/>
          </a:prstGeom>
          <a:solidFill>
            <a:srgbClr val="F5F7FA"/>
          </a:solidFill>
          <a:ln>
            <a:noFill/>
          </a:ln>
        </p:spPr>
        <p:txBody>
          <a:bodyPr rtlCol="0" anchor="ctr"/>
          <a:lstStyle/>
          <a:p>
            <a:pPr algn="ctr"/>
          </a:p>
        </p:txBody>
      </p:sp>
      <p:sp>
        <p:nvSpPr>
          <p:cNvPr id="7" name="RQ panel"/>
          <p:cNvSpPr/>
          <p:nvPr/>
        </p:nvSpPr>
        <p:spPr>
          <a:xfrm>
            <a:off x="4544568" y="1938528"/>
            <a:ext cx="4325112" cy="4416552"/>
          </a:xfrm>
          <a:prstGeom prst="rect">
            <a:avLst/>
          </a:prstGeom>
          <a:solidFill>
            <a:srgbClr val="F5F7FA"/>
          </a:solidFill>
          <a:ln>
            <a:noFill/>
          </a:ln>
        </p:spPr>
        <p:txBody>
          <a:bodyPr rtlCol="0" anchor="ctr"/>
          <a:lstStyle/>
          <a:p>
            <a:pPr algn="ctr"/>
          </a:p>
        </p:txBody>
      </p:sp>
      <p:sp>
        <p:nvSpPr>
          <p:cNvPr id="8" name="Objectives"/>
          <p:cNvSpPr txBox="1"/>
          <p:nvPr/>
        </p:nvSpPr>
        <p:spPr>
          <a:xfrm>
            <a:off x="2148840" y="2029968"/>
            <a:ext cx="2194560" cy="4233672"/>
          </a:xfrm>
          <a:prstGeom prst="rect">
            <a:avLst/>
          </a:prstGeom>
          <a:noFill/>
        </p:spPr>
        <p:txBody>
          <a:bodyPr wrap="square" lIns="36576" rIns="36576" tIns="36576" bIns="36576">
            <a:spAutoFit/>
          </a:bodyPr>
          <a:lstStyle/>
          <a:p>
            <a:pPr>
              <a:spcBef>
                <a:spcPts val="800"/>
              </a:spcBef>
              <a:spcAft>
                <a:spcPts val="300"/>
              </a:spcAft>
            </a:pPr>
            <a:r>
              <a:rPr sz="1800" b="1" i="0">
                <a:solidFill>
                  <a:srgbClr val="C00000"/>
                </a:solidFill>
                <a:latin typeface="Calibri"/>
              </a:rPr>
              <a:t>Specific Objectives</a:t>
            </a:r>
          </a:p>
          <a:p>
            <a:pPr marL="274320" indent="-274320">
              <a:spcAft>
                <a:spcPts val="400"/>
              </a:spcAft>
              <a:buClr>
                <a:srgbClr val="1F3864"/>
              </a:buClr>
              <a:buFont typeface="Arial"/>
              <a:buChar char="▪"/>
            </a:pPr>
            <a:r>
              <a:rPr sz="1500" b="1" i="0">
                <a:solidFill>
                  <a:srgbClr val="1F3864"/>
                </a:solidFill>
                <a:latin typeface="Calibri"/>
              </a:rPr>
              <a:t>O1: </a:t>
            </a:r>
            <a:r>
              <a:rPr sz="1500" b="0" i="0">
                <a:solidFill>
                  <a:srgbClr val="1F3864"/>
                </a:solidFill>
                <a:latin typeface="Calibri"/>
              </a:rPr>
              <a:t>Review predictors, ML models and XAI methods for at-risk prediction</a:t>
            </a:r>
          </a:p>
          <a:p>
            <a:pPr marL="274320" indent="-274320">
              <a:spcAft>
                <a:spcPts val="400"/>
              </a:spcAft>
              <a:buClr>
                <a:srgbClr val="1F3864"/>
              </a:buClr>
              <a:buFont typeface="Arial"/>
              <a:buChar char="▪"/>
            </a:pPr>
            <a:r>
              <a:rPr sz="1500" b="1" i="0">
                <a:solidFill>
                  <a:srgbClr val="1F3864"/>
                </a:solidFill>
                <a:latin typeface="Calibri"/>
              </a:rPr>
              <a:t>O2: </a:t>
            </a:r>
            <a:r>
              <a:rPr sz="1500" b="0" i="0">
                <a:solidFill>
                  <a:srgbClr val="1F3864"/>
                </a:solidFill>
                <a:latin typeface="Calibri"/>
              </a:rPr>
              <a:t>Build and evaluate an ensemble model on OULAD with SHAP and LIME</a:t>
            </a:r>
          </a:p>
          <a:p>
            <a:pPr marL="274320" indent="-274320">
              <a:spcAft>
                <a:spcPts val="400"/>
              </a:spcAft>
              <a:buClr>
                <a:srgbClr val="1F3864"/>
              </a:buClr>
              <a:buFont typeface="Arial"/>
              <a:buChar char="▪"/>
            </a:pPr>
            <a:r>
              <a:rPr sz="1500" b="1" i="0">
                <a:solidFill>
                  <a:srgbClr val="1F3864"/>
                </a:solidFill>
                <a:latin typeface="Calibri"/>
              </a:rPr>
              <a:t>O3: </a:t>
            </a:r>
            <a:r>
              <a:rPr sz="1500" b="0" i="0">
                <a:solidFill>
                  <a:srgbClr val="1F3864"/>
                </a:solidFill>
                <a:latin typeface="Calibri"/>
              </a:rPr>
              <a:t>Design, implement and technically evaluate a role-aware XAI dashboard</a:t>
            </a:r>
          </a:p>
        </p:txBody>
      </p:sp>
      <p:sp>
        <p:nvSpPr>
          <p:cNvPr id="9" name="Research questions"/>
          <p:cNvSpPr txBox="1"/>
          <p:nvPr/>
        </p:nvSpPr>
        <p:spPr>
          <a:xfrm>
            <a:off x="4636007" y="2029968"/>
            <a:ext cx="4142231" cy="4233672"/>
          </a:xfrm>
          <a:prstGeom prst="rect">
            <a:avLst/>
          </a:prstGeom>
          <a:noFill/>
        </p:spPr>
        <p:txBody>
          <a:bodyPr wrap="square" lIns="36576" rIns="36576" tIns="36576" bIns="36576">
            <a:spAutoFit/>
          </a:bodyPr>
          <a:lstStyle/>
          <a:p>
            <a:pPr>
              <a:spcBef>
                <a:spcPts val="800"/>
              </a:spcBef>
              <a:spcAft>
                <a:spcPts val="300"/>
              </a:spcAft>
            </a:pPr>
            <a:r>
              <a:rPr sz="1700" b="1" i="0">
                <a:solidFill>
                  <a:srgbClr val="C00000"/>
                </a:solidFill>
                <a:latin typeface="Calibri"/>
              </a:rPr>
              <a:t>Research Questions</a:t>
            </a:r>
          </a:p>
          <a:p>
            <a:pPr marL="274320" indent="-274320">
              <a:spcAft>
                <a:spcPts val="400"/>
              </a:spcAft>
              <a:buClr>
                <a:srgbClr val="1F3864"/>
              </a:buClr>
              <a:buFont typeface="Arial"/>
              <a:buChar char="▪"/>
            </a:pPr>
            <a:r>
              <a:rPr sz="1400" b="1" i="0">
                <a:solidFill>
                  <a:srgbClr val="1F3864"/>
                </a:solidFill>
                <a:latin typeface="Calibri"/>
              </a:rPr>
              <a:t>RQ1: </a:t>
            </a:r>
            <a:r>
              <a:rPr sz="1400" b="0" i="0">
                <a:solidFill>
                  <a:srgbClr val="1F3864"/>
                </a:solidFill>
                <a:latin typeface="Calibri"/>
              </a:rPr>
              <a:t>How can explainable AI techniques (specifically SHAP and LIME) be integrated into a knowledge engineering pipeline to improve transparency in student at-risk prediction models?</a:t>
            </a:r>
          </a:p>
          <a:p>
            <a:pPr marL="274320" indent="-274320">
              <a:spcAft>
                <a:spcPts val="400"/>
              </a:spcAft>
              <a:buClr>
                <a:srgbClr val="1F3864"/>
              </a:buClr>
              <a:buFont typeface="Arial"/>
              <a:buChar char="▪"/>
            </a:pPr>
            <a:r>
              <a:rPr sz="1400" b="1" i="0">
                <a:solidFill>
                  <a:srgbClr val="1F3864"/>
                </a:solidFill>
                <a:latin typeface="Calibri"/>
              </a:rPr>
              <a:t>RQ2: </a:t>
            </a:r>
            <a:r>
              <a:rPr sz="1400" b="0" i="0">
                <a:solidFill>
                  <a:srgbClr val="1F3864"/>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a:p>
            <a:pPr marL="274320" indent="-274320">
              <a:spcAft>
                <a:spcPts val="400"/>
              </a:spcAft>
              <a:buClr>
                <a:srgbClr val="1F3864"/>
              </a:buClr>
              <a:buFont typeface="Arial"/>
              <a:buChar char="▪"/>
            </a:pPr>
            <a:r>
              <a:rPr sz="1400" b="1" i="0">
                <a:solidFill>
                  <a:srgbClr val="1F3864"/>
                </a:solidFill>
                <a:latin typeface="Calibri"/>
              </a:rPr>
              <a:t>RQ3: </a:t>
            </a:r>
            <a:r>
              <a:rPr sz="1400" b="0" i="0">
                <a:solidFill>
                  <a:srgbClr val="1F3864"/>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Methodology: Knowledge Engineering</a:t>
            </a:r>
          </a:p>
        </p:txBody>
      </p:sp>
      <p:sp>
        <p:nvSpPr>
          <p:cNvPr id="4" name="Left panel"/>
          <p:cNvSpPr/>
          <p:nvPr/>
        </p:nvSpPr>
        <p:spPr>
          <a:xfrm>
            <a:off x="2057400" y="1069848"/>
            <a:ext cx="3337560" cy="5285232"/>
          </a:xfrm>
          <a:prstGeom prst="rect">
            <a:avLst/>
          </a:prstGeom>
          <a:solidFill>
            <a:srgbClr val="F5F7FA"/>
          </a:solidFill>
          <a:ln>
            <a:noFill/>
          </a:ln>
        </p:spPr>
        <p:txBody>
          <a:bodyPr rtlCol="0" anchor="ctr"/>
          <a:lstStyle/>
          <a:p>
            <a:pPr algn="ctr"/>
          </a:p>
        </p:txBody>
      </p:sp>
      <p:sp>
        <p:nvSpPr>
          <p:cNvPr id="5" name="Right panel"/>
          <p:cNvSpPr/>
          <p:nvPr/>
        </p:nvSpPr>
        <p:spPr>
          <a:xfrm>
            <a:off x="5504688" y="1069848"/>
            <a:ext cx="3364992" cy="5285232"/>
          </a:xfrm>
          <a:prstGeom prst="rect">
            <a:avLst/>
          </a:prstGeom>
          <a:solidFill>
            <a:srgbClr val="1F3864"/>
          </a:solidFill>
          <a:ln>
            <a:noFill/>
          </a:ln>
        </p:spPr>
        <p:txBody>
          <a:bodyPr rtlCol="0" anchor="ctr"/>
          <a:lstStyle/>
          <a:p>
            <a:pPr algn="ctr"/>
          </a:p>
        </p:txBody>
      </p:sp>
      <p:sp>
        <p:nvSpPr>
          <p:cNvPr id="6" name="Left text"/>
          <p:cNvSpPr txBox="1"/>
          <p:nvPr/>
        </p:nvSpPr>
        <p:spPr>
          <a:xfrm>
            <a:off x="2148840" y="1161288"/>
            <a:ext cx="3154679" cy="5102352"/>
          </a:xfrm>
          <a:prstGeom prst="rect">
            <a:avLst/>
          </a:prstGeom>
          <a:noFill/>
        </p:spPr>
        <p:txBody>
          <a:bodyPr wrap="square" lIns="36576" rIns="36576" tIns="36576" bIns="36576">
            <a:spAutoFit/>
          </a:bodyPr>
          <a:lstStyle/>
          <a:p>
            <a:pPr>
              <a:spcBef>
                <a:spcPts val="800"/>
              </a:spcBef>
              <a:spcAft>
                <a:spcPts val="300"/>
              </a:spcAft>
            </a:pPr>
            <a:r>
              <a:rPr sz="2000" b="1" i="0">
                <a:solidFill>
                  <a:srgbClr val="C00000"/>
                </a:solidFill>
                <a:latin typeface="Calibri"/>
              </a:rPr>
              <a:t>Primary: CommonKADS</a:t>
            </a:r>
          </a:p>
          <a:p>
            <a:pPr marL="274320" indent="-274320">
              <a:spcAft>
                <a:spcPts val="400"/>
              </a:spcAft>
              <a:buClr>
                <a:srgbClr val="1F3864"/>
              </a:buClr>
              <a:buFont typeface="Arial"/>
              <a:buChar char="▪"/>
            </a:pPr>
            <a:r>
              <a:rPr sz="1700" b="0" i="0">
                <a:solidFill>
                  <a:srgbClr val="1F3864"/>
                </a:solidFill>
                <a:latin typeface="Calibri"/>
              </a:rPr>
              <a:t>Knowledge engineering methodology (Schreiber et al., 2000)</a:t>
            </a:r>
          </a:p>
          <a:p>
            <a:pPr marL="274320" indent="-274320">
              <a:spcAft>
                <a:spcPts val="400"/>
              </a:spcAft>
              <a:buClr>
                <a:srgbClr val="1F3864"/>
              </a:buClr>
              <a:buFont typeface="Arial"/>
              <a:buChar char="▪"/>
            </a:pPr>
            <a:r>
              <a:rPr sz="1700" b="0" i="0">
                <a:solidFill>
                  <a:srgbClr val="1F3864"/>
                </a:solidFill>
                <a:latin typeface="Calibri"/>
              </a:rPr>
              <a:t>Six models: Organisation, Task, Agent, Knowledge, Communication, Design</a:t>
            </a:r>
          </a:p>
          <a:p>
            <a:pPr marL="274320" indent="-274320">
              <a:spcAft>
                <a:spcPts val="400"/>
              </a:spcAft>
              <a:buClr>
                <a:srgbClr val="1F3864"/>
              </a:buClr>
              <a:buFont typeface="Arial"/>
              <a:buChar char="▪"/>
            </a:pPr>
            <a:r>
              <a:rPr sz="1700" b="0" i="0">
                <a:solidFill>
                  <a:srgbClr val="1F3864"/>
                </a:solidFill>
                <a:latin typeface="Calibri"/>
              </a:rPr>
              <a:t>Chosen because the core problem is delivering the right explanation to each role</a:t>
            </a:r>
          </a:p>
          <a:p>
            <a:pPr>
              <a:spcBef>
                <a:spcPts val="800"/>
              </a:spcBef>
              <a:spcAft>
                <a:spcPts val="300"/>
              </a:spcAft>
            </a:pPr>
            <a:r>
              <a:rPr sz="2000" b="1" i="0">
                <a:solidFill>
                  <a:srgbClr val="C00000"/>
                </a:solidFill>
                <a:latin typeface="Calibri"/>
              </a:rPr>
              <a:t>Supporting</a:t>
            </a:r>
          </a:p>
          <a:p>
            <a:pPr marL="274320" indent="-274320">
              <a:spcAft>
                <a:spcPts val="400"/>
              </a:spcAft>
              <a:buClr>
                <a:srgbClr val="1F3864"/>
              </a:buClr>
              <a:buFont typeface="Arial"/>
              <a:buChar char="▪"/>
            </a:pPr>
            <a:r>
              <a:rPr sz="1700" b="1" i="0">
                <a:solidFill>
                  <a:srgbClr val="1F3864"/>
                </a:solidFill>
                <a:latin typeface="Calibri"/>
              </a:rPr>
              <a:t>DSRM </a:t>
            </a:r>
            <a:r>
              <a:rPr sz="1700" b="0" i="0">
                <a:solidFill>
                  <a:srgbClr val="1F3864"/>
                </a:solidFill>
                <a:latin typeface="Calibri"/>
              </a:rPr>
              <a:t>(Peffers et al., 2007): structures the research process</a:t>
            </a:r>
          </a:p>
          <a:p>
            <a:pPr marL="274320" indent="-274320">
              <a:spcAft>
                <a:spcPts val="400"/>
              </a:spcAft>
              <a:buClr>
                <a:srgbClr val="1F3864"/>
              </a:buClr>
              <a:buFont typeface="Arial"/>
              <a:buChar char="▪"/>
            </a:pPr>
            <a:r>
              <a:rPr sz="1700" b="1" i="0">
                <a:solidFill>
                  <a:srgbClr val="1F3864"/>
                </a:solidFill>
                <a:latin typeface="Calibri"/>
              </a:rPr>
              <a:t>TAM </a:t>
            </a:r>
            <a:r>
              <a:rPr sz="1700" b="0" i="0">
                <a:solidFill>
                  <a:srgbClr val="1F3864"/>
                </a:solidFill>
                <a:latin typeface="Calibri"/>
              </a:rPr>
              <a:t>(Davis, 1989): design lens only, not tested</a:t>
            </a:r>
          </a:p>
        </p:txBody>
      </p:sp>
      <p:sp>
        <p:nvSpPr>
          <p:cNvPr id="7" name="Right text"/>
          <p:cNvSpPr txBox="1"/>
          <p:nvPr/>
        </p:nvSpPr>
        <p:spPr>
          <a:xfrm>
            <a:off x="5641848" y="1161288"/>
            <a:ext cx="3136392" cy="5102352"/>
          </a:xfrm>
          <a:prstGeom prst="rect">
            <a:avLst/>
          </a:prstGeom>
          <a:noFill/>
        </p:spPr>
        <p:txBody>
          <a:bodyPr wrap="square" lIns="36576" rIns="36576" tIns="36576" bIns="36576">
            <a:spAutoFit/>
          </a:bodyPr>
          <a:lstStyle/>
          <a:p>
            <a:pPr>
              <a:spcBef>
                <a:spcPts val="800"/>
              </a:spcBef>
              <a:spcAft>
                <a:spcPts val="300"/>
              </a:spcAft>
            </a:pPr>
            <a:r>
              <a:rPr sz="2000" b="1" i="0">
                <a:solidFill>
                  <a:srgbClr val="FFFFFF"/>
                </a:solidFill>
                <a:latin typeface="Calibri"/>
              </a:rPr>
              <a:t>Four Phases</a:t>
            </a:r>
          </a:p>
          <a:p>
            <a:pPr marL="274320" indent="-274320">
              <a:spcAft>
                <a:spcPts val="400"/>
              </a:spcAft>
              <a:buClr>
                <a:srgbClr val="FFFFFF"/>
              </a:buClr>
              <a:buFont typeface="Arial"/>
              <a:buChar char="►"/>
            </a:pPr>
            <a:r>
              <a:rPr sz="1700" b="0" i="0">
                <a:solidFill>
                  <a:srgbClr val="FFFFFF"/>
                </a:solidFill>
                <a:latin typeface="Calibri"/>
              </a:rPr>
              <a:t>Knowledge acquisition and organisation analysis</a:t>
            </a:r>
          </a:p>
          <a:p>
            <a:pPr marL="274320" indent="-274320">
              <a:spcAft>
                <a:spcPts val="400"/>
              </a:spcAft>
              <a:buClr>
                <a:srgbClr val="FFFFFF"/>
              </a:buClr>
              <a:buFont typeface="Arial"/>
              <a:buChar char="►"/>
            </a:pPr>
            <a:r>
              <a:rPr sz="1700" b="0" i="0">
                <a:solidFill>
                  <a:srgbClr val="FFFFFF"/>
                </a:solidFill>
                <a:latin typeface="Calibri"/>
              </a:rPr>
              <a:t>Knowledge and system modelling</a:t>
            </a:r>
          </a:p>
          <a:p>
            <a:pPr marL="274320" indent="-274320">
              <a:spcAft>
                <a:spcPts val="400"/>
              </a:spcAft>
              <a:buClr>
                <a:srgbClr val="FFFFFF"/>
              </a:buClr>
              <a:buFont typeface="Arial"/>
              <a:buChar char="►"/>
            </a:pPr>
            <a:r>
              <a:rPr sz="1700" b="0" i="0">
                <a:solidFill>
                  <a:srgbClr val="FFFFFF"/>
                </a:solidFill>
                <a:latin typeface="Calibri"/>
              </a:rPr>
              <a:t>Artefact design and development</a:t>
            </a:r>
          </a:p>
          <a:p>
            <a:pPr marL="274320" indent="-274320">
              <a:spcAft>
                <a:spcPts val="400"/>
              </a:spcAft>
              <a:buClr>
                <a:srgbClr val="FFFFFF"/>
              </a:buClr>
              <a:buFont typeface="Arial"/>
              <a:buChar char="►"/>
            </a:pPr>
            <a:r>
              <a:rPr sz="1700" b="0" i="0">
                <a:solidFill>
                  <a:srgbClr val="FFFFFF"/>
                </a:solidFill>
                <a:latin typeface="Calibri"/>
              </a:rPr>
              <a:t>Technical evaluation on OULAD</a:t>
            </a:r>
          </a:p>
          <a:p>
            <a:pPr>
              <a:spcBef>
                <a:spcPts val="800"/>
              </a:spcBef>
              <a:spcAft>
                <a:spcPts val="300"/>
              </a:spcAft>
            </a:pPr>
            <a:r>
              <a:rPr sz="2000" b="1" i="0">
                <a:solidFill>
                  <a:srgbClr val="FFFFFF"/>
                </a:solidFill>
                <a:latin typeface="Calibri"/>
              </a:rPr>
              <a:t>Scope</a:t>
            </a:r>
          </a:p>
          <a:p>
            <a:pPr marL="274320" indent="-274320">
              <a:spcAft>
                <a:spcPts val="400"/>
              </a:spcAft>
              <a:buClr>
                <a:srgbClr val="FFFFFF"/>
              </a:buClr>
              <a:buFont typeface="Arial"/>
              <a:buChar char="►"/>
            </a:pPr>
            <a:r>
              <a:rPr sz="1700" b="0" i="0">
                <a:solidFill>
                  <a:srgbClr val="FFFFFF"/>
                </a:solidFill>
                <a:latin typeface="Calibri"/>
              </a:rPr>
              <a:t>Knowledge drawn from published literature</a:t>
            </a:r>
          </a:p>
          <a:p>
            <a:pPr marL="274320" indent="-274320">
              <a:spcAft>
                <a:spcPts val="400"/>
              </a:spcAft>
              <a:buClr>
                <a:srgbClr val="FFFFFF"/>
              </a:buClr>
              <a:buFont typeface="Arial"/>
              <a:buChar char="►"/>
            </a:pPr>
            <a:r>
              <a:rPr sz="1700" b="0" i="0">
                <a:solidFill>
                  <a:srgbClr val="FFFFFF"/>
                </a:solidFill>
                <a:latin typeface="Calibri"/>
              </a:rPr>
              <a:t>No practitioner data collected; usability not measured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System Architecture &amp; Implementation</a:t>
            </a:r>
          </a:p>
        </p:txBody>
      </p:sp>
      <p:sp>
        <p:nvSpPr>
          <p:cNvPr id="4" name="Layer 1"/>
          <p:cNvSpPr/>
          <p:nvPr/>
        </p:nvSpPr>
        <p:spPr>
          <a:xfrm>
            <a:off x="2057400" y="1207007"/>
            <a:ext cx="1289304" cy="1188720"/>
          </a:xfrm>
          <a:prstGeom prst="rect">
            <a:avLst/>
          </a:prstGeom>
          <a:solidFill>
            <a:srgbClr val="1F3864"/>
          </a:solidFill>
          <a:ln>
            <a:noFill/>
          </a:ln>
        </p:spPr>
        <p:txBody>
          <a:bodyPr rtlCol="0" anchor="ctr"/>
          <a:lstStyle/>
          <a:p>
            <a:pPr algn="ctr"/>
          </a:p>
        </p:txBody>
      </p:sp>
      <p:sp>
        <p:nvSpPr>
          <p:cNvPr id="5" name="Layer text 1"/>
          <p:cNvSpPr txBox="1"/>
          <p:nvPr/>
        </p:nvSpPr>
        <p:spPr>
          <a:xfrm>
            <a:off x="2103120" y="1207007"/>
            <a:ext cx="1197863" cy="1188720"/>
          </a:xfrm>
          <a:prstGeom prst="rect">
            <a:avLst/>
          </a:prstGeom>
          <a:noFill/>
        </p:spPr>
        <p:txBody>
          <a:bodyPr wrap="square" anchor="ctr" lIns="0" rIns="0" tIns="0" bIns="0">
            <a:spAutoFit/>
          </a:bodyPr>
          <a:lstStyle/>
          <a:p>
            <a:pPr algn="ctr">
              <a:spcAft>
                <a:spcPts val="300"/>
              </a:spcAft>
            </a:pPr>
            <a:r>
              <a:rPr sz="1500" b="1" i="0">
                <a:solidFill>
                  <a:srgbClr val="FFFFFF"/>
                </a:solidFill>
                <a:latin typeface="Calibri"/>
              </a:rPr>
              <a:t>Data Layer</a:t>
            </a:r>
          </a:p>
          <a:p>
            <a:pPr algn="ctr">
              <a:spcAft>
                <a:spcPts val="300"/>
              </a:spcAft>
            </a:pPr>
            <a:r>
              <a:rPr sz="1300" b="0" i="0">
                <a:solidFill>
                  <a:srgbClr val="FFFFFF"/>
                </a:solidFill>
                <a:latin typeface="Calibri"/>
              </a:rPr>
              <a:t>OULAD features (pandas)</a:t>
            </a:r>
          </a:p>
        </p:txBody>
      </p:sp>
      <p:sp>
        <p:nvSpPr>
          <p:cNvPr id="6" name="Layer 2"/>
          <p:cNvSpPr/>
          <p:nvPr/>
        </p:nvSpPr>
        <p:spPr>
          <a:xfrm>
            <a:off x="3438144" y="1207007"/>
            <a:ext cx="1289304" cy="1188720"/>
          </a:xfrm>
          <a:prstGeom prst="rect">
            <a:avLst/>
          </a:prstGeom>
          <a:solidFill>
            <a:srgbClr val="2B4E8C"/>
          </a:solidFill>
          <a:ln>
            <a:noFill/>
          </a:ln>
        </p:spPr>
        <p:txBody>
          <a:bodyPr rtlCol="0" anchor="ctr"/>
          <a:lstStyle/>
          <a:p>
            <a:pPr algn="ctr"/>
          </a:p>
        </p:txBody>
      </p:sp>
      <p:sp>
        <p:nvSpPr>
          <p:cNvPr id="7" name="Layer text 2"/>
          <p:cNvSpPr txBox="1"/>
          <p:nvPr/>
        </p:nvSpPr>
        <p:spPr>
          <a:xfrm>
            <a:off x="3483863" y="1207007"/>
            <a:ext cx="1197863" cy="1188720"/>
          </a:xfrm>
          <a:prstGeom prst="rect">
            <a:avLst/>
          </a:prstGeom>
          <a:noFill/>
        </p:spPr>
        <p:txBody>
          <a:bodyPr wrap="square" anchor="ctr" lIns="0" rIns="0" tIns="0" bIns="0">
            <a:spAutoFit/>
          </a:bodyPr>
          <a:lstStyle/>
          <a:p>
            <a:pPr algn="ctr">
              <a:spcAft>
                <a:spcPts val="300"/>
              </a:spcAft>
            </a:pPr>
            <a:r>
              <a:rPr sz="1500" b="1" i="0">
                <a:solidFill>
                  <a:srgbClr val="FFFFFF"/>
                </a:solidFill>
                <a:latin typeface="Calibri"/>
              </a:rPr>
              <a:t>Prediction Engine</a:t>
            </a:r>
          </a:p>
          <a:p>
            <a:pPr algn="ctr">
              <a:spcAft>
                <a:spcPts val="300"/>
              </a:spcAft>
            </a:pPr>
            <a:r>
              <a:rPr sz="1300" b="0" i="0">
                <a:solidFill>
                  <a:srgbClr val="FFFFFF"/>
                </a:solidFill>
                <a:latin typeface="Calibri"/>
              </a:rPr>
              <a:t>XGBoost pipeline</a:t>
            </a:r>
          </a:p>
        </p:txBody>
      </p:sp>
      <p:sp>
        <p:nvSpPr>
          <p:cNvPr id="8" name="Layer 3"/>
          <p:cNvSpPr/>
          <p:nvPr/>
        </p:nvSpPr>
        <p:spPr>
          <a:xfrm>
            <a:off x="4818888" y="1207007"/>
            <a:ext cx="1289304" cy="1188720"/>
          </a:xfrm>
          <a:prstGeom prst="rect">
            <a:avLst/>
          </a:prstGeom>
          <a:solidFill>
            <a:srgbClr val="C00000"/>
          </a:solidFill>
          <a:ln>
            <a:noFill/>
          </a:ln>
        </p:spPr>
        <p:txBody>
          <a:bodyPr rtlCol="0" anchor="ctr"/>
          <a:lstStyle/>
          <a:p>
            <a:pPr algn="ctr"/>
          </a:p>
        </p:txBody>
      </p:sp>
      <p:sp>
        <p:nvSpPr>
          <p:cNvPr id="9" name="Layer text 3"/>
          <p:cNvSpPr txBox="1"/>
          <p:nvPr/>
        </p:nvSpPr>
        <p:spPr>
          <a:xfrm>
            <a:off x="4864607" y="1207007"/>
            <a:ext cx="1197863" cy="1188720"/>
          </a:xfrm>
          <a:prstGeom prst="rect">
            <a:avLst/>
          </a:prstGeom>
          <a:noFill/>
        </p:spPr>
        <p:txBody>
          <a:bodyPr wrap="square" anchor="ctr" lIns="0" rIns="0" tIns="0" bIns="0">
            <a:spAutoFit/>
          </a:bodyPr>
          <a:lstStyle/>
          <a:p>
            <a:pPr algn="ctr">
              <a:spcAft>
                <a:spcPts val="300"/>
              </a:spcAft>
            </a:pPr>
            <a:r>
              <a:rPr sz="1500" b="1" i="0">
                <a:solidFill>
                  <a:srgbClr val="FFFFFF"/>
                </a:solidFill>
                <a:latin typeface="Calibri"/>
              </a:rPr>
              <a:t>Explainability</a:t>
            </a:r>
          </a:p>
          <a:p>
            <a:pPr algn="ctr">
              <a:spcAft>
                <a:spcPts val="300"/>
              </a:spcAft>
            </a:pPr>
            <a:r>
              <a:rPr sz="1300" b="0" i="0">
                <a:solidFill>
                  <a:srgbClr val="FFFFFF"/>
                </a:solidFill>
                <a:latin typeface="Calibri"/>
              </a:rPr>
              <a:t>TreeSHAP + LIME</a:t>
            </a:r>
          </a:p>
        </p:txBody>
      </p:sp>
      <p:sp>
        <p:nvSpPr>
          <p:cNvPr id="10" name="Layer 4"/>
          <p:cNvSpPr/>
          <p:nvPr/>
        </p:nvSpPr>
        <p:spPr>
          <a:xfrm>
            <a:off x="6199632" y="1207007"/>
            <a:ext cx="1289304" cy="1188720"/>
          </a:xfrm>
          <a:prstGeom prst="rect">
            <a:avLst/>
          </a:prstGeom>
          <a:solidFill>
            <a:srgbClr val="375623"/>
          </a:solidFill>
          <a:ln>
            <a:noFill/>
          </a:ln>
        </p:spPr>
        <p:txBody>
          <a:bodyPr rtlCol="0" anchor="ctr"/>
          <a:lstStyle/>
          <a:p>
            <a:pPr algn="ctr"/>
          </a:p>
        </p:txBody>
      </p:sp>
      <p:sp>
        <p:nvSpPr>
          <p:cNvPr id="11" name="Layer text 4"/>
          <p:cNvSpPr txBox="1"/>
          <p:nvPr/>
        </p:nvSpPr>
        <p:spPr>
          <a:xfrm>
            <a:off x="6245352" y="1207007"/>
            <a:ext cx="1197863" cy="1188720"/>
          </a:xfrm>
          <a:prstGeom prst="rect">
            <a:avLst/>
          </a:prstGeom>
          <a:noFill/>
        </p:spPr>
        <p:txBody>
          <a:bodyPr wrap="square" anchor="ctr" lIns="0" rIns="0" tIns="0" bIns="0">
            <a:spAutoFit/>
          </a:bodyPr>
          <a:lstStyle/>
          <a:p>
            <a:pPr algn="ctr">
              <a:spcAft>
                <a:spcPts val="300"/>
              </a:spcAft>
            </a:pPr>
            <a:r>
              <a:rPr sz="1500" b="1" i="0">
                <a:solidFill>
                  <a:srgbClr val="FFFFFF"/>
                </a:solidFill>
                <a:latin typeface="Calibri"/>
              </a:rPr>
              <a:t>API Layer</a:t>
            </a:r>
          </a:p>
          <a:p>
            <a:pPr algn="ctr">
              <a:spcAft>
                <a:spcPts val="300"/>
              </a:spcAft>
            </a:pPr>
            <a:r>
              <a:rPr sz="1300" b="0" i="0">
                <a:solidFill>
                  <a:srgbClr val="FFFFFF"/>
                </a:solidFill>
                <a:latin typeface="Calibri"/>
              </a:rPr>
              <a:t>Flask, JWT, roles</a:t>
            </a:r>
          </a:p>
        </p:txBody>
      </p:sp>
      <p:sp>
        <p:nvSpPr>
          <p:cNvPr id="12" name="Layer 5"/>
          <p:cNvSpPr/>
          <p:nvPr/>
        </p:nvSpPr>
        <p:spPr>
          <a:xfrm>
            <a:off x="7580375" y="1207007"/>
            <a:ext cx="1289304" cy="1188720"/>
          </a:xfrm>
          <a:prstGeom prst="rect">
            <a:avLst/>
          </a:prstGeom>
          <a:solidFill>
            <a:srgbClr val="1F3864"/>
          </a:solidFill>
          <a:ln>
            <a:noFill/>
          </a:ln>
        </p:spPr>
        <p:txBody>
          <a:bodyPr rtlCol="0" anchor="ctr"/>
          <a:lstStyle/>
          <a:p>
            <a:pPr algn="ctr"/>
          </a:p>
        </p:txBody>
      </p:sp>
      <p:sp>
        <p:nvSpPr>
          <p:cNvPr id="13" name="Layer text 5"/>
          <p:cNvSpPr txBox="1"/>
          <p:nvPr/>
        </p:nvSpPr>
        <p:spPr>
          <a:xfrm>
            <a:off x="7626096" y="1207007"/>
            <a:ext cx="1197863" cy="1188720"/>
          </a:xfrm>
          <a:prstGeom prst="rect">
            <a:avLst/>
          </a:prstGeom>
          <a:noFill/>
        </p:spPr>
        <p:txBody>
          <a:bodyPr wrap="square" anchor="ctr" lIns="0" rIns="0" tIns="0" bIns="0">
            <a:spAutoFit/>
          </a:bodyPr>
          <a:lstStyle/>
          <a:p>
            <a:pPr algn="ctr">
              <a:spcAft>
                <a:spcPts val="300"/>
              </a:spcAft>
            </a:pPr>
            <a:r>
              <a:rPr sz="1500" b="1" i="0">
                <a:solidFill>
                  <a:srgbClr val="FFFFFF"/>
                </a:solidFill>
                <a:latin typeface="Calibri"/>
              </a:rPr>
              <a:t>Presentation</a:t>
            </a:r>
          </a:p>
          <a:p>
            <a:pPr algn="ctr">
              <a:spcAft>
                <a:spcPts val="300"/>
              </a:spcAft>
            </a:pPr>
            <a:r>
              <a:rPr sz="1300" b="0" i="0">
                <a:solidFill>
                  <a:srgbClr val="FFFFFF"/>
                </a:solidFill>
                <a:latin typeface="Calibri"/>
              </a:rPr>
              <a:t>3 role views (React)</a:t>
            </a:r>
          </a:p>
        </p:txBody>
      </p:sp>
      <p:sp>
        <p:nvSpPr>
          <p:cNvPr id="14" name="Implementation panel"/>
          <p:cNvSpPr/>
          <p:nvPr/>
        </p:nvSpPr>
        <p:spPr>
          <a:xfrm>
            <a:off x="2057400" y="2532888"/>
            <a:ext cx="6812280" cy="3822191"/>
          </a:xfrm>
          <a:prstGeom prst="rect">
            <a:avLst/>
          </a:prstGeom>
          <a:solidFill>
            <a:srgbClr val="F5F7FA"/>
          </a:solidFill>
          <a:ln>
            <a:noFill/>
          </a:ln>
        </p:spPr>
        <p:txBody>
          <a:bodyPr rtlCol="0" anchor="ctr"/>
          <a:lstStyle/>
          <a:p>
            <a:pPr algn="ctr"/>
          </a:p>
        </p:txBody>
      </p:sp>
      <p:sp>
        <p:nvSpPr>
          <p:cNvPr id="15" name="Implementation"/>
          <p:cNvSpPr txBox="1"/>
          <p:nvPr/>
        </p:nvSpPr>
        <p:spPr>
          <a:xfrm>
            <a:off x="2194560" y="2642615"/>
            <a:ext cx="6537960" cy="3639312"/>
          </a:xfrm>
          <a:prstGeom prst="rect">
            <a:avLst/>
          </a:prstGeom>
          <a:noFill/>
        </p:spPr>
        <p:txBody>
          <a:bodyPr wrap="square" lIns="36576" rIns="36576" tIns="36576" bIns="36576">
            <a:spAutoFit/>
          </a:bodyPr>
          <a:lstStyle/>
          <a:p>
            <a:pPr>
              <a:spcBef>
                <a:spcPts val="800"/>
              </a:spcBef>
              <a:spcAft>
                <a:spcPts val="300"/>
              </a:spcAft>
            </a:pPr>
            <a:r>
              <a:rPr sz="2000" b="1" i="0">
                <a:solidFill>
                  <a:srgbClr val="C00000"/>
                </a:solidFill>
                <a:latin typeface="Calibri"/>
              </a:rPr>
              <a:t>Implementation</a:t>
            </a:r>
          </a:p>
          <a:p>
            <a:pPr marL="274320" indent="-274320">
              <a:spcAft>
                <a:spcPts val="400"/>
              </a:spcAft>
              <a:buClr>
                <a:srgbClr val="1F3864"/>
              </a:buClr>
              <a:buFont typeface="Arial"/>
              <a:buChar char="▪"/>
            </a:pPr>
            <a:r>
              <a:rPr sz="1700" b="1" i="0">
                <a:solidFill>
                  <a:srgbClr val="1F3864"/>
                </a:solidFill>
                <a:latin typeface="Calibri"/>
              </a:rPr>
              <a:t>Model: </a:t>
            </a:r>
            <a:r>
              <a:rPr sz="1700" b="0" i="0">
                <a:solidFill>
                  <a:srgbClr val="1F3864"/>
                </a:solidFill>
                <a:latin typeface="Calibri"/>
              </a:rPr>
              <a:t>XGBoost, 300 trees, depth 5; saved as a versioned artefact</a:t>
            </a:r>
          </a:p>
          <a:p>
            <a:pPr marL="274320" indent="-274320">
              <a:spcAft>
                <a:spcPts val="400"/>
              </a:spcAft>
              <a:buClr>
                <a:srgbClr val="1F3864"/>
              </a:buClr>
              <a:buFont typeface="Arial"/>
              <a:buChar char="▪"/>
            </a:pPr>
            <a:r>
              <a:rPr sz="1700" b="1" i="0">
                <a:solidFill>
                  <a:srgbClr val="1F3864"/>
                </a:solidFill>
                <a:latin typeface="Calibri"/>
              </a:rPr>
              <a:t>Explanations: </a:t>
            </a:r>
            <a:r>
              <a:rPr sz="1700" b="0" i="0">
                <a:solidFill>
                  <a:srgbClr val="1F3864"/>
                </a:solidFill>
                <a:latin typeface="Calibri"/>
              </a:rPr>
              <a:t>global TreeSHAP cached; LIME generated on demand</a:t>
            </a:r>
          </a:p>
          <a:p>
            <a:pPr marL="274320" indent="-274320">
              <a:spcAft>
                <a:spcPts val="400"/>
              </a:spcAft>
              <a:buClr>
                <a:srgbClr val="1F3864"/>
              </a:buClr>
              <a:buFont typeface="Arial"/>
              <a:buChar char="▪"/>
            </a:pPr>
            <a:r>
              <a:rPr sz="1700" b="1" i="0">
                <a:solidFill>
                  <a:srgbClr val="1F3864"/>
                </a:solidFill>
                <a:latin typeface="Calibri"/>
              </a:rPr>
              <a:t>Access: </a:t>
            </a:r>
            <a:r>
              <a:rPr sz="1700" b="0" i="0">
                <a:solidFill>
                  <a:srgbClr val="1F3864"/>
                </a:solidFill>
                <a:latin typeface="Calibri"/>
              </a:rPr>
              <a:t>JWT login with role-based access control</a:t>
            </a:r>
          </a:p>
          <a:p>
            <a:pPr>
              <a:spcBef>
                <a:spcPts val="800"/>
              </a:spcBef>
              <a:spcAft>
                <a:spcPts val="300"/>
              </a:spcAft>
            </a:pPr>
            <a:r>
              <a:rPr sz="2000" b="1" i="0">
                <a:solidFill>
                  <a:srgbClr val="C00000"/>
                </a:solidFill>
                <a:latin typeface="Calibri"/>
              </a:rPr>
              <a:t>LMS Integration (tested)</a:t>
            </a:r>
          </a:p>
          <a:p>
            <a:pPr marL="274320" indent="-274320">
              <a:spcAft>
                <a:spcPts val="400"/>
              </a:spcAft>
              <a:buClr>
                <a:srgbClr val="1F3864"/>
              </a:buClr>
              <a:buFont typeface="Arial"/>
              <a:buChar char="▪"/>
            </a:pPr>
            <a:r>
              <a:rPr sz="1700" b="1" i="0">
                <a:solidFill>
                  <a:srgbClr val="1F3864"/>
                </a:solidFill>
                <a:latin typeface="Calibri"/>
              </a:rPr>
              <a:t>Moodle 5.2: </a:t>
            </a:r>
            <a:r>
              <a:rPr sz="1700" b="0" i="0">
                <a:solidFill>
                  <a:srgbClr val="1F3864"/>
                </a:solidFill>
                <a:latin typeface="Calibri"/>
              </a:rPr>
              <a:t>native plugin using Moodle login, roles and enrolments</a:t>
            </a:r>
          </a:p>
          <a:p>
            <a:pPr marL="274320" indent="-274320">
              <a:spcAft>
                <a:spcPts val="400"/>
              </a:spcAft>
              <a:buClr>
                <a:srgbClr val="1F3864"/>
              </a:buClr>
              <a:buFont typeface="Arial"/>
              <a:buChar char="▪"/>
            </a:pPr>
            <a:r>
              <a:rPr sz="1700" b="1" i="0">
                <a:solidFill>
                  <a:srgbClr val="1F3864"/>
                </a:solidFill>
                <a:latin typeface="Calibri"/>
              </a:rPr>
              <a:t>Canvas: </a:t>
            </a:r>
            <a:r>
              <a:rPr sz="1700" b="0" i="0">
                <a:solidFill>
                  <a:srgbClr val="1F3864"/>
                </a:solidFill>
                <a:latin typeface="Calibri"/>
              </a:rPr>
              <a:t>dashboard embedded as an External URL module item</a:t>
            </a:r>
          </a:p>
          <a:p>
            <a:pPr marL="274320" indent="-274320">
              <a:spcAft>
                <a:spcPts val="400"/>
              </a:spcAft>
              <a:buClr>
                <a:srgbClr val="1F3864"/>
              </a:buClr>
              <a:buFont typeface="Arial"/>
              <a:buChar char="▪"/>
            </a:pPr>
            <a:r>
              <a:rPr sz="1700" b="1" i="0">
                <a:solidFill>
                  <a:srgbClr val="1F3864"/>
                </a:solidFill>
                <a:latin typeface="Calibri"/>
              </a:rPr>
              <a:t>Deployment: </a:t>
            </a:r>
            <a:r>
              <a:rPr sz="1700" b="0" i="0">
                <a:solidFill>
                  <a:srgbClr val="1F3864"/>
                </a:solidFill>
                <a:latin typeface="Calibri"/>
              </a:rPr>
              <a:t>Docker Compose; 22 module presentations loaded as courses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Dataset &amp; Evaluation Protocol</a:t>
            </a:r>
          </a:p>
        </p:txBody>
      </p:sp>
      <p:sp>
        <p:nvSpPr>
          <p:cNvPr id="4" name="Left panel"/>
          <p:cNvSpPr/>
          <p:nvPr/>
        </p:nvSpPr>
        <p:spPr>
          <a:xfrm>
            <a:off x="2057400" y="1069848"/>
            <a:ext cx="3337560" cy="5285232"/>
          </a:xfrm>
          <a:prstGeom prst="rect">
            <a:avLst/>
          </a:prstGeom>
          <a:solidFill>
            <a:srgbClr val="F5F7FA"/>
          </a:solidFill>
          <a:ln>
            <a:noFill/>
          </a:ln>
        </p:spPr>
        <p:txBody>
          <a:bodyPr rtlCol="0" anchor="ctr"/>
          <a:lstStyle/>
          <a:p>
            <a:pPr algn="ctr"/>
          </a:p>
        </p:txBody>
      </p:sp>
      <p:sp>
        <p:nvSpPr>
          <p:cNvPr id="5" name="Right panel"/>
          <p:cNvSpPr/>
          <p:nvPr/>
        </p:nvSpPr>
        <p:spPr>
          <a:xfrm>
            <a:off x="5504688" y="1069848"/>
            <a:ext cx="3364992" cy="5285232"/>
          </a:xfrm>
          <a:prstGeom prst="rect">
            <a:avLst/>
          </a:prstGeom>
          <a:solidFill>
            <a:srgbClr val="1F3864"/>
          </a:solidFill>
          <a:ln>
            <a:noFill/>
          </a:ln>
        </p:spPr>
        <p:txBody>
          <a:bodyPr rtlCol="0" anchor="ctr"/>
          <a:lstStyle/>
          <a:p>
            <a:pPr algn="ctr"/>
          </a:p>
        </p:txBody>
      </p:sp>
      <p:sp>
        <p:nvSpPr>
          <p:cNvPr id="6" name="Left text"/>
          <p:cNvSpPr txBox="1"/>
          <p:nvPr/>
        </p:nvSpPr>
        <p:spPr>
          <a:xfrm>
            <a:off x="2148840" y="1161288"/>
            <a:ext cx="3154679" cy="5102352"/>
          </a:xfrm>
          <a:prstGeom prst="rect">
            <a:avLst/>
          </a:prstGeom>
          <a:noFill/>
        </p:spPr>
        <p:txBody>
          <a:bodyPr wrap="square" lIns="36576" rIns="36576" tIns="36576" bIns="36576">
            <a:spAutoFit/>
          </a:bodyPr>
          <a:lstStyle/>
          <a:p>
            <a:pPr>
              <a:spcBef>
                <a:spcPts val="800"/>
              </a:spcBef>
              <a:spcAft>
                <a:spcPts val="300"/>
              </a:spcAft>
            </a:pPr>
            <a:r>
              <a:rPr sz="2000" b="1" i="0">
                <a:solidFill>
                  <a:srgbClr val="C00000"/>
                </a:solidFill>
                <a:latin typeface="Calibri"/>
              </a:rPr>
              <a:t>Dataset: OULAD</a:t>
            </a:r>
          </a:p>
          <a:p>
            <a:pPr marL="274320" indent="-274320">
              <a:spcAft>
                <a:spcPts val="400"/>
              </a:spcAft>
              <a:buClr>
                <a:srgbClr val="1F3864"/>
              </a:buClr>
              <a:buFont typeface="Arial"/>
              <a:buChar char="▪"/>
            </a:pPr>
            <a:r>
              <a:rPr sz="1700" b="0" i="0">
                <a:solidFill>
                  <a:srgbClr val="1F3864"/>
                </a:solidFill>
                <a:latin typeface="Calibri"/>
              </a:rPr>
              <a:t>Kuzilek et al. (2017): 32,593 records, 22 module presentations</a:t>
            </a:r>
          </a:p>
          <a:p>
            <a:pPr marL="274320" indent="-274320">
              <a:spcAft>
                <a:spcPts val="400"/>
              </a:spcAft>
              <a:buClr>
                <a:srgbClr val="1F3864"/>
              </a:buClr>
              <a:buFont typeface="Arial"/>
              <a:buChar char="▪"/>
            </a:pPr>
            <a:r>
              <a:rPr sz="1700" b="1" i="0">
                <a:solidFill>
                  <a:srgbClr val="1F3864"/>
                </a:solidFill>
                <a:latin typeface="Calibri"/>
              </a:rPr>
              <a:t>At risk </a:t>
            </a:r>
            <a:r>
              <a:rPr sz="1700" b="0" i="0">
                <a:solidFill>
                  <a:srgbClr val="1F3864"/>
                </a:solidFill>
                <a:latin typeface="Calibri"/>
              </a:rPr>
              <a:t>= Withdrawn or Fail (52.8%)</a:t>
            </a:r>
          </a:p>
          <a:p>
            <a:pPr marL="274320" indent="-274320">
              <a:spcAft>
                <a:spcPts val="400"/>
              </a:spcAft>
              <a:buClr>
                <a:srgbClr val="1F3864"/>
              </a:buClr>
              <a:buFont typeface="Arial"/>
              <a:buChar char="▪"/>
            </a:pPr>
            <a:r>
              <a:rPr sz="1700" b="0" i="0">
                <a:solidFill>
                  <a:srgbClr val="1F3864"/>
                </a:solidFill>
                <a:latin typeface="Calibri"/>
              </a:rPr>
              <a:t>24 inputs, 59 features: engagement, assessment, demographic</a:t>
            </a:r>
          </a:p>
          <a:p>
            <a:pPr>
              <a:spcBef>
                <a:spcPts val="800"/>
              </a:spcBef>
              <a:spcAft>
                <a:spcPts val="300"/>
              </a:spcAft>
            </a:pPr>
            <a:r>
              <a:rPr sz="2000" b="1" i="0">
                <a:solidFill>
                  <a:srgbClr val="C00000"/>
                </a:solidFill>
                <a:latin typeface="Calibri"/>
              </a:rPr>
              <a:t>Protocol</a:t>
            </a:r>
          </a:p>
          <a:p>
            <a:pPr marL="274320" indent="-274320">
              <a:spcAft>
                <a:spcPts val="400"/>
              </a:spcAft>
              <a:buClr>
                <a:srgbClr val="1F3864"/>
              </a:buClr>
              <a:buFont typeface="Arial"/>
              <a:buChar char="▪"/>
            </a:pPr>
            <a:r>
              <a:rPr sz="1700" b="0" i="0">
                <a:solidFill>
                  <a:srgbClr val="1F3864"/>
                </a:solidFill>
                <a:latin typeface="Calibri"/>
              </a:rPr>
              <a:t>GroupKFold by course presentation (4 folds)</a:t>
            </a:r>
          </a:p>
          <a:p>
            <a:pPr marL="274320" indent="-274320">
              <a:spcAft>
                <a:spcPts val="400"/>
              </a:spcAft>
              <a:buClr>
                <a:srgbClr val="1F3864"/>
              </a:buClr>
              <a:buFont typeface="Arial"/>
              <a:buChar char="▪"/>
            </a:pPr>
            <a:r>
              <a:rPr sz="1700" b="0" i="0">
                <a:solidFill>
                  <a:srgbClr val="1F3864"/>
                </a:solidFill>
                <a:latin typeface="Calibri"/>
              </a:rPr>
              <a:t>Tested only on presentations unseen in training</a:t>
            </a:r>
          </a:p>
          <a:p>
            <a:pPr marL="274320" indent="-274320">
              <a:spcAft>
                <a:spcPts val="400"/>
              </a:spcAft>
              <a:buClr>
                <a:srgbClr val="1F3864"/>
              </a:buClr>
              <a:buFont typeface="Arial"/>
              <a:buChar char="▪"/>
            </a:pPr>
            <a:r>
              <a:rPr sz="1700" b="0" i="0">
                <a:solidFill>
                  <a:srgbClr val="1F3864"/>
                </a:solidFill>
                <a:latin typeface="Calibri"/>
              </a:rPr>
              <a:t>Accuracy, precision, recall, F1 at threshold 0.5</a:t>
            </a:r>
          </a:p>
        </p:txBody>
      </p:sp>
      <p:sp>
        <p:nvSpPr>
          <p:cNvPr id="7" name="Right text"/>
          <p:cNvSpPr txBox="1"/>
          <p:nvPr/>
        </p:nvSpPr>
        <p:spPr>
          <a:xfrm>
            <a:off x="5641848" y="1161288"/>
            <a:ext cx="3136392" cy="5102352"/>
          </a:xfrm>
          <a:prstGeom prst="rect">
            <a:avLst/>
          </a:prstGeom>
          <a:noFill/>
        </p:spPr>
        <p:txBody>
          <a:bodyPr wrap="square" lIns="36576" rIns="36576" tIns="36576" bIns="36576">
            <a:spAutoFit/>
          </a:bodyPr>
          <a:lstStyle/>
          <a:p>
            <a:pPr>
              <a:spcBef>
                <a:spcPts val="800"/>
              </a:spcBef>
              <a:spcAft>
                <a:spcPts val="300"/>
              </a:spcAft>
            </a:pPr>
            <a:r>
              <a:rPr sz="2000" b="1" i="0">
                <a:solidFill>
                  <a:srgbClr val="FFFFFF"/>
                </a:solidFill>
                <a:latin typeface="Calibri"/>
              </a:rPr>
              <a:t>Why Recall First?</a:t>
            </a:r>
          </a:p>
          <a:p>
            <a:pPr marL="274320" indent="-274320">
              <a:spcAft>
                <a:spcPts val="400"/>
              </a:spcAft>
              <a:buClr>
                <a:srgbClr val="FFFFFF"/>
              </a:buClr>
              <a:buFont typeface="Arial"/>
              <a:buChar char="►"/>
            </a:pPr>
            <a:r>
              <a:rPr sz="1700" b="0" i="0">
                <a:solidFill>
                  <a:srgbClr val="FFFFFF"/>
                </a:solidFill>
                <a:latin typeface="Calibri"/>
              </a:rPr>
              <a:t>A missed at-risk student gets no support</a:t>
            </a:r>
          </a:p>
          <a:p>
            <a:pPr marL="274320" indent="-274320">
              <a:spcAft>
                <a:spcPts val="400"/>
              </a:spcAft>
              <a:buClr>
                <a:srgbClr val="FFFFFF"/>
              </a:buClr>
              <a:buFont typeface="Arial"/>
              <a:buChar char="►"/>
            </a:pPr>
            <a:r>
              <a:rPr sz="1700" b="0" i="0">
                <a:solidFill>
                  <a:srgbClr val="FFFFFF"/>
                </a:solidFill>
                <a:latin typeface="Calibri"/>
              </a:rPr>
              <a:t>A false alarm is reviewed and set aside by staff</a:t>
            </a:r>
          </a:p>
          <a:p>
            <a:pPr>
              <a:spcBef>
                <a:spcPts val="800"/>
              </a:spcBef>
              <a:spcAft>
                <a:spcPts val="300"/>
              </a:spcAft>
            </a:pPr>
            <a:r>
              <a:rPr sz="2000" b="1" i="0">
                <a:solidFill>
                  <a:srgbClr val="FFFFFF"/>
                </a:solidFill>
                <a:latin typeface="Calibri"/>
              </a:rPr>
              <a:t>Important Limit</a:t>
            </a:r>
          </a:p>
          <a:p>
            <a:pPr marL="274320" indent="-274320">
              <a:spcAft>
                <a:spcPts val="400"/>
              </a:spcAft>
              <a:buClr>
                <a:srgbClr val="FFFFFF"/>
              </a:buClr>
              <a:buFont typeface="Arial"/>
              <a:buChar char="►"/>
            </a:pPr>
            <a:r>
              <a:rPr sz="1700" b="0" i="0">
                <a:solidFill>
                  <a:srgbClr val="FFFFFF"/>
                </a:solidFill>
                <a:latin typeface="Calibri"/>
              </a:rPr>
              <a:t>Features span the whole presentation</a:t>
            </a:r>
          </a:p>
          <a:p>
            <a:pPr marL="274320" indent="-274320">
              <a:spcAft>
                <a:spcPts val="400"/>
              </a:spcAft>
              <a:buClr>
                <a:srgbClr val="FFFFFF"/>
              </a:buClr>
              <a:buFont typeface="Arial"/>
              <a:buChar char="►"/>
            </a:pPr>
            <a:r>
              <a:rPr sz="1700" b="0" i="0">
                <a:solidFill>
                  <a:srgbClr val="FFFFFF"/>
                </a:solidFill>
                <a:latin typeface="Calibri"/>
              </a:rPr>
              <a:t>Retrospective classification, not yet early warning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Results: Predictive Performance</a:t>
            </a:r>
          </a:p>
        </p:txBody>
      </p:sp>
      <p:sp>
        <p:nvSpPr>
          <p:cNvPr id="4" name="Left panel"/>
          <p:cNvSpPr/>
          <p:nvPr/>
        </p:nvSpPr>
        <p:spPr>
          <a:xfrm>
            <a:off x="2057400" y="1069848"/>
            <a:ext cx="3337560" cy="5285232"/>
          </a:xfrm>
          <a:prstGeom prst="rect">
            <a:avLst/>
          </a:prstGeom>
          <a:solidFill>
            <a:srgbClr val="F5F7FA"/>
          </a:solidFill>
          <a:ln>
            <a:noFill/>
          </a:ln>
        </p:spPr>
        <p:txBody>
          <a:bodyPr rtlCol="0" anchor="ctr"/>
          <a:lstStyle/>
          <a:p>
            <a:pPr algn="ctr"/>
          </a:p>
        </p:txBody>
      </p:sp>
      <p:sp>
        <p:nvSpPr>
          <p:cNvPr id="5" name="Right panel"/>
          <p:cNvSpPr/>
          <p:nvPr/>
        </p:nvSpPr>
        <p:spPr>
          <a:xfrm>
            <a:off x="5504688" y="1069848"/>
            <a:ext cx="3364992" cy="5285232"/>
          </a:xfrm>
          <a:prstGeom prst="rect">
            <a:avLst/>
          </a:prstGeom>
          <a:solidFill>
            <a:srgbClr val="1F3864"/>
          </a:solidFill>
          <a:ln>
            <a:noFill/>
          </a:ln>
        </p:spPr>
        <p:txBody>
          <a:bodyPr rtlCol="0" anchor="ctr"/>
          <a:lstStyle/>
          <a:p>
            <a:pPr algn="ctr"/>
          </a:p>
        </p:txBody>
      </p:sp>
      <p:sp>
        <p:nvSpPr>
          <p:cNvPr id="6" name="Left text"/>
          <p:cNvSpPr txBox="1"/>
          <p:nvPr/>
        </p:nvSpPr>
        <p:spPr>
          <a:xfrm>
            <a:off x="2148840" y="1161288"/>
            <a:ext cx="3154679" cy="5102352"/>
          </a:xfrm>
          <a:prstGeom prst="rect">
            <a:avLst/>
          </a:prstGeom>
          <a:noFill/>
        </p:spPr>
        <p:txBody>
          <a:bodyPr wrap="square" lIns="36576" rIns="36576" tIns="36576" bIns="36576">
            <a:spAutoFit/>
          </a:bodyPr>
          <a:lstStyle/>
          <a:p>
            <a:pPr>
              <a:spcBef>
                <a:spcPts val="800"/>
              </a:spcBef>
              <a:spcAft>
                <a:spcPts val="300"/>
              </a:spcAft>
            </a:pPr>
            <a:r>
              <a:rPr sz="1900" b="1" i="0">
                <a:solidFill>
                  <a:srgbClr val="C00000"/>
                </a:solidFill>
                <a:latin typeface="Calibri"/>
              </a:rPr>
              <a:t>Prototype XGBoost</a:t>
            </a:r>
          </a:p>
          <a:p>
            <a:pPr marL="274320" indent="-274320">
              <a:spcAft>
                <a:spcPts val="400"/>
              </a:spcAft>
              <a:buClr>
                <a:srgbClr val="1F3864"/>
              </a:buClr>
              <a:buFont typeface="Arial"/>
              <a:buChar char="▪"/>
            </a:pPr>
            <a:r>
              <a:rPr sz="1600" b="0" i="0">
                <a:solidFill>
                  <a:srgbClr val="1F3864"/>
                </a:solidFill>
                <a:latin typeface="Calibri"/>
              </a:rPr>
              <a:t>Caught </a:t>
            </a:r>
            <a:r>
              <a:rPr sz="1600" b="1" i="0">
                <a:solidFill>
                  <a:srgbClr val="1F3864"/>
                </a:solidFill>
                <a:latin typeface="Calibri"/>
              </a:rPr>
              <a:t>15,634 of 17,208</a:t>
            </a:r>
            <a:r>
              <a:rPr sz="1600" b="0" i="0">
                <a:solidFill>
                  <a:srgbClr val="1F3864"/>
                </a:solidFill>
                <a:latin typeface="Calibri"/>
              </a:rPr>
              <a:t> at-risk students</a:t>
            </a:r>
          </a:p>
          <a:p>
            <a:pPr marL="274320" indent="-274320">
              <a:spcAft>
                <a:spcPts val="400"/>
              </a:spcAft>
              <a:buClr>
                <a:srgbClr val="1F3864"/>
              </a:buClr>
              <a:buFont typeface="Arial"/>
              <a:buChar char="▪"/>
            </a:pPr>
            <a:r>
              <a:rPr sz="1600" b="0" i="0">
                <a:solidFill>
                  <a:srgbClr val="1F3864"/>
                </a:solidFill>
                <a:latin typeface="Calibri"/>
              </a:rPr>
              <a:t>1,574 missed; 2,422 false alarms (15.7%)</a:t>
            </a:r>
          </a:p>
          <a:p>
            <a:pPr marL="274320" indent="-274320">
              <a:spcAft>
                <a:spcPts val="400"/>
              </a:spcAft>
              <a:buClr>
                <a:srgbClr val="1F3864"/>
              </a:buClr>
              <a:buFont typeface="Arial"/>
              <a:buChar char="▪"/>
            </a:pPr>
            <a:r>
              <a:rPr sz="1600" b="0" i="0">
                <a:solidFill>
                  <a:srgbClr val="1F3864"/>
                </a:solidFill>
                <a:latin typeface="Calibri"/>
              </a:rPr>
              <a:t>Accuracy 0.877, precision 0.866</a:t>
            </a:r>
          </a:p>
          <a:p>
            <a:pPr>
              <a:spcBef>
                <a:spcPts val="800"/>
              </a:spcBef>
              <a:spcAft>
                <a:spcPts val="300"/>
              </a:spcAft>
            </a:pPr>
            <a:r>
              <a:rPr sz="1900" b="1" i="0">
                <a:solidFill>
                  <a:srgbClr val="C00000"/>
                </a:solidFill>
                <a:latin typeface="Calibri"/>
              </a:rPr>
              <a:t>Three-Model Comparison</a:t>
            </a:r>
          </a:p>
          <a:p>
            <a:pPr marL="274320" indent="-274320">
              <a:spcAft>
                <a:spcPts val="400"/>
              </a:spcAft>
              <a:buClr>
                <a:srgbClr val="1F3864"/>
              </a:buClr>
              <a:buFont typeface="Arial"/>
              <a:buChar char="▪"/>
            </a:pPr>
            <a:r>
              <a:rPr sz="1600" b="1" i="0">
                <a:solidFill>
                  <a:srgbClr val="1F3864"/>
                </a:solidFill>
                <a:latin typeface="Calibri"/>
              </a:rPr>
              <a:t>Random Forest: </a:t>
            </a:r>
            <a:r>
              <a:rPr sz="1600" b="0" i="0">
                <a:solidFill>
                  <a:srgbClr val="1F3864"/>
                </a:solidFill>
                <a:latin typeface="Calibri"/>
              </a:rPr>
              <a:t>best F1 (0.898)</a:t>
            </a:r>
          </a:p>
          <a:p>
            <a:pPr marL="274320" indent="-274320">
              <a:spcAft>
                <a:spcPts val="400"/>
              </a:spcAft>
              <a:buClr>
                <a:srgbClr val="1F3864"/>
              </a:buClr>
              <a:buFont typeface="Arial"/>
              <a:buChar char="▪"/>
            </a:pPr>
            <a:r>
              <a:rPr sz="1600" b="1" i="0">
                <a:solidFill>
                  <a:srgbClr val="1F3864"/>
                </a:solidFill>
                <a:latin typeface="Calibri"/>
              </a:rPr>
              <a:t>Gradient Boosting: </a:t>
            </a:r>
            <a:r>
              <a:rPr sz="1600" b="0" i="0">
                <a:solidFill>
                  <a:srgbClr val="1F3864"/>
                </a:solidFill>
                <a:latin typeface="Calibri"/>
              </a:rPr>
              <a:t>F1 0.893</a:t>
            </a:r>
          </a:p>
          <a:p>
            <a:pPr marL="274320" indent="-274320">
              <a:spcAft>
                <a:spcPts val="400"/>
              </a:spcAft>
              <a:buClr>
                <a:srgbClr val="1F3864"/>
              </a:buClr>
              <a:buFont typeface="Arial"/>
              <a:buChar char="▪"/>
            </a:pPr>
            <a:r>
              <a:rPr sz="1600" b="1" i="0">
                <a:solidFill>
                  <a:srgbClr val="1F3864"/>
                </a:solidFill>
                <a:latin typeface="Calibri"/>
              </a:rPr>
              <a:t>XGBoost: </a:t>
            </a:r>
            <a:r>
              <a:rPr sz="1600" b="0" i="0">
                <a:solidFill>
                  <a:srgbClr val="1F3864"/>
                </a:solidFill>
                <a:latin typeface="Calibri"/>
              </a:rPr>
              <a:t>best recall (0.909), so retained</a:t>
            </a:r>
          </a:p>
          <a:p>
            <a:pPr>
              <a:spcBef>
                <a:spcPts val="800"/>
              </a:spcBef>
              <a:spcAft>
                <a:spcPts val="300"/>
              </a:spcAft>
            </a:pPr>
            <a:r>
              <a:rPr sz="1900" b="1" i="0">
                <a:solidFill>
                  <a:srgbClr val="C00000"/>
                </a:solidFill>
                <a:latin typeface="Calibri"/>
              </a:rPr>
              <a:t>Variability</a:t>
            </a:r>
          </a:p>
          <a:p>
            <a:pPr marL="274320" indent="-274320">
              <a:spcAft>
                <a:spcPts val="400"/>
              </a:spcAft>
              <a:buClr>
                <a:srgbClr val="1F3864"/>
              </a:buClr>
              <a:buFont typeface="Arial"/>
              <a:buChar char="▪"/>
            </a:pPr>
            <a:r>
              <a:rPr sz="1600" b="0" i="0">
                <a:solidFill>
                  <a:srgbClr val="1F3864"/>
                </a:solidFill>
                <a:latin typeface="Calibri"/>
              </a:rPr>
              <a:t>Accuracy 0.846 to 0.916 across presentations</a:t>
            </a:r>
          </a:p>
        </p:txBody>
      </p:sp>
      <p:sp>
        <p:nvSpPr>
          <p:cNvPr id="7" name="Right text"/>
          <p:cNvSpPr txBox="1"/>
          <p:nvPr/>
        </p:nvSpPr>
        <p:spPr>
          <a:xfrm>
            <a:off x="5641848" y="1161288"/>
            <a:ext cx="3136392" cy="5102352"/>
          </a:xfrm>
          <a:prstGeom prst="rect">
            <a:avLst/>
          </a:prstGeom>
          <a:noFill/>
        </p:spPr>
        <p:txBody>
          <a:bodyPr wrap="square" lIns="36576" rIns="36576" tIns="36576" bIns="36576">
            <a:spAutoFit/>
          </a:bodyPr>
          <a:lstStyle/>
          <a:p>
            <a:pPr>
              <a:spcBef>
                <a:spcPts val="800"/>
              </a:spcBef>
              <a:spcAft>
                <a:spcPts val="300"/>
              </a:spcAft>
            </a:pPr>
            <a:r>
              <a:rPr sz="1900" b="1" i="0">
                <a:solidFill>
                  <a:srgbClr val="FFFFFF"/>
                </a:solidFill>
                <a:latin typeface="Calibri"/>
              </a:rPr>
              <a:t>Headline Metrics</a:t>
            </a:r>
          </a:p>
        </p:txBody>
      </p:sp>
      <p:sp>
        <p:nvSpPr>
          <p:cNvPr id="8" name="Headline numbers"/>
          <p:cNvSpPr txBox="1"/>
          <p:nvPr/>
        </p:nvSpPr>
        <p:spPr>
          <a:xfrm>
            <a:off x="5504688" y="1618488"/>
            <a:ext cx="3364992" cy="4480560"/>
          </a:xfrm>
          <a:prstGeom prst="rect">
            <a:avLst/>
          </a:prstGeom>
          <a:noFill/>
        </p:spPr>
        <p:txBody>
          <a:bodyPr wrap="square" anchor="t" lIns="0" rIns="0" tIns="0" bIns="0">
            <a:spAutoFit/>
          </a:bodyPr>
          <a:lstStyle/>
          <a:p>
            <a:pPr algn="ctr">
              <a:spcAft>
                <a:spcPts val="200"/>
              </a:spcAft>
            </a:pPr>
            <a:r>
              <a:rPr sz="4400" b="1" i="0">
                <a:solidFill>
                  <a:srgbClr val="FF7676"/>
                </a:solidFill>
                <a:latin typeface="Calibri"/>
              </a:rPr>
              <a:t>0.909</a:t>
            </a:r>
          </a:p>
          <a:p>
            <a:pPr algn="ctr">
              <a:spcAft>
                <a:spcPts val="200"/>
              </a:spcAft>
            </a:pPr>
            <a:r>
              <a:rPr sz="1600" b="0" i="0">
                <a:solidFill>
                  <a:srgbClr val="FFFFFF"/>
                </a:solidFill>
                <a:latin typeface="Calibri"/>
              </a:rPr>
              <a:t>Recall</a:t>
            </a:r>
          </a:p>
          <a:p>
            <a:pPr algn="ctr">
              <a:spcAft>
                <a:spcPts val="200"/>
              </a:spcAft>
            </a:pPr>
            <a:r>
              <a:rPr sz="4400" b="1" i="0">
                <a:solidFill>
                  <a:srgbClr val="FF7676"/>
                </a:solidFill>
                <a:latin typeface="Calibri"/>
              </a:rPr>
              <a:t>0.887</a:t>
            </a:r>
          </a:p>
          <a:p>
            <a:pPr algn="ctr">
              <a:spcAft>
                <a:spcPts val="200"/>
              </a:spcAft>
            </a:pPr>
            <a:r>
              <a:rPr sz="1600" b="0" i="0">
                <a:solidFill>
                  <a:srgbClr val="FFFFFF"/>
                </a:solidFill>
                <a:latin typeface="Calibri"/>
              </a:rPr>
              <a:t>F1-score</a:t>
            </a:r>
          </a:p>
          <a:p>
            <a:pPr algn="ctr">
              <a:spcAft>
                <a:spcPts val="200"/>
              </a:spcAft>
            </a:pPr>
            <a:r>
              <a:rPr sz="4400" b="1" i="0">
                <a:solidFill>
                  <a:srgbClr val="FF7676"/>
                </a:solidFill>
                <a:latin typeface="Calibri"/>
              </a:rPr>
              <a:t>0.962</a:t>
            </a:r>
          </a:p>
          <a:p>
            <a:pPr algn="ctr">
              <a:spcAft>
                <a:spcPts val="200"/>
              </a:spcAft>
            </a:pPr>
            <a:r>
              <a:rPr sz="1600" b="0" i="0">
                <a:solidFill>
                  <a:srgbClr val="FFFFFF"/>
                </a:solidFill>
                <a:latin typeface="Calibri"/>
              </a:rPr>
              <a:t>ROC-AUC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Results: Explainability (SHAP &amp; LIME)</a:t>
            </a:r>
          </a:p>
        </p:txBody>
      </p:sp>
      <p:sp>
        <p:nvSpPr>
          <p:cNvPr id="4" name="Left panel"/>
          <p:cNvSpPr/>
          <p:nvPr/>
        </p:nvSpPr>
        <p:spPr>
          <a:xfrm>
            <a:off x="2057400" y="1069848"/>
            <a:ext cx="3337560" cy="5285232"/>
          </a:xfrm>
          <a:prstGeom prst="rect">
            <a:avLst/>
          </a:prstGeom>
          <a:solidFill>
            <a:srgbClr val="F5F7FA"/>
          </a:solidFill>
          <a:ln>
            <a:noFill/>
          </a:ln>
        </p:spPr>
        <p:txBody>
          <a:bodyPr rtlCol="0" anchor="ctr"/>
          <a:lstStyle/>
          <a:p>
            <a:pPr algn="ctr"/>
          </a:p>
        </p:txBody>
      </p:sp>
      <p:sp>
        <p:nvSpPr>
          <p:cNvPr id="5" name="Right panel"/>
          <p:cNvSpPr/>
          <p:nvPr/>
        </p:nvSpPr>
        <p:spPr>
          <a:xfrm>
            <a:off x="5504688" y="1069848"/>
            <a:ext cx="3364992" cy="5285232"/>
          </a:xfrm>
          <a:prstGeom prst="rect">
            <a:avLst/>
          </a:prstGeom>
          <a:solidFill>
            <a:srgbClr val="1F3864"/>
          </a:solidFill>
          <a:ln>
            <a:noFill/>
          </a:ln>
        </p:spPr>
        <p:txBody>
          <a:bodyPr rtlCol="0" anchor="ctr"/>
          <a:lstStyle/>
          <a:p>
            <a:pPr algn="ctr"/>
          </a:p>
        </p:txBody>
      </p:sp>
      <p:sp>
        <p:nvSpPr>
          <p:cNvPr id="6" name="Left text"/>
          <p:cNvSpPr txBox="1"/>
          <p:nvPr/>
        </p:nvSpPr>
        <p:spPr>
          <a:xfrm>
            <a:off x="2148840" y="1161288"/>
            <a:ext cx="3154679" cy="5102352"/>
          </a:xfrm>
          <a:prstGeom prst="rect">
            <a:avLst/>
          </a:prstGeom>
          <a:noFill/>
        </p:spPr>
        <p:txBody>
          <a:bodyPr wrap="square" lIns="36576" rIns="36576" tIns="36576" bIns="36576">
            <a:spAutoFit/>
          </a:bodyPr>
          <a:lstStyle/>
          <a:p>
            <a:pPr>
              <a:spcBef>
                <a:spcPts val="800"/>
              </a:spcBef>
              <a:spcAft>
                <a:spcPts val="300"/>
              </a:spcAft>
            </a:pPr>
            <a:r>
              <a:rPr sz="2000" b="1" i="0">
                <a:solidFill>
                  <a:srgbClr val="C00000"/>
                </a:solidFill>
                <a:latin typeface="Calibri"/>
              </a:rPr>
              <a:t>Global (SHAP, all 32,593)</a:t>
            </a:r>
          </a:p>
          <a:p>
            <a:pPr marL="274320" indent="-274320">
              <a:spcAft>
                <a:spcPts val="400"/>
              </a:spcAft>
              <a:buClr>
                <a:srgbClr val="1F3864"/>
              </a:buClr>
              <a:buFont typeface="Arial"/>
              <a:buChar char="▪"/>
            </a:pPr>
            <a:r>
              <a:rPr sz="1700" b="1" i="0">
                <a:solidFill>
                  <a:srgbClr val="1F3864"/>
                </a:solidFill>
                <a:latin typeface="Calibri"/>
              </a:rPr>
              <a:t>Assessments submitted </a:t>
            </a:r>
            <a:r>
              <a:rPr sz="1700" b="0" i="0">
                <a:solidFill>
                  <a:srgbClr val="1F3864"/>
                </a:solidFill>
                <a:latin typeface="Calibri"/>
              </a:rPr>
              <a:t>dominates: over 4× the next feature</a:t>
            </a:r>
          </a:p>
          <a:p>
            <a:pPr marL="274320" indent="-274320">
              <a:spcAft>
                <a:spcPts val="400"/>
              </a:spcAft>
              <a:buClr>
                <a:srgbClr val="1F3864"/>
              </a:buClr>
              <a:buFont typeface="Arial"/>
              <a:buChar char="▪"/>
            </a:pPr>
            <a:r>
              <a:rPr sz="1700" b="0" i="0">
                <a:solidFill>
                  <a:srgbClr val="1F3864"/>
                </a:solidFill>
                <a:latin typeface="Calibri"/>
              </a:rPr>
              <a:t>Then active days, module FFF, mean score</a:t>
            </a:r>
          </a:p>
          <a:p>
            <a:pPr>
              <a:spcBef>
                <a:spcPts val="800"/>
              </a:spcBef>
              <a:spcAft>
                <a:spcPts val="300"/>
              </a:spcAft>
            </a:pPr>
            <a:r>
              <a:rPr sz="2000" b="1" i="0">
                <a:solidFill>
                  <a:srgbClr val="C00000"/>
                </a:solidFill>
                <a:latin typeface="Calibri"/>
              </a:rPr>
              <a:t>SHAP vs LIME</a:t>
            </a:r>
          </a:p>
          <a:p>
            <a:pPr marL="274320" indent="-274320">
              <a:spcAft>
                <a:spcPts val="400"/>
              </a:spcAft>
              <a:buClr>
                <a:srgbClr val="1F3864"/>
              </a:buClr>
              <a:buFont typeface="Arial"/>
              <a:buChar char="▪"/>
            </a:pPr>
            <a:r>
              <a:rPr sz="1700" b="0" i="0">
                <a:solidFill>
                  <a:srgbClr val="1F3864"/>
                </a:solidFill>
                <a:latin typeface="Calibri"/>
              </a:rPr>
              <a:t>Same top feature; 6 more shared in each top 10</a:t>
            </a:r>
          </a:p>
          <a:p>
            <a:pPr marL="274320" indent="-274320">
              <a:spcAft>
                <a:spcPts val="400"/>
              </a:spcAft>
              <a:buClr>
                <a:srgbClr val="1F3864"/>
              </a:buClr>
              <a:buFont typeface="Arial"/>
              <a:buChar char="▪"/>
            </a:pPr>
            <a:r>
              <a:rPr sz="1700" b="0" i="0">
                <a:solidFill>
                  <a:srgbClr val="1F3864"/>
                </a:solidFill>
                <a:latin typeface="Calibri"/>
              </a:rPr>
              <a:t>Per-student top-5 overlap: </a:t>
            </a:r>
            <a:r>
              <a:rPr sz="1700" b="1" i="0">
                <a:solidFill>
                  <a:srgbClr val="1F3864"/>
                </a:solidFill>
                <a:latin typeface="Calibri"/>
              </a:rPr>
              <a:t>0.635</a:t>
            </a:r>
            <a:r>
              <a:rPr sz="1700" b="0" i="0">
                <a:solidFill>
                  <a:srgbClr val="1F3864"/>
                </a:solidFill>
                <a:latin typeface="Calibri"/>
              </a:rPr>
              <a:t> (SD 0.197)</a:t>
            </a:r>
          </a:p>
          <a:p>
            <a:pPr marL="274320" indent="-274320">
              <a:spcAft>
                <a:spcPts val="400"/>
              </a:spcAft>
              <a:buClr>
                <a:srgbClr val="1F3864"/>
              </a:buClr>
              <a:buFont typeface="Arial"/>
              <a:buChar char="▪"/>
            </a:pPr>
            <a:r>
              <a:rPr sz="1700" b="0" i="0">
                <a:solidFill>
                  <a:srgbClr val="1F3864"/>
                </a:solidFill>
                <a:latin typeface="Calibri"/>
              </a:rPr>
              <a:t>Partial agreement, so the dashboard shows both</a:t>
            </a:r>
          </a:p>
        </p:txBody>
      </p:sp>
      <p:sp>
        <p:nvSpPr>
          <p:cNvPr id="7" name="Right text"/>
          <p:cNvSpPr txBox="1"/>
          <p:nvPr/>
        </p:nvSpPr>
        <p:spPr>
          <a:xfrm>
            <a:off x="5641848" y="1161288"/>
            <a:ext cx="3136392" cy="5102352"/>
          </a:xfrm>
          <a:prstGeom prst="rect">
            <a:avLst/>
          </a:prstGeom>
          <a:noFill/>
        </p:spPr>
        <p:txBody>
          <a:bodyPr wrap="square" lIns="36576" rIns="36576" tIns="36576" bIns="36576">
            <a:spAutoFit/>
          </a:bodyPr>
          <a:lstStyle/>
          <a:p>
            <a:pPr>
              <a:spcBef>
                <a:spcPts val="800"/>
              </a:spcBef>
              <a:spcAft>
                <a:spcPts val="300"/>
              </a:spcAft>
            </a:pPr>
            <a:r>
              <a:rPr sz="2000" b="1" i="0">
                <a:solidFill>
                  <a:srgbClr val="FFFFFF"/>
                </a:solidFill>
                <a:latin typeface="Calibri"/>
              </a:rPr>
              <a:t>One Student (s678287, &gt;99.9%)</a:t>
            </a:r>
          </a:p>
          <a:p>
            <a:pPr marL="274320" indent="-274320">
              <a:spcAft>
                <a:spcPts val="400"/>
              </a:spcAft>
              <a:buClr>
                <a:srgbClr val="FFFFFF"/>
              </a:buClr>
              <a:buFont typeface="Arial"/>
              <a:buChar char="►"/>
            </a:pPr>
            <a:r>
              <a:rPr sz="1700" b="0" i="0">
                <a:solidFill>
                  <a:srgbClr val="FFFFFF"/>
                </a:solidFill>
                <a:latin typeface="Calibri"/>
              </a:rPr>
              <a:t>SHAP: assessments submitted +5.30, module FFF +1.71, active days +1.15</a:t>
            </a:r>
          </a:p>
          <a:p>
            <a:pPr marL="274320" indent="-274320">
              <a:spcAft>
                <a:spcPts val="400"/>
              </a:spcAft>
              <a:buClr>
                <a:srgbClr val="FFFFFF"/>
              </a:buClr>
              <a:buFont typeface="Arial"/>
              <a:buChar char="►"/>
            </a:pPr>
            <a:r>
              <a:rPr sz="1700" b="0" i="0">
                <a:solidFill>
                  <a:srgbClr val="FFFFFF"/>
                </a:solidFill>
                <a:latin typeface="Calibri"/>
              </a:rPr>
              <a:t>LIME agrees on 4 of the top 5</a:t>
            </a:r>
          </a:p>
          <a:p>
            <a:pPr>
              <a:spcBef>
                <a:spcPts val="800"/>
              </a:spcBef>
              <a:spcAft>
                <a:spcPts val="300"/>
              </a:spcAft>
            </a:pPr>
            <a:r>
              <a:rPr sz="2000" b="1" i="0">
                <a:solidFill>
                  <a:srgbClr val="FFFFFF"/>
                </a:solidFill>
                <a:latin typeface="Calibri"/>
              </a:rPr>
              <a:t>Caution</a:t>
            </a:r>
          </a:p>
          <a:p>
            <a:pPr marL="274320" indent="-274320">
              <a:spcAft>
                <a:spcPts val="400"/>
              </a:spcAft>
              <a:buClr>
                <a:srgbClr val="FFFFFF"/>
              </a:buClr>
              <a:buFont typeface="Arial"/>
              <a:buChar char="►"/>
            </a:pPr>
            <a:r>
              <a:rPr sz="1700" b="0" i="0">
                <a:solidFill>
                  <a:srgbClr val="FFFFFF"/>
                </a:solidFill>
                <a:latin typeface="Calibri"/>
              </a:rPr>
              <a:t>Attributions, not causes</a:t>
            </a:r>
          </a:p>
          <a:p>
            <a:pPr marL="274320" indent="-274320">
              <a:spcAft>
                <a:spcPts val="400"/>
              </a:spcAft>
              <a:buClr>
                <a:srgbClr val="FFFFFF"/>
              </a:buClr>
              <a:buFont typeface="Arial"/>
              <a:buChar char="►"/>
            </a:pPr>
            <a:r>
              <a:rPr sz="1700" b="0" i="0">
                <a:solidFill>
                  <a:srgbClr val="FFFFFF"/>
                </a:solidFill>
                <a:latin typeface="Calibri"/>
              </a:rPr>
              <a:t>Clicks 28 days before deadlines push towards risk: likely collinearity (ρ = 0.98 with total clicks)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The Role-Aware Dashboard in Moodle</a:t>
            </a:r>
          </a:p>
        </p:txBody>
      </p:sp>
      <p:pic>
        <p:nvPicPr>
          <p:cNvPr id="4" name="Moodle instructor view" descr="wide_instr.png"/>
          <p:cNvPicPr>
            <a:picLocks noChangeAspect="1"/>
          </p:cNvPicPr>
          <p:nvPr/>
        </p:nvPicPr>
        <p:blipFill>
          <a:blip r:embed="rId3"/>
          <a:stretch>
            <a:fillRect/>
          </a:stretch>
        </p:blipFill>
        <p:spPr>
          <a:xfrm>
            <a:off x="2263140" y="1115568"/>
            <a:ext cx="6400800" cy="3840480"/>
          </a:xfrm>
          <a:prstGeom prst="rect">
            <a:avLst/>
          </a:prstGeom>
          <a:ln w="9525">
            <a:solidFill>
              <a:srgbClr val="C9CAD3"/>
            </a:solidFill>
          </a:ln>
        </p:spPr>
      </p:pic>
      <p:sp>
        <p:nvSpPr>
          <p:cNvPr id="5" name="Roles panel"/>
          <p:cNvSpPr/>
          <p:nvPr/>
        </p:nvSpPr>
        <p:spPr>
          <a:xfrm>
            <a:off x="2057400" y="5065776"/>
            <a:ext cx="6812280" cy="1289304"/>
          </a:xfrm>
          <a:prstGeom prst="rect">
            <a:avLst/>
          </a:prstGeom>
          <a:solidFill>
            <a:srgbClr val="F5F7FA"/>
          </a:solidFill>
          <a:ln>
            <a:noFill/>
          </a:ln>
        </p:spPr>
        <p:txBody>
          <a:bodyPr rtlCol="0" anchor="ctr"/>
          <a:lstStyle/>
          <a:p>
            <a:pPr algn="ctr"/>
          </a:p>
        </p:txBody>
      </p:sp>
      <p:sp>
        <p:nvSpPr>
          <p:cNvPr id="6" name="Roles"/>
          <p:cNvSpPr txBox="1"/>
          <p:nvPr/>
        </p:nvSpPr>
        <p:spPr>
          <a:xfrm>
            <a:off x="2194560" y="5138928"/>
            <a:ext cx="6537960" cy="1197864"/>
          </a:xfrm>
          <a:prstGeom prst="rect">
            <a:avLst/>
          </a:prstGeom>
          <a:noFill/>
        </p:spPr>
        <p:txBody>
          <a:bodyPr wrap="square" lIns="36576" rIns="36576" tIns="36576" bIns="36576">
            <a:spAutoFit/>
          </a:bodyPr>
          <a:lstStyle/>
          <a:p>
            <a:pPr marL="274320" indent="-274320">
              <a:spcAft>
                <a:spcPts val="400"/>
              </a:spcAft>
              <a:buClr>
                <a:srgbClr val="1F3864"/>
              </a:buClr>
              <a:buFont typeface="Arial"/>
              <a:buChar char="▪"/>
            </a:pPr>
            <a:r>
              <a:rPr sz="1700" b="1" i="0">
                <a:solidFill>
                  <a:srgbClr val="1F3864"/>
                </a:solidFill>
                <a:latin typeface="Calibri"/>
              </a:rPr>
              <a:t>Instructor: </a:t>
            </a:r>
            <a:r>
              <a:rPr sz="1700" b="0" i="0">
                <a:solidFill>
                  <a:srgbClr val="1F3864"/>
                </a:solidFill>
                <a:latin typeface="Calibri"/>
              </a:rPr>
              <a:t>individual students, SHAP and LIME side by side</a:t>
            </a:r>
          </a:p>
          <a:p>
            <a:pPr marL="274320" indent="-274320">
              <a:spcAft>
                <a:spcPts val="400"/>
              </a:spcAft>
              <a:buClr>
                <a:srgbClr val="1F3864"/>
              </a:buClr>
              <a:buFont typeface="Arial"/>
              <a:buChar char="▪"/>
            </a:pPr>
            <a:r>
              <a:rPr sz="1700" b="1" i="0">
                <a:solidFill>
                  <a:srgbClr val="1F3864"/>
                </a:solidFill>
                <a:latin typeface="Calibri"/>
              </a:rPr>
              <a:t>Advisor: </a:t>
            </a:r>
            <a:r>
              <a:rPr sz="1700" b="0" i="0">
                <a:solidFill>
                  <a:srgbClr val="1F3864"/>
                </a:solidFill>
                <a:latin typeface="Calibri"/>
              </a:rPr>
              <a:t>caseload across modules, averaged reasoning</a:t>
            </a:r>
          </a:p>
          <a:p>
            <a:pPr marL="274320" indent="-274320">
              <a:spcAft>
                <a:spcPts val="400"/>
              </a:spcAft>
              <a:buClr>
                <a:srgbClr val="1F3864"/>
              </a:buClr>
              <a:buFont typeface="Arial"/>
              <a:buChar char="▪"/>
            </a:pPr>
            <a:r>
              <a:rPr sz="1700" b="1" i="0">
                <a:solidFill>
                  <a:srgbClr val="1F3864"/>
                </a:solidFill>
                <a:latin typeface="Calibri"/>
              </a:rPr>
              <a:t>Administrator: </a:t>
            </a:r>
            <a:r>
              <a:rPr sz="1700" b="0" i="0">
                <a:solidFill>
                  <a:srgbClr val="1F3864"/>
                </a:solidFill>
                <a:latin typeface="Calibri"/>
              </a:rPr>
              <a:t>whole institution, model performance and drivers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Contributions &amp; Limitations</a:t>
            </a:r>
          </a:p>
        </p:txBody>
      </p:sp>
      <p:sp>
        <p:nvSpPr>
          <p:cNvPr id="4" name="Left panel"/>
          <p:cNvSpPr/>
          <p:nvPr/>
        </p:nvSpPr>
        <p:spPr>
          <a:xfrm>
            <a:off x="2057400" y="1069848"/>
            <a:ext cx="3337560" cy="5285232"/>
          </a:xfrm>
          <a:prstGeom prst="rect">
            <a:avLst/>
          </a:prstGeom>
          <a:solidFill>
            <a:srgbClr val="F5F7FA"/>
          </a:solidFill>
          <a:ln>
            <a:noFill/>
          </a:ln>
        </p:spPr>
        <p:txBody>
          <a:bodyPr rtlCol="0" anchor="ctr"/>
          <a:lstStyle/>
          <a:p>
            <a:pPr algn="ctr"/>
          </a:p>
        </p:txBody>
      </p:sp>
      <p:sp>
        <p:nvSpPr>
          <p:cNvPr id="5" name="Right panel"/>
          <p:cNvSpPr/>
          <p:nvPr/>
        </p:nvSpPr>
        <p:spPr>
          <a:xfrm>
            <a:off x="5504688" y="1069848"/>
            <a:ext cx="3364992" cy="5285232"/>
          </a:xfrm>
          <a:prstGeom prst="rect">
            <a:avLst/>
          </a:prstGeom>
          <a:solidFill>
            <a:srgbClr val="1F3864"/>
          </a:solidFill>
          <a:ln>
            <a:noFill/>
          </a:ln>
        </p:spPr>
        <p:txBody>
          <a:bodyPr rtlCol="0" anchor="ctr"/>
          <a:lstStyle/>
          <a:p>
            <a:pPr algn="ctr"/>
          </a:p>
        </p:txBody>
      </p:sp>
      <p:sp>
        <p:nvSpPr>
          <p:cNvPr id="6" name="Left text"/>
          <p:cNvSpPr txBox="1"/>
          <p:nvPr/>
        </p:nvSpPr>
        <p:spPr>
          <a:xfrm>
            <a:off x="2148840" y="1161288"/>
            <a:ext cx="3154679" cy="5102352"/>
          </a:xfrm>
          <a:prstGeom prst="rect">
            <a:avLst/>
          </a:prstGeom>
          <a:noFill/>
        </p:spPr>
        <p:txBody>
          <a:bodyPr wrap="square" lIns="36576" rIns="36576" tIns="36576" bIns="36576">
            <a:spAutoFit/>
          </a:bodyPr>
          <a:lstStyle/>
          <a:p>
            <a:pPr>
              <a:spcBef>
                <a:spcPts val="800"/>
              </a:spcBef>
              <a:spcAft>
                <a:spcPts val="300"/>
              </a:spcAft>
            </a:pPr>
            <a:r>
              <a:rPr sz="2400" b="1" i="0">
                <a:solidFill>
                  <a:srgbClr val="C00000"/>
                </a:solidFill>
                <a:latin typeface="Calibri"/>
              </a:rPr>
              <a:t>Contributions</a:t>
            </a:r>
          </a:p>
          <a:p>
            <a:pPr marL="274320" indent="-274320">
              <a:spcAft>
                <a:spcPts val="400"/>
              </a:spcAft>
              <a:buClr>
                <a:srgbClr val="1F3864"/>
              </a:buClr>
              <a:buFont typeface="Arial"/>
              <a:buChar char="▪"/>
            </a:pPr>
            <a:r>
              <a:rPr sz="2100" b="0" i="0">
                <a:solidFill>
                  <a:srgbClr val="1F3864"/>
                </a:solidFill>
                <a:latin typeface="Calibri"/>
              </a:rPr>
              <a:t>Prediction and explanation in one working, LMS-integrated system</a:t>
            </a:r>
          </a:p>
          <a:p>
            <a:pPr marL="274320" indent="-274320">
              <a:spcAft>
                <a:spcPts val="400"/>
              </a:spcAft>
              <a:buClr>
                <a:srgbClr val="1F3864"/>
              </a:buClr>
              <a:buFont typeface="Arial"/>
              <a:buChar char="▪"/>
            </a:pPr>
            <a:r>
              <a:rPr sz="2100" b="0" i="0">
                <a:solidFill>
                  <a:srgbClr val="1F3864"/>
                </a:solidFill>
                <a:latin typeface="Calibri"/>
              </a:rPr>
              <a:t>Explanations tailored to each staff role</a:t>
            </a:r>
          </a:p>
          <a:p>
            <a:pPr marL="274320" indent="-274320">
              <a:spcAft>
                <a:spcPts val="400"/>
              </a:spcAft>
              <a:buClr>
                <a:srgbClr val="1F3864"/>
              </a:buClr>
              <a:buFont typeface="Arial"/>
              <a:buChar char="▪"/>
            </a:pPr>
            <a:r>
              <a:rPr sz="2100" b="0" i="0">
                <a:solidFill>
                  <a:srgbClr val="1F3864"/>
                </a:solidFill>
                <a:latin typeface="Calibri"/>
              </a:rPr>
              <a:t>CommonKADS applied to explainable learning analytics</a:t>
            </a:r>
          </a:p>
          <a:p>
            <a:pPr marL="274320" indent="-274320">
              <a:spcAft>
                <a:spcPts val="400"/>
              </a:spcAft>
              <a:buClr>
                <a:srgbClr val="1F3864"/>
              </a:buClr>
              <a:buFont typeface="Arial"/>
              <a:buChar char="▪"/>
            </a:pPr>
            <a:r>
              <a:rPr sz="2100" b="0" i="0">
                <a:solidFill>
                  <a:srgbClr val="1F3864"/>
                </a:solidFill>
                <a:latin typeface="Calibri"/>
              </a:rPr>
              <a:t>Evidence on where SHAP and LIME agree and differ</a:t>
            </a:r>
          </a:p>
        </p:txBody>
      </p:sp>
      <p:sp>
        <p:nvSpPr>
          <p:cNvPr id="7" name="Right text"/>
          <p:cNvSpPr txBox="1"/>
          <p:nvPr/>
        </p:nvSpPr>
        <p:spPr>
          <a:xfrm>
            <a:off x="5641848" y="1161288"/>
            <a:ext cx="3136392" cy="5102352"/>
          </a:xfrm>
          <a:prstGeom prst="rect">
            <a:avLst/>
          </a:prstGeom>
          <a:noFill/>
        </p:spPr>
        <p:txBody>
          <a:bodyPr wrap="square" lIns="36576" rIns="36576" tIns="36576" bIns="36576">
            <a:spAutoFit/>
          </a:bodyPr>
          <a:lstStyle/>
          <a:p>
            <a:pPr>
              <a:spcBef>
                <a:spcPts val="800"/>
              </a:spcBef>
              <a:spcAft>
                <a:spcPts val="300"/>
              </a:spcAft>
            </a:pPr>
            <a:r>
              <a:rPr sz="2400" b="1" i="0">
                <a:solidFill>
                  <a:srgbClr val="FFFFFF"/>
                </a:solidFill>
                <a:latin typeface="Calibri"/>
              </a:rPr>
              <a:t>Limitations</a:t>
            </a:r>
          </a:p>
          <a:p>
            <a:pPr marL="274320" indent="-274320">
              <a:spcAft>
                <a:spcPts val="400"/>
              </a:spcAft>
              <a:buClr>
                <a:srgbClr val="FFFFFF"/>
              </a:buClr>
              <a:buFont typeface="Arial"/>
              <a:buChar char="►"/>
            </a:pPr>
            <a:r>
              <a:rPr sz="2100" b="0" i="0">
                <a:solidFill>
                  <a:srgbClr val="FFFFFF"/>
                </a:solidFill>
                <a:latin typeface="Calibri"/>
              </a:rPr>
              <a:t>No practitioner study: trust, usability and decision quality untested</a:t>
            </a:r>
          </a:p>
          <a:p>
            <a:pPr marL="274320" indent="-274320">
              <a:spcAft>
                <a:spcPts val="400"/>
              </a:spcAft>
              <a:buClr>
                <a:srgbClr val="FFFFFF"/>
              </a:buClr>
              <a:buFont typeface="Arial"/>
              <a:buChar char="►"/>
            </a:pPr>
            <a:r>
              <a:rPr sz="2100" b="0" i="0">
                <a:solidFill>
                  <a:srgbClr val="FFFFFF"/>
                </a:solidFill>
                <a:latin typeface="Calibri"/>
              </a:rPr>
              <a:t>Retrospective features, not early warning</a:t>
            </a:r>
          </a:p>
          <a:p>
            <a:pPr marL="274320" indent="-274320">
              <a:spcAft>
                <a:spcPts val="400"/>
              </a:spcAft>
              <a:buClr>
                <a:srgbClr val="FFFFFF"/>
              </a:buClr>
              <a:buFont typeface="Arial"/>
              <a:buChar char="►"/>
            </a:pPr>
            <a:r>
              <a:rPr sz="2100" b="0" i="0">
                <a:solidFill>
                  <a:srgbClr val="FFFFFF"/>
                </a:solidFill>
                <a:latin typeface="Calibri"/>
              </a:rPr>
              <a:t>One dataset (OULAD)</a:t>
            </a:r>
          </a:p>
          <a:p>
            <a:pPr marL="274320" indent="-274320">
              <a:spcAft>
                <a:spcPts val="400"/>
              </a:spcAft>
              <a:buClr>
                <a:srgbClr val="FFFFFF"/>
              </a:buClr>
              <a:buFont typeface="Arial"/>
              <a:buChar char="►"/>
            </a:pPr>
            <a:r>
              <a:rPr sz="2100" b="0" i="0">
                <a:solidFill>
                  <a:srgbClr val="FFFFFF"/>
                </a:solidFill>
                <a:latin typeface="Calibri"/>
              </a:rPr>
              <a:t>Stability, fidelity, calibration and fairness checks not completed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band"/>
          <p:cNvSpPr/>
          <p:nvPr/>
        </p:nvSpPr>
        <p:spPr>
          <a:xfrm>
            <a:off x="2057400" y="411480"/>
            <a:ext cx="6812280" cy="594360"/>
          </a:xfrm>
          <a:prstGeom prst="rect">
            <a:avLst/>
          </a:prstGeom>
          <a:solidFill>
            <a:srgbClr val="1F3864"/>
          </a:solidFill>
          <a:ln>
            <a:noFill/>
          </a:ln>
        </p:spPr>
        <p:txBody>
          <a:bodyPr rtlCol="0" anchor="ctr"/>
          <a:lstStyle/>
          <a:p>
            <a:pPr algn="ctr"/>
          </a:p>
        </p:txBody>
      </p:sp>
      <p:sp>
        <p:nvSpPr>
          <p:cNvPr id="2" name="Title 1"/>
          <p:cNvSpPr>
            <a:spLocks noGrp="1"/>
          </p:cNvSpPr>
          <p:nvPr>
            <p:ph type="title"/>
          </p:nvPr>
        </p:nvSpPr>
        <p:spPr>
          <a:xfrm>
            <a:off x="2240280" y="411480"/>
            <a:ext cx="6537960" cy="594360"/>
          </a:xfrm>
        </p:spPr>
        <p:txBody>
          <a:bodyPr wrap="square" anchor="ctr" lIns="0" rIns="0">
            <a:normAutofit/>
          </a:bodyPr>
          <a:lstStyle/>
          <a:p>
            <a:pPr algn="l"/>
            <a:r>
              <a:rPr sz="2600" b="1" i="0">
                <a:solidFill>
                  <a:srgbClr val="FFFFFF"/>
                </a:solidFill>
                <a:latin typeface="Calibri"/>
              </a:rPr>
              <a:t>Conclusion &amp; Future Work</a:t>
            </a:r>
          </a:p>
        </p:txBody>
      </p:sp>
      <p:sp>
        <p:nvSpPr>
          <p:cNvPr id="4" name="Left panel"/>
          <p:cNvSpPr/>
          <p:nvPr/>
        </p:nvSpPr>
        <p:spPr>
          <a:xfrm>
            <a:off x="2057400" y="1069848"/>
            <a:ext cx="3337560" cy="5285232"/>
          </a:xfrm>
          <a:prstGeom prst="rect">
            <a:avLst/>
          </a:prstGeom>
          <a:solidFill>
            <a:srgbClr val="F5F7FA"/>
          </a:solidFill>
          <a:ln>
            <a:noFill/>
          </a:ln>
        </p:spPr>
        <p:txBody>
          <a:bodyPr rtlCol="0" anchor="ctr"/>
          <a:lstStyle/>
          <a:p>
            <a:pPr algn="ctr"/>
          </a:p>
        </p:txBody>
      </p:sp>
      <p:sp>
        <p:nvSpPr>
          <p:cNvPr id="5" name="Right panel"/>
          <p:cNvSpPr/>
          <p:nvPr/>
        </p:nvSpPr>
        <p:spPr>
          <a:xfrm>
            <a:off x="5504688" y="1069848"/>
            <a:ext cx="3364992" cy="5285232"/>
          </a:xfrm>
          <a:prstGeom prst="rect">
            <a:avLst/>
          </a:prstGeom>
          <a:solidFill>
            <a:srgbClr val="1F3864"/>
          </a:solidFill>
          <a:ln>
            <a:noFill/>
          </a:ln>
        </p:spPr>
        <p:txBody>
          <a:bodyPr rtlCol="0" anchor="ctr"/>
          <a:lstStyle/>
          <a:p>
            <a:pPr algn="ctr"/>
          </a:p>
        </p:txBody>
      </p:sp>
      <p:sp>
        <p:nvSpPr>
          <p:cNvPr id="6" name="Left text"/>
          <p:cNvSpPr txBox="1"/>
          <p:nvPr/>
        </p:nvSpPr>
        <p:spPr>
          <a:xfrm>
            <a:off x="2148840" y="1161288"/>
            <a:ext cx="3154679" cy="5102352"/>
          </a:xfrm>
          <a:prstGeom prst="rect">
            <a:avLst/>
          </a:prstGeom>
          <a:noFill/>
        </p:spPr>
        <p:txBody>
          <a:bodyPr wrap="square" lIns="36576" rIns="36576" tIns="36576" bIns="36576">
            <a:spAutoFit/>
          </a:bodyPr>
          <a:lstStyle/>
          <a:p>
            <a:pPr>
              <a:spcBef>
                <a:spcPts val="800"/>
              </a:spcBef>
              <a:spcAft>
                <a:spcPts val="300"/>
              </a:spcAft>
            </a:pPr>
            <a:r>
              <a:rPr sz="2300" b="1" i="0">
                <a:solidFill>
                  <a:srgbClr val="C00000"/>
                </a:solidFill>
                <a:latin typeface="Calibri"/>
              </a:rPr>
              <a:t>Answers</a:t>
            </a:r>
          </a:p>
          <a:p>
            <a:pPr marL="274320" indent="-274320">
              <a:spcAft>
                <a:spcPts val="400"/>
              </a:spcAft>
              <a:buClr>
                <a:srgbClr val="1F3864"/>
              </a:buClr>
              <a:buFont typeface="Arial"/>
              <a:buChar char="▪"/>
            </a:pPr>
            <a:r>
              <a:rPr sz="2000" b="1" i="0">
                <a:solidFill>
                  <a:srgbClr val="1F3864"/>
                </a:solidFill>
                <a:latin typeface="Calibri"/>
              </a:rPr>
              <a:t>RQ1: </a:t>
            </a:r>
            <a:r>
              <a:rPr sz="2000" b="0" i="0">
                <a:solidFill>
                  <a:srgbClr val="1F3864"/>
                </a:solidFill>
                <a:latin typeface="Calibri"/>
              </a:rPr>
              <a:t>SHAP and LIME integrated in a CommonKADS pipeline; agree on main drivers, partly differ per student</a:t>
            </a:r>
          </a:p>
          <a:p>
            <a:pPr marL="274320" indent="-274320">
              <a:spcAft>
                <a:spcPts val="400"/>
              </a:spcAft>
              <a:buClr>
                <a:srgbClr val="1F3864"/>
              </a:buClr>
              <a:buFont typeface="Arial"/>
              <a:buChar char="▪"/>
            </a:pPr>
            <a:r>
              <a:rPr sz="2000" b="1" i="0">
                <a:solidFill>
                  <a:srgbClr val="1F3864"/>
                </a:solidFill>
                <a:latin typeface="Calibri"/>
              </a:rPr>
              <a:t>RQ2: </a:t>
            </a:r>
            <a:r>
              <a:rPr sz="2000" b="0" i="0">
                <a:solidFill>
                  <a:srgbClr val="1F3864"/>
                </a:solidFill>
                <a:latin typeface="Calibri"/>
              </a:rPr>
              <a:t>individual, caseload and cohort views, implemented in Moodle and Canvas</a:t>
            </a:r>
          </a:p>
          <a:p>
            <a:pPr marL="274320" indent="-274320">
              <a:spcAft>
                <a:spcPts val="400"/>
              </a:spcAft>
              <a:buClr>
                <a:srgbClr val="1F3864"/>
              </a:buClr>
              <a:buFont typeface="Arial"/>
              <a:buChar char="▪"/>
            </a:pPr>
            <a:r>
              <a:rPr sz="2000" b="1" i="0">
                <a:solidFill>
                  <a:srgbClr val="1F3864"/>
                </a:solidFill>
                <a:latin typeface="Calibri"/>
              </a:rPr>
              <a:t>RQ3: </a:t>
            </a:r>
            <a:r>
              <a:rPr sz="2000" b="0" i="0">
                <a:solidFill>
                  <a:srgbClr val="1F3864"/>
                </a:solidFill>
                <a:latin typeface="Calibri"/>
              </a:rPr>
              <a:t>technical preconditions in place; practitioner value still to be shown</a:t>
            </a:r>
          </a:p>
        </p:txBody>
      </p:sp>
      <p:sp>
        <p:nvSpPr>
          <p:cNvPr id="7" name="Right text"/>
          <p:cNvSpPr txBox="1"/>
          <p:nvPr/>
        </p:nvSpPr>
        <p:spPr>
          <a:xfrm>
            <a:off x="5641848" y="1161288"/>
            <a:ext cx="3136392" cy="5102352"/>
          </a:xfrm>
          <a:prstGeom prst="rect">
            <a:avLst/>
          </a:prstGeom>
          <a:noFill/>
        </p:spPr>
        <p:txBody>
          <a:bodyPr wrap="square" lIns="36576" rIns="36576" tIns="36576" bIns="36576">
            <a:spAutoFit/>
          </a:bodyPr>
          <a:lstStyle/>
          <a:p>
            <a:pPr>
              <a:spcBef>
                <a:spcPts val="800"/>
              </a:spcBef>
              <a:spcAft>
                <a:spcPts val="300"/>
              </a:spcAft>
            </a:pPr>
            <a:r>
              <a:rPr sz="2300" b="1" i="0">
                <a:solidFill>
                  <a:srgbClr val="FFFFFF"/>
                </a:solidFill>
                <a:latin typeface="Calibri"/>
              </a:rPr>
              <a:t>Future Work</a:t>
            </a:r>
          </a:p>
          <a:p>
            <a:pPr marL="274320" indent="-274320">
              <a:spcAft>
                <a:spcPts val="400"/>
              </a:spcAft>
              <a:buClr>
                <a:srgbClr val="FFFFFF"/>
              </a:buClr>
              <a:buFont typeface="Arial"/>
              <a:buChar char="►"/>
            </a:pPr>
            <a:r>
              <a:rPr sz="2000" b="0" i="0">
                <a:solidFill>
                  <a:srgbClr val="FFFFFF"/>
                </a:solidFill>
                <a:latin typeface="Calibri"/>
              </a:rPr>
              <a:t>Early-warning evaluation (weeks 2, 4, 6, 8)</a:t>
            </a:r>
          </a:p>
          <a:p>
            <a:pPr marL="274320" indent="-274320">
              <a:spcAft>
                <a:spcPts val="400"/>
              </a:spcAft>
              <a:buClr>
                <a:srgbClr val="FFFFFF"/>
              </a:buClr>
              <a:buFont typeface="Arial"/>
              <a:buChar char="►"/>
            </a:pPr>
            <a:r>
              <a:rPr sz="2000" b="0" i="0">
                <a:solidFill>
                  <a:srgbClr val="FFFFFF"/>
                </a:solidFill>
                <a:latin typeface="Calibri"/>
              </a:rPr>
              <a:t>Probability calibration</a:t>
            </a:r>
          </a:p>
          <a:p>
            <a:pPr marL="274320" indent="-274320">
              <a:spcAft>
                <a:spcPts val="400"/>
              </a:spcAft>
              <a:buClr>
                <a:srgbClr val="FFFFFF"/>
              </a:buClr>
              <a:buFont typeface="Arial"/>
              <a:buChar char="►"/>
            </a:pPr>
            <a:r>
              <a:rPr sz="2000" b="0" i="0">
                <a:solidFill>
                  <a:srgbClr val="FFFFFF"/>
                </a:solidFill>
                <a:latin typeface="Calibri"/>
              </a:rPr>
              <a:t>Fairness by subgroup</a:t>
            </a:r>
          </a:p>
          <a:p>
            <a:pPr marL="274320" indent="-274320">
              <a:spcAft>
                <a:spcPts val="400"/>
              </a:spcAft>
              <a:buClr>
                <a:srgbClr val="FFFFFF"/>
              </a:buClr>
              <a:buFont typeface="Arial"/>
              <a:buChar char="►"/>
            </a:pPr>
            <a:r>
              <a:rPr sz="2000" b="0" i="0">
                <a:solidFill>
                  <a:srgbClr val="FFFFFF"/>
                </a:solidFill>
                <a:latin typeface="Calibri"/>
              </a:rPr>
              <a:t>Practitioner study (TAM constructs)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