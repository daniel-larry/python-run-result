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Daniel Larry, and this is my MSc thesis, supervised by Dr. Zainab Shamsiya Usman. I built and technically evaluated a dashboard that predicts which students are at risk of failing or withdrawing, explains each prediction with SHAP and LIME, and presents that explanation differently to instructors, academic advisors and administrators.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ten minutes I will cover the problem and my research questions, the methodology, the system I built, the results of the technical evaluation, how the dashboard explains its predictions to each role, and then the contributions, limitations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record how students engage, and models trained on that data can flag students who may fail or withdraw. On benchmarks such as OULAD, ensemble models already do this well. The problem is what happens after the flag. Most systems give a score without a reason, and the same view goes to instructors, advisors and administrators, even though they make very different decisions. SHAP and LIME can explain predictions, but they are rarely built into working dashboards. In the literature I reviewed, I found no system that serves all three staff roles from one prediction model with role-specific explanations; the only role-specific XAI dashboard I found, by Afzaal and colleagues, is for students.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was to investigate how a role-aware explainable AI dashboard can support at-risk prediction in an LMS, using OULAD. The three objectives were to review the literature, to build and evaluate the model with SHAP and LIME, and to design, implement and technically evaluate the role-aware dashboard. The research questions are on the right, exactly as in the thesis. Note that RQ3 asks about technical potential, because this study did not include a user study.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methodology is knowledge engineering, using CommonKADS. It is a method for working out who needs what knowledge, and in what form. That matters here because the real problem is not just predicting risk, it is getting the right explanation to the right person. CommonKADS has six models: the organisation, the tasks, the agents or roles, the knowledge, how it is communicated, and the system design. I went through four phases: gathering knowledge from the literature, modelling it, building the system and testing it on OULAD. Design science gave the research steps, and the Technology Acceptance Model only guided the design. I did not interview users or run a user study, so usability and trust are not measured.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works as a pipeline. The data layer builds features from OULAD. The model, XGBoost, predicts risk. XGBoost builds 300 small decision trees, each one correcting the mistakes of the previous ones. The explanation layer gives the reasons: SHAP values are computed in advance so the dashboard loads fast, and LIME runs when a staff member clicks a student. The API checks who is logged in and only shows the view for that role. I tested it inside two real learning management systems: as a plugin in Moodle, using Moodle's own login and roles, and embedded in a Canvas course. Everything runs in Docker containers, so the setup can be repeated.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used OULAD, a public, anonymised dataset from the UK Open University that many studies use as a benchmark. Each of the 32,593 records is one student taking one course in one semester; some students took more than one course. There are 22 course runs, from 7 modules over 4 semesters. 52.8 percent withdrew or failed, which is my at-risk group, so the two groups are roughly balanced. To test the model fairly, I trained it on three semesters and tested it on the fourth, then rotated, so it was never tested on a semester it had already seen. I focused on recall, because missing a struggling student is worse than a false alarm, which only costs a quick check. One honest limit: the features cover the whole semester, so this shows the model can classify after the fact, not yet that it works early in the semester.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main results. Recall is 0.909: out of every 10 students who actually withdrew or failed, the model finds about 9. Precision is 0.866: when the model flags a student, it is right about 87 percent of the time. ROC-AUC is 0.962: if you pick one at-risk and one safe student, the model ranks the at-risk one higher 96 percent of the time. In real numbers, it caught 15,634 at-risk students, missed 1,574, and raised 2,422 false alarms, about one in six safe students, which a teacher would review and set aside. F1, which balances finding students against false alarms, is 0.887. Random Forest had a slightly better F1, 0.898, but I set recall as my rule before comparing, and XGBoost had the best recall, so I kept it. Results varied by semester, with accuracy from 0.846 to 0.916, so the overall figure is an average.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predictions are explained. Across all students, whether a student submits assessments is by far the strongest signal, more than four times stronger than the next one, followed by active days, the module and mean score. I used two methods. SHAP shows how much each factor pushed a single prediction up or down. LIME is a second, independent way of explaining the same prediction, so I can cross-check. Per student, about three of the top five factors match, so they partly agree, and the dashboard shows both. For example, student s678287 is predicted above 99.9 percent at risk. They submitted almost no assessments, and that was the biggest push, and LIME agrees on four of the top five factors. Two cautions. This shows how the model reasons, not why a student is struggling. And one click result looks odd because two click measures move almost exactly together, with a correlation of 0.98. The staff member still decides what to 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dashboard running inside Moodle, in course FFF-2014J. It is the instructor view: students ranked by risk, and for the selected student, SHAP and LIME side by side with a note on how far they agree. The same prediction is shown at three levels. Instructors see individual students. Advisors see their caseload across modules, with reasoning averaged across those students. Administrators see the whole institution, including how accurate the model is. These views were derived from the CommonKADS Agent Model and the literature; they have not yet been tested with real staff.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contributions. Prediction and explanation run together in one working system, integrated with Moodle and Canvas. Explanations are tailored to each staff role. CommonKADS is applied to explainable learning analytics, which shows the design problem is mainly a knowledge problem. And there is evidence on where SHAP and LIME agree and differ. The limitations are just as important. No practitioners used the system, so trust, usability and decision quality are untested. The evaluation is retrospective. It uses one dataset. And the planned stability, fidelity, calibration and fairness checks were not completed.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the research questions. RQ1: SHAP and LIME were integrated into a pipeline designed with CommonKADS; they agree on the main drivers and partly differ per student. RQ2: individual, caseload and cohort views were derived from the Agent Model and implemented in Moodle and Canvas. RQ3: the technical preconditions are in place, with high recall, reasons traceable to recorded behaviour, and two methods cross-checked; whether practitioners actually benefit is the next study. Future work: early-warning evaluation at weeks 2 to 8, calibration, fairness by subgroup, and a practitioner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1234440"/>
            <a:ext cx="6217920" cy="1737360"/>
          </a:xfrm>
        </p:spPr>
        <p:txBody>
          <a:bodyPr wrap="square" anchor="t" lIns="0" rIns="0"/>
          <a:lstStyle/>
          <a:p>
            <a:pPr algn="l"/>
            <a:r>
              <a:rPr sz="3000" b="1" i="0">
                <a:solidFill>
                  <a:srgbClr val="1F3864"/>
                </a:solidFill>
                <a:latin typeface="Calibri"/>
              </a:rPr>
              <a:t>A Role-Aware Explainable AI Dashboard for Student At-Risk Classification in Learning Management Systems</a:t>
            </a:r>
          </a:p>
        </p:txBody>
      </p:sp>
      <p:sp>
        <p:nvSpPr>
          <p:cNvPr id="3" name="Cover label"/>
          <p:cNvSpPr txBox="1"/>
          <p:nvPr/>
        </p:nvSpPr>
        <p:spPr>
          <a:xfrm>
            <a:off x="2286000" y="822960"/>
            <a:ext cx="6217920" cy="3200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MSc THESIS  |  INTERNAL DEFENSE</a:t>
            </a:r>
          </a:p>
        </p:txBody>
      </p:sp>
      <p:sp>
        <p:nvSpPr>
          <p:cNvPr id="4" name="Cover details"/>
          <p:cNvSpPr txBox="1"/>
          <p:nvPr/>
        </p:nvSpPr>
        <p:spPr>
          <a:xfrm>
            <a:off x="2286000" y="3429000"/>
            <a:ext cx="6217920" cy="2194560"/>
          </a:xfrm>
          <a:prstGeom prst="rect">
            <a:avLst/>
          </a:prstGeom>
          <a:noFill/>
        </p:spPr>
        <p:txBody>
          <a:bodyPr wrap="square" anchor="t" lIns="0" rIns="0" tIns="0" bIns="0">
            <a:spAutoFit/>
          </a:bodyPr>
          <a:lstStyle/>
          <a:p>
            <a:pPr algn="l">
              <a:spcAft>
                <a:spcPts val="800"/>
              </a:spcAft>
            </a:pPr>
            <a:r>
              <a:rPr sz="2000" b="1" i="0">
                <a:solidFill>
                  <a:srgbClr val="1F3864"/>
                </a:solidFill>
                <a:latin typeface="Calibri"/>
              </a:rPr>
              <a:t>Daniel Larry  |  A00020528</a:t>
            </a:r>
          </a:p>
          <a:p>
            <a:pPr algn="l">
              <a:spcAft>
                <a:spcPts val="800"/>
              </a:spcAft>
            </a:pPr>
            <a:r>
              <a:rPr sz="1600" b="0" i="0">
                <a:solidFill>
                  <a:srgbClr val="26262E"/>
                </a:solidFill>
                <a:latin typeface="Calibri"/>
              </a:rPr>
              <a:t>Supervisor: Dr. Zainab Shamsiya Usman</a:t>
            </a:r>
          </a:p>
          <a:p>
            <a:pPr algn="l">
              <a:spcAft>
                <a:spcPts val="800"/>
              </a:spcAft>
            </a:pPr>
            <a:r>
              <a:rPr sz="1600" b="0" i="0">
                <a:solidFill>
                  <a:srgbClr val="26262E"/>
                </a:solidFill>
                <a:latin typeface="Calibri"/>
              </a:rPr>
              <a:t>Department of Computer Science</a:t>
            </a:r>
          </a:p>
          <a:p>
            <a:pPr algn="l">
              <a:spcAft>
                <a:spcPts val="800"/>
              </a:spcAft>
            </a:pPr>
            <a:r>
              <a:rPr sz="1500" b="0" i="0">
                <a:solidFill>
                  <a:srgbClr val="59595F"/>
                </a:solidFill>
                <a:latin typeface="Calibri"/>
              </a:rPr>
              <a:t>American University of Nigeria  |  October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Presentation Outline</a:t>
            </a:r>
          </a:p>
        </p:txBody>
      </p:sp>
      <p:sp>
        <p:nvSpPr>
          <p:cNvPr id="3" name="Outline"/>
          <p:cNvSpPr txBox="1"/>
          <p:nvPr/>
        </p:nvSpPr>
        <p:spPr>
          <a:xfrm>
            <a:off x="2286000" y="1463040"/>
            <a:ext cx="6217920" cy="4754880"/>
          </a:xfrm>
          <a:prstGeom prst="rect">
            <a:avLst/>
          </a:prstGeom>
          <a:noFill/>
        </p:spPr>
        <p:txBody>
          <a:bodyPr wrap="square" anchor="t" lIns="0" rIns="0" tIns="0" bIns="0">
            <a:spAutoFit/>
          </a:bodyPr>
          <a:lstStyle/>
          <a:p>
            <a:pPr algn="l">
              <a:spcAft>
                <a:spcPts val="1200"/>
              </a:spcAft>
            </a:pPr>
            <a:r>
              <a:rPr sz="2100" b="1" i="0">
                <a:solidFill>
                  <a:srgbClr val="C00000"/>
                </a:solidFill>
                <a:latin typeface="Calibri"/>
              </a:rPr>
              <a:t>1.  </a:t>
            </a:r>
            <a:r>
              <a:rPr sz="2100" b="0" i="0">
                <a:solidFill>
                  <a:srgbClr val="26262E"/>
                </a:solidFill>
                <a:latin typeface="Calibri"/>
              </a:rPr>
              <a:t>Background &amp; Problem Statement</a:t>
            </a:r>
          </a:p>
          <a:p>
            <a:pPr algn="l">
              <a:spcAft>
                <a:spcPts val="1200"/>
              </a:spcAft>
            </a:pPr>
            <a:r>
              <a:rPr sz="2100" b="1" i="0">
                <a:solidFill>
                  <a:srgbClr val="C00000"/>
                </a:solidFill>
                <a:latin typeface="Calibri"/>
              </a:rPr>
              <a:t>2.  </a:t>
            </a:r>
            <a:r>
              <a:rPr sz="2100" b="0" i="0">
                <a:solidFill>
                  <a:srgbClr val="26262E"/>
                </a:solidFill>
                <a:latin typeface="Calibri"/>
              </a:rPr>
              <a:t>Aim, Objectives &amp; Research Questions</a:t>
            </a:r>
          </a:p>
          <a:p>
            <a:pPr algn="l">
              <a:spcAft>
                <a:spcPts val="1200"/>
              </a:spcAft>
            </a:pPr>
            <a:r>
              <a:rPr sz="2100" b="1" i="0">
                <a:solidFill>
                  <a:srgbClr val="C00000"/>
                </a:solidFill>
                <a:latin typeface="Calibri"/>
              </a:rPr>
              <a:t>3.  </a:t>
            </a:r>
            <a:r>
              <a:rPr sz="2100" b="0" i="0">
                <a:solidFill>
                  <a:srgbClr val="26262E"/>
                </a:solidFill>
                <a:latin typeface="Calibri"/>
              </a:rPr>
              <a:t>Methodology: Knowledge Engineering</a:t>
            </a:r>
          </a:p>
          <a:p>
            <a:pPr algn="l">
              <a:spcAft>
                <a:spcPts val="1200"/>
              </a:spcAft>
            </a:pPr>
            <a:r>
              <a:rPr sz="2100" b="1" i="0">
                <a:solidFill>
                  <a:srgbClr val="C00000"/>
                </a:solidFill>
                <a:latin typeface="Calibri"/>
              </a:rPr>
              <a:t>4.  </a:t>
            </a:r>
            <a:r>
              <a:rPr sz="2100" b="0" i="0">
                <a:solidFill>
                  <a:srgbClr val="26262E"/>
                </a:solidFill>
                <a:latin typeface="Calibri"/>
              </a:rPr>
              <a:t>System Architecture &amp; Implementation</a:t>
            </a:r>
          </a:p>
          <a:p>
            <a:pPr algn="l">
              <a:spcAft>
                <a:spcPts val="1200"/>
              </a:spcAft>
            </a:pPr>
            <a:r>
              <a:rPr sz="2100" b="1" i="0">
                <a:solidFill>
                  <a:srgbClr val="C00000"/>
                </a:solidFill>
                <a:latin typeface="Calibri"/>
              </a:rPr>
              <a:t>5.  </a:t>
            </a:r>
            <a:r>
              <a:rPr sz="2100" b="0" i="0">
                <a:solidFill>
                  <a:srgbClr val="26262E"/>
                </a:solidFill>
                <a:latin typeface="Calibri"/>
              </a:rPr>
              <a:t>Dataset &amp; Evaluation Protocol</a:t>
            </a:r>
          </a:p>
          <a:p>
            <a:pPr algn="l">
              <a:spcAft>
                <a:spcPts val="1200"/>
              </a:spcAft>
            </a:pPr>
            <a:r>
              <a:rPr sz="2100" b="1" i="0">
                <a:solidFill>
                  <a:srgbClr val="C00000"/>
                </a:solidFill>
                <a:latin typeface="Calibri"/>
              </a:rPr>
              <a:t>6.  </a:t>
            </a:r>
            <a:r>
              <a:rPr sz="2100" b="0" i="0">
                <a:solidFill>
                  <a:srgbClr val="26262E"/>
                </a:solidFill>
                <a:latin typeface="Calibri"/>
              </a:rPr>
              <a:t>Results: Prediction &amp; Explainability</a:t>
            </a:r>
          </a:p>
          <a:p>
            <a:pPr algn="l">
              <a:spcAft>
                <a:spcPts val="1200"/>
              </a:spcAft>
            </a:pPr>
            <a:r>
              <a:rPr sz="2100" b="1" i="0">
                <a:solidFill>
                  <a:srgbClr val="C00000"/>
                </a:solidFill>
                <a:latin typeface="Calibri"/>
              </a:rPr>
              <a:t>7.  </a:t>
            </a:r>
            <a:r>
              <a:rPr sz="2100" b="0" i="0">
                <a:solidFill>
                  <a:srgbClr val="26262E"/>
                </a:solidFill>
                <a:latin typeface="Calibri"/>
              </a:rPr>
              <a:t>The Role-Aware Dashboard in Moodle</a:t>
            </a:r>
          </a:p>
          <a:p>
            <a:pPr algn="l">
              <a:spcAft>
                <a:spcPts val="1200"/>
              </a:spcAft>
            </a:pPr>
            <a:r>
              <a:rPr sz="2100" b="1" i="0">
                <a:solidFill>
                  <a:srgbClr val="C00000"/>
                </a:solidFill>
                <a:latin typeface="Calibri"/>
              </a:rPr>
              <a:t>8.  </a:t>
            </a:r>
            <a:r>
              <a:rPr sz="2100" b="0" i="0">
                <a:solidFill>
                  <a:srgbClr val="26262E"/>
                </a:solidFill>
                <a:latin typeface="Calibri"/>
              </a:rPr>
              <a:t>Contributions, Limitations &amp;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Background &amp; Problem Statement</a:t>
            </a:r>
          </a:p>
        </p:txBody>
      </p:sp>
      <p:sp>
        <p:nvSpPr>
          <p:cNvPr id="3" name="Context"/>
          <p:cNvSpPr txBox="1"/>
          <p:nvPr/>
        </p:nvSpPr>
        <p:spPr>
          <a:xfrm>
            <a:off x="2286000" y="1463040"/>
            <a:ext cx="2926080" cy="17373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CONTEXT</a:t>
            </a:r>
          </a:p>
          <a:p>
            <a:pPr algn="l" marL="201168" indent="-201168">
              <a:spcAft>
                <a:spcPts val="600"/>
              </a:spcAft>
              <a:buClr>
                <a:srgbClr val="1F3864"/>
              </a:buClr>
              <a:buFont typeface="Arial"/>
              <a:buChar char="•"/>
            </a:pPr>
            <a:r>
              <a:rPr sz="1700" b="0" i="0">
                <a:solidFill>
                  <a:srgbClr val="26262E"/>
                </a:solidFill>
                <a:latin typeface="Calibri"/>
              </a:rPr>
              <a:t>LMS logs record how students engage</a:t>
            </a:r>
          </a:p>
          <a:p>
            <a:pPr algn="l" marL="201168" indent="-201168">
              <a:spcAft>
                <a:spcPts val="600"/>
              </a:spcAft>
              <a:buClr>
                <a:srgbClr val="1F3864"/>
              </a:buClr>
              <a:buFont typeface="Arial"/>
              <a:buChar char="•"/>
            </a:pPr>
            <a:r>
              <a:rPr sz="1700" b="0" i="0">
                <a:solidFill>
                  <a:srgbClr val="26262E"/>
                </a:solidFill>
                <a:latin typeface="Calibri"/>
              </a:rPr>
              <a:t>Ensemble models already flag at-risk students accurately on OULAD</a:t>
            </a:r>
          </a:p>
        </p:txBody>
      </p:sp>
      <p:sp>
        <p:nvSpPr>
          <p:cNvPr id="4" name="Problem"/>
          <p:cNvSpPr txBox="1"/>
          <p:nvPr/>
        </p:nvSpPr>
        <p:spPr>
          <a:xfrm>
            <a:off x="2286000" y="3246120"/>
            <a:ext cx="2926080" cy="21945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PROBLEM STATEMENT</a:t>
            </a:r>
          </a:p>
          <a:p>
            <a:pPr algn="l" marL="201168" indent="-201168">
              <a:spcAft>
                <a:spcPts val="600"/>
              </a:spcAft>
              <a:buClr>
                <a:srgbClr val="1F3864"/>
              </a:buClr>
              <a:buFont typeface="Arial"/>
              <a:buChar char="•"/>
            </a:pPr>
            <a:r>
              <a:rPr sz="1700" b="0" i="0">
                <a:solidFill>
                  <a:srgbClr val="26262E"/>
                </a:solidFill>
                <a:latin typeface="Calibri"/>
              </a:rPr>
              <a:t>Predictions arrive as scores, without reasons</a:t>
            </a:r>
          </a:p>
          <a:p>
            <a:pPr algn="l" marL="201168" indent="-201168">
              <a:spcAft>
                <a:spcPts val="600"/>
              </a:spcAft>
              <a:buClr>
                <a:srgbClr val="1F3864"/>
              </a:buClr>
              <a:buFont typeface="Arial"/>
              <a:buChar char="•"/>
            </a:pPr>
            <a:r>
              <a:rPr sz="1700" b="0" i="0">
                <a:solidFill>
                  <a:srgbClr val="26262E"/>
                </a:solidFill>
                <a:latin typeface="Calibri"/>
              </a:rPr>
              <a:t>Instructors, advisors and administrators get the same view</a:t>
            </a:r>
          </a:p>
          <a:p>
            <a:pPr algn="l" marL="201168" indent="-201168">
              <a:spcAft>
                <a:spcPts val="600"/>
              </a:spcAft>
              <a:buClr>
                <a:srgbClr val="1F3864"/>
              </a:buClr>
              <a:buFont typeface="Arial"/>
              <a:buChar char="•"/>
            </a:pPr>
            <a:r>
              <a:rPr sz="1700" b="0" i="0">
                <a:solidFill>
                  <a:srgbClr val="26262E"/>
                </a:solidFill>
                <a:latin typeface="Calibri"/>
              </a:rPr>
              <a:t>SHAP and LIME are rarely built into working dashboards</a:t>
            </a:r>
          </a:p>
        </p:txBody>
      </p:sp>
      <p:sp>
        <p:nvSpPr>
          <p:cNvPr id="5" name="Gap"/>
          <p:cNvSpPr txBox="1"/>
          <p:nvPr/>
        </p:nvSpPr>
        <p:spPr>
          <a:xfrm>
            <a:off x="5577840" y="1463040"/>
            <a:ext cx="2926080" cy="26517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RESEARCH GAP</a:t>
            </a:r>
          </a:p>
          <a:p>
            <a:pPr algn="l" marL="201168" indent="-201168">
              <a:spcAft>
                <a:spcPts val="600"/>
              </a:spcAft>
              <a:buClr>
                <a:srgbClr val="1F3864"/>
              </a:buClr>
              <a:buFont typeface="Arial"/>
              <a:buChar char="•"/>
            </a:pPr>
            <a:r>
              <a:rPr sz="1700" b="0" i="0">
                <a:solidFill>
                  <a:srgbClr val="26262E"/>
                </a:solidFill>
                <a:latin typeface="Calibri"/>
              </a:rPr>
              <a:t>No reviewed study serves all three staff roles from one prediction system with role-specific explanations</a:t>
            </a:r>
          </a:p>
          <a:p>
            <a:pPr algn="l" marL="201168" indent="-201168">
              <a:spcAft>
                <a:spcPts val="600"/>
              </a:spcAft>
              <a:buClr>
                <a:srgbClr val="1F3864"/>
              </a:buClr>
              <a:buFont typeface="Arial"/>
              <a:buChar char="•"/>
            </a:pPr>
            <a:r>
              <a:rPr sz="1700" b="0" i="0">
                <a:solidFill>
                  <a:srgbClr val="26262E"/>
                </a:solidFill>
                <a:latin typeface="Calibri"/>
              </a:rPr>
              <a:t>The only role-specific XAI dashboard found targets students (Afzaal et al., 2021)</a:t>
            </a:r>
          </a:p>
        </p:txBody>
      </p:sp>
      <p:sp>
        <p:nvSpPr>
          <p:cNvPr id="6" name="Scale"/>
          <p:cNvSpPr txBox="1"/>
          <p:nvPr/>
        </p:nvSpPr>
        <p:spPr>
          <a:xfrm>
            <a:off x="5577840" y="3977639"/>
            <a:ext cx="2926080" cy="2194560"/>
          </a:xfrm>
          <a:prstGeom prst="rect">
            <a:avLst/>
          </a:prstGeom>
          <a:noFill/>
        </p:spPr>
        <p:txBody>
          <a:bodyPr wrap="square" anchor="t" lIns="0" rIns="0" tIns="0" bIns="0">
            <a:spAutoFit/>
          </a:bodyPr>
          <a:lstStyle/>
          <a:p>
            <a:pPr algn="l">
              <a:spcAft>
                <a:spcPts val="200"/>
              </a:spcAft>
            </a:pPr>
            <a:r>
              <a:rPr sz="3600" b="1" i="0">
                <a:solidFill>
                  <a:srgbClr val="1F3864"/>
                </a:solidFill>
                <a:latin typeface="Calibri"/>
              </a:rPr>
              <a:t>32,593</a:t>
            </a:r>
          </a:p>
          <a:p>
            <a:pPr algn="l">
              <a:spcAft>
                <a:spcPts val="200"/>
              </a:spcAft>
            </a:pPr>
            <a:r>
              <a:rPr sz="1400" b="0" i="0">
                <a:solidFill>
                  <a:srgbClr val="59595F"/>
                </a:solidFill>
                <a:latin typeface="Calibri"/>
              </a:rPr>
              <a:t>student records (OULAD)</a:t>
            </a:r>
          </a:p>
          <a:p>
            <a:pPr algn="l">
              <a:spcAft>
                <a:spcPts val="200"/>
              </a:spcAft>
            </a:pPr>
            <a:r>
              <a:rPr sz="3600" b="1" i="0">
                <a:solidFill>
                  <a:srgbClr val="1F3864"/>
                </a:solidFill>
                <a:latin typeface="Calibri"/>
              </a:rPr>
              <a:t>3 roles</a:t>
            </a:r>
          </a:p>
          <a:p>
            <a:pPr algn="l">
              <a:spcAft>
                <a:spcPts val="200"/>
              </a:spcAft>
            </a:pPr>
            <a:r>
              <a:rPr sz="1400" b="0" i="0">
                <a:solidFill>
                  <a:srgbClr val="59595F"/>
                </a:solidFill>
                <a:latin typeface="Calibri"/>
              </a:rPr>
              <a:t>instructor, advisor, administrator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Aim, Objectives &amp; Research Questions</a:t>
            </a:r>
          </a:p>
        </p:txBody>
      </p:sp>
      <p:sp>
        <p:nvSpPr>
          <p:cNvPr id="3" name="Aim"/>
          <p:cNvSpPr txBox="1"/>
          <p:nvPr/>
        </p:nvSpPr>
        <p:spPr>
          <a:xfrm>
            <a:off x="2286000" y="1417320"/>
            <a:ext cx="6217920" cy="777240"/>
          </a:xfrm>
          <a:prstGeom prst="rect">
            <a:avLst/>
          </a:prstGeom>
          <a:noFill/>
        </p:spPr>
        <p:txBody>
          <a:bodyPr wrap="square" anchor="t" lIns="0" rIns="0" tIns="0" bIns="0">
            <a:spAutoFit/>
          </a:bodyPr>
          <a:lstStyle/>
          <a:p>
            <a:pPr algn="l">
              <a:spcAft>
                <a:spcPts val="600"/>
              </a:spcAft>
            </a:pPr>
            <a:r>
              <a:rPr sz="1700" b="1" i="0">
                <a:solidFill>
                  <a:srgbClr val="C00000"/>
                </a:solidFill>
                <a:latin typeface="Calibri"/>
              </a:rPr>
              <a:t>Aim: </a:t>
            </a:r>
            <a:r>
              <a:rPr sz="1700" b="0" i="0">
                <a:solidFill>
                  <a:srgbClr val="1F3864"/>
                </a:solidFill>
                <a:latin typeface="Calibri"/>
              </a:rPr>
              <a:t>investigate how a role-aware explainable AI dashboard can support at-risk student prediction in LMS environments, using OULAD</a:t>
            </a:r>
          </a:p>
        </p:txBody>
      </p:sp>
      <p:sp>
        <p:nvSpPr>
          <p:cNvPr id="4" name="Objectives"/>
          <p:cNvSpPr txBox="1"/>
          <p:nvPr/>
        </p:nvSpPr>
        <p:spPr>
          <a:xfrm>
            <a:off x="2286000" y="2331720"/>
            <a:ext cx="2148840" cy="393192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SPECIFIC OBJECTIVES</a:t>
            </a:r>
          </a:p>
          <a:p>
            <a:pPr algn="l" marL="201168" indent="-201168">
              <a:spcAft>
                <a:spcPts val="800"/>
              </a:spcAft>
              <a:buClr>
                <a:srgbClr val="1F3864"/>
              </a:buClr>
              <a:buFont typeface="Arial"/>
              <a:buChar char="•"/>
            </a:pPr>
            <a:r>
              <a:rPr sz="1500" b="1" i="0">
                <a:solidFill>
                  <a:srgbClr val="26262E"/>
                </a:solidFill>
                <a:latin typeface="Calibri"/>
              </a:rPr>
              <a:t>O1 </a:t>
            </a:r>
            <a:r>
              <a:rPr sz="1500" b="0" i="0">
                <a:solidFill>
                  <a:srgbClr val="26262E"/>
                </a:solidFill>
                <a:latin typeface="Calibri"/>
              </a:rPr>
              <a:t>Review predictors, ML models and XAI methods</a:t>
            </a:r>
          </a:p>
          <a:p>
            <a:pPr algn="l" marL="201168" indent="-201168">
              <a:spcAft>
                <a:spcPts val="800"/>
              </a:spcAft>
              <a:buClr>
                <a:srgbClr val="1F3864"/>
              </a:buClr>
              <a:buFont typeface="Arial"/>
              <a:buChar char="•"/>
            </a:pPr>
            <a:r>
              <a:rPr sz="1500" b="1" i="0">
                <a:solidFill>
                  <a:srgbClr val="26262E"/>
                </a:solidFill>
                <a:latin typeface="Calibri"/>
              </a:rPr>
              <a:t>O2 </a:t>
            </a:r>
            <a:r>
              <a:rPr sz="1500" b="0" i="0">
                <a:solidFill>
                  <a:srgbClr val="26262E"/>
                </a:solidFill>
                <a:latin typeface="Calibri"/>
              </a:rPr>
              <a:t>Build and evaluate an ensemble model on OULAD with SHAP and LIME</a:t>
            </a:r>
          </a:p>
          <a:p>
            <a:pPr algn="l" marL="201168" indent="-201168">
              <a:spcAft>
                <a:spcPts val="800"/>
              </a:spcAft>
              <a:buClr>
                <a:srgbClr val="1F3864"/>
              </a:buClr>
              <a:buFont typeface="Arial"/>
              <a:buChar char="•"/>
            </a:pPr>
            <a:r>
              <a:rPr sz="1500" b="1" i="0">
                <a:solidFill>
                  <a:srgbClr val="26262E"/>
                </a:solidFill>
                <a:latin typeface="Calibri"/>
              </a:rPr>
              <a:t>O3 </a:t>
            </a:r>
            <a:r>
              <a:rPr sz="1500" b="0" i="0">
                <a:solidFill>
                  <a:srgbClr val="26262E"/>
                </a:solidFill>
                <a:latin typeface="Calibri"/>
              </a:rPr>
              <a:t>Design, implement and technically evaluate a role-aware XAI dashboard</a:t>
            </a:r>
          </a:p>
        </p:txBody>
      </p:sp>
      <p:sp>
        <p:nvSpPr>
          <p:cNvPr id="5" name="Research questions"/>
          <p:cNvSpPr txBox="1"/>
          <p:nvPr/>
        </p:nvSpPr>
        <p:spPr>
          <a:xfrm>
            <a:off x="4709159" y="2331720"/>
            <a:ext cx="3794760" cy="402336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RESEARCH QUESTIONS</a:t>
            </a:r>
          </a:p>
          <a:p>
            <a:pPr algn="l" marL="201168" indent="-201168">
              <a:spcAft>
                <a:spcPts val="800"/>
              </a:spcAft>
              <a:buClr>
                <a:srgbClr val="1F3864"/>
              </a:buClr>
              <a:buFont typeface="Arial"/>
              <a:buChar char="•"/>
            </a:pPr>
            <a:r>
              <a:rPr sz="1400" b="1" i="0">
                <a:solidFill>
                  <a:srgbClr val="26262E"/>
                </a:solidFill>
                <a:latin typeface="Calibri"/>
              </a:rPr>
              <a:t>RQ1 </a:t>
            </a:r>
            <a:r>
              <a:rPr sz="1400" b="0" i="0">
                <a:solidFill>
                  <a:srgbClr val="26262E"/>
                </a:solidFill>
                <a:latin typeface="Calibri"/>
              </a:rPr>
              <a:t>How can explainable AI techniques (specifically SHAP and LIME) be integrated into a knowledge engineering pipeline to improve transparency in student at-risk prediction models?</a:t>
            </a:r>
          </a:p>
          <a:p>
            <a:pPr algn="l" marL="201168" indent="-201168">
              <a:spcAft>
                <a:spcPts val="800"/>
              </a:spcAft>
              <a:buClr>
                <a:srgbClr val="1F3864"/>
              </a:buClr>
              <a:buFont typeface="Arial"/>
              <a:buChar char="•"/>
            </a:pPr>
            <a:r>
              <a:rPr sz="1400" b="1" i="0">
                <a:solidFill>
                  <a:srgbClr val="26262E"/>
                </a:solidFill>
                <a:latin typeface="Calibri"/>
              </a:rPr>
              <a:t>RQ2 </a:t>
            </a:r>
            <a:r>
              <a:rPr sz="1400" b="0" i="0">
                <a:solidFill>
                  <a:srgbClr val="26262E"/>
                </a:solidFill>
                <a:latin typeface="Calibri"/>
              </a:rPr>
              <a:t>What dashboard features and explanation structures, based on the CommonKADS Agent Model and the learning analytics dashboard literature, can be specified to support the different information needs of instructors, advisors, and administrators within an LMS?</a:t>
            </a:r>
          </a:p>
          <a:p>
            <a:pPr algn="l" marL="201168" indent="-201168">
              <a:spcAft>
                <a:spcPts val="800"/>
              </a:spcAft>
              <a:buClr>
                <a:srgbClr val="1F3864"/>
              </a:buClr>
              <a:buFont typeface="Arial"/>
              <a:buChar char="•"/>
            </a:pPr>
            <a:r>
              <a:rPr sz="1400" b="1" i="0">
                <a:solidFill>
                  <a:srgbClr val="26262E"/>
                </a:solidFill>
                <a:latin typeface="Calibri"/>
              </a:rPr>
              <a:t>RQ3 </a:t>
            </a:r>
            <a:r>
              <a:rPr sz="1400" b="0" i="0">
                <a:solidFill>
                  <a:srgbClr val="26262E"/>
                </a:solidFill>
                <a:latin typeface="Calibri"/>
              </a:rPr>
              <a:t>What do the predictive performance and explainability findings indicate about the technical potential of the proposed role-aware explainable dashboard to support practitioner interpretation and decision-making?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Methodology: Knowledge Engineering</a:t>
            </a:r>
          </a:p>
        </p:txBody>
      </p:sp>
      <p:sp>
        <p:nvSpPr>
          <p:cNvPr id="3" name="CommonKADS"/>
          <p:cNvSpPr txBox="1"/>
          <p:nvPr/>
        </p:nvSpPr>
        <p:spPr>
          <a:xfrm>
            <a:off x="2286000" y="1463040"/>
            <a:ext cx="2926080" cy="29260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PRIMARY METHODOLOGY</a:t>
            </a:r>
          </a:p>
          <a:p>
            <a:pPr algn="l" marL="201168" indent="-201168">
              <a:spcAft>
                <a:spcPts val="600"/>
              </a:spcAft>
              <a:buClr>
                <a:srgbClr val="1F3864"/>
              </a:buClr>
              <a:buFont typeface="Arial"/>
              <a:buChar char="•"/>
            </a:pPr>
            <a:r>
              <a:rPr sz="1700" b="1" i="0">
                <a:solidFill>
                  <a:srgbClr val="26262E"/>
                </a:solidFill>
                <a:latin typeface="Calibri"/>
              </a:rPr>
              <a:t>CommonKADS: </a:t>
            </a:r>
            <a:r>
              <a:rPr sz="1700" b="0" i="0">
                <a:solidFill>
                  <a:srgbClr val="26262E"/>
                </a:solidFill>
                <a:latin typeface="Calibri"/>
              </a:rPr>
              <a:t>knowledge engineering methodology (Schreiber et al., 2000)</a:t>
            </a:r>
          </a:p>
          <a:p>
            <a:pPr algn="l" marL="201168" indent="-201168">
              <a:spcAft>
                <a:spcPts val="600"/>
              </a:spcAft>
              <a:buClr>
                <a:srgbClr val="1F3864"/>
              </a:buClr>
              <a:buFont typeface="Arial"/>
              <a:buChar char="•"/>
            </a:pPr>
            <a:r>
              <a:rPr sz="1700" b="0" i="0">
                <a:solidFill>
                  <a:srgbClr val="26262E"/>
                </a:solidFill>
                <a:latin typeface="Calibri"/>
              </a:rPr>
              <a:t>Helps decide which role needs what knowledge, in what form</a:t>
            </a:r>
          </a:p>
          <a:p>
            <a:pPr algn="l" marL="201168" indent="-201168">
              <a:spcAft>
                <a:spcPts val="600"/>
              </a:spcAft>
              <a:buClr>
                <a:srgbClr val="1F3864"/>
              </a:buClr>
              <a:buFont typeface="Arial"/>
              <a:buChar char="•"/>
            </a:pPr>
            <a:r>
              <a:rPr sz="1700" b="0" i="0">
                <a:solidFill>
                  <a:srgbClr val="26262E"/>
                </a:solidFill>
                <a:latin typeface="Calibri"/>
              </a:rPr>
              <a:t>Six models: Organisation, Task, Agent, Knowledge, Communication, Design</a:t>
            </a:r>
          </a:p>
        </p:txBody>
      </p:sp>
      <p:sp>
        <p:nvSpPr>
          <p:cNvPr id="4" name="Supporting"/>
          <p:cNvSpPr txBox="1"/>
          <p:nvPr/>
        </p:nvSpPr>
        <p:spPr>
          <a:xfrm>
            <a:off x="2286000" y="4480560"/>
            <a:ext cx="2926080" cy="164592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SUPPORTING FRAMEWORKS</a:t>
            </a:r>
          </a:p>
          <a:p>
            <a:pPr algn="l" marL="201168" indent="-201168">
              <a:spcAft>
                <a:spcPts val="600"/>
              </a:spcAft>
              <a:buClr>
                <a:srgbClr val="1F3864"/>
              </a:buClr>
              <a:buFont typeface="Arial"/>
              <a:buChar char="•"/>
            </a:pPr>
            <a:r>
              <a:rPr sz="1700" b="1" i="0">
                <a:solidFill>
                  <a:srgbClr val="26262E"/>
                </a:solidFill>
                <a:latin typeface="Calibri"/>
              </a:rPr>
              <a:t>DSRM </a:t>
            </a:r>
            <a:r>
              <a:rPr sz="1700" b="0" i="0">
                <a:solidFill>
                  <a:srgbClr val="26262E"/>
                </a:solidFill>
                <a:latin typeface="Calibri"/>
              </a:rPr>
              <a:t>(Peffers et al., 2007): steps for building and testing the system</a:t>
            </a:r>
          </a:p>
          <a:p>
            <a:pPr algn="l" marL="201168" indent="-201168">
              <a:spcAft>
                <a:spcPts val="600"/>
              </a:spcAft>
              <a:buClr>
                <a:srgbClr val="1F3864"/>
              </a:buClr>
              <a:buFont typeface="Arial"/>
              <a:buChar char="•"/>
            </a:pPr>
            <a:r>
              <a:rPr sz="1700" b="1" i="0">
                <a:solidFill>
                  <a:srgbClr val="26262E"/>
                </a:solidFill>
                <a:latin typeface="Calibri"/>
              </a:rPr>
              <a:t>TAM </a:t>
            </a:r>
            <a:r>
              <a:rPr sz="1700" b="0" i="0">
                <a:solidFill>
                  <a:srgbClr val="26262E"/>
                </a:solidFill>
                <a:latin typeface="Calibri"/>
              </a:rPr>
              <a:t>(Davis, 1989): design guide only, not measured</a:t>
            </a:r>
          </a:p>
        </p:txBody>
      </p:sp>
      <p:sp>
        <p:nvSpPr>
          <p:cNvPr id="5" name="Phases"/>
          <p:cNvSpPr txBox="1"/>
          <p:nvPr/>
        </p:nvSpPr>
        <p:spPr>
          <a:xfrm>
            <a:off x="5577840" y="1463040"/>
            <a:ext cx="2926080" cy="2651760"/>
          </a:xfrm>
          <a:prstGeom prst="rect">
            <a:avLst/>
          </a:prstGeom>
          <a:noFill/>
        </p:spPr>
        <p:txBody>
          <a:bodyPr wrap="square" anchor="t" lIns="0" rIns="0" tIns="0" bIns="0">
            <a:spAutoFit/>
          </a:bodyPr>
          <a:lstStyle/>
          <a:p>
            <a:pPr algn="l">
              <a:spcAft>
                <a:spcPts val="1000"/>
              </a:spcAft>
            </a:pPr>
            <a:r>
              <a:rPr sz="1300" b="1" i="0">
                <a:solidFill>
                  <a:srgbClr val="C00000"/>
                </a:solidFill>
                <a:latin typeface="Calibri"/>
              </a:rPr>
              <a:t>RESEARCH PHASES</a:t>
            </a:r>
          </a:p>
          <a:p>
            <a:pPr algn="l">
              <a:spcAft>
                <a:spcPts val="1000"/>
              </a:spcAft>
            </a:pPr>
            <a:r>
              <a:rPr sz="1700" b="1" i="0">
                <a:solidFill>
                  <a:srgbClr val="C00000"/>
                </a:solidFill>
                <a:latin typeface="Calibri"/>
              </a:rPr>
              <a:t>1.  </a:t>
            </a:r>
            <a:r>
              <a:rPr sz="1700" b="0" i="0">
                <a:solidFill>
                  <a:srgbClr val="26262E"/>
                </a:solidFill>
                <a:latin typeface="Calibri"/>
              </a:rPr>
              <a:t>Gather knowledge from the literature</a:t>
            </a:r>
          </a:p>
          <a:p>
            <a:pPr algn="l">
              <a:spcAft>
                <a:spcPts val="1000"/>
              </a:spcAft>
            </a:pPr>
            <a:r>
              <a:rPr sz="1700" b="1" i="0">
                <a:solidFill>
                  <a:srgbClr val="C00000"/>
                </a:solidFill>
                <a:latin typeface="Calibri"/>
              </a:rPr>
              <a:t>2.  </a:t>
            </a:r>
            <a:r>
              <a:rPr sz="1700" b="0" i="0">
                <a:solidFill>
                  <a:srgbClr val="26262E"/>
                </a:solidFill>
                <a:latin typeface="Calibri"/>
              </a:rPr>
              <a:t>Model it with CommonKADS</a:t>
            </a:r>
          </a:p>
          <a:p>
            <a:pPr algn="l">
              <a:spcAft>
                <a:spcPts val="1000"/>
              </a:spcAft>
            </a:pPr>
            <a:r>
              <a:rPr sz="1700" b="1" i="0">
                <a:solidFill>
                  <a:srgbClr val="C00000"/>
                </a:solidFill>
                <a:latin typeface="Calibri"/>
              </a:rPr>
              <a:t>3.  </a:t>
            </a:r>
            <a:r>
              <a:rPr sz="1700" b="0" i="0">
                <a:solidFill>
                  <a:srgbClr val="26262E"/>
                </a:solidFill>
                <a:latin typeface="Calibri"/>
              </a:rPr>
              <a:t>Build the system</a:t>
            </a:r>
          </a:p>
          <a:p>
            <a:pPr algn="l">
              <a:spcAft>
                <a:spcPts val="1000"/>
              </a:spcAft>
            </a:pPr>
            <a:r>
              <a:rPr sz="1700" b="1" i="0">
                <a:solidFill>
                  <a:srgbClr val="C00000"/>
                </a:solidFill>
                <a:latin typeface="Calibri"/>
              </a:rPr>
              <a:t>4.  </a:t>
            </a:r>
            <a:r>
              <a:rPr sz="1700" b="0" i="0">
                <a:solidFill>
                  <a:srgbClr val="26262E"/>
                </a:solidFill>
                <a:latin typeface="Calibri"/>
              </a:rPr>
              <a:t>Test it on OULAD data</a:t>
            </a:r>
          </a:p>
        </p:txBody>
      </p:sp>
      <p:sp>
        <p:nvSpPr>
          <p:cNvPr id="6" name="Scope"/>
          <p:cNvSpPr txBox="1"/>
          <p:nvPr/>
        </p:nvSpPr>
        <p:spPr>
          <a:xfrm>
            <a:off x="5577840" y="4480560"/>
            <a:ext cx="2926080" cy="164592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SCOPE AND DELIMITATIONS</a:t>
            </a:r>
          </a:p>
          <a:p>
            <a:pPr algn="l" marL="201168" indent="-201168">
              <a:spcAft>
                <a:spcPts val="600"/>
              </a:spcAft>
              <a:buClr>
                <a:srgbClr val="1F3864"/>
              </a:buClr>
              <a:buFont typeface="Arial"/>
              <a:buChar char="•"/>
            </a:pPr>
            <a:r>
              <a:rPr sz="1700" b="0" i="0">
                <a:solidFill>
                  <a:srgbClr val="26262E"/>
                </a:solidFill>
                <a:latin typeface="Calibri"/>
              </a:rPr>
              <a:t>No interviews or user study</a:t>
            </a:r>
          </a:p>
          <a:p>
            <a:pPr algn="l" marL="201168" indent="-201168">
              <a:spcAft>
                <a:spcPts val="600"/>
              </a:spcAft>
              <a:buClr>
                <a:srgbClr val="1F3864"/>
              </a:buClr>
              <a:buFont typeface="Arial"/>
              <a:buChar char="•"/>
            </a:pPr>
            <a:r>
              <a:rPr sz="1700" b="0" i="0">
                <a:solidFill>
                  <a:srgbClr val="26262E"/>
                </a:solidFill>
                <a:latin typeface="Calibri"/>
              </a:rPr>
              <a:t>So usability and trust are not measured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System Architecture &amp; Implementation</a:t>
            </a:r>
          </a:p>
        </p:txBody>
      </p:sp>
      <p:sp>
        <p:nvSpPr>
          <p:cNvPr id="3" name="Flow 1"/>
          <p:cNvSpPr txBox="1"/>
          <p:nvPr/>
        </p:nvSpPr>
        <p:spPr>
          <a:xfrm>
            <a:off x="2286000"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Data</a:t>
            </a:r>
          </a:p>
          <a:p>
            <a:pPr algn="l">
              <a:spcAft>
                <a:spcPts val="0"/>
              </a:spcAft>
            </a:pPr>
            <a:r>
              <a:rPr sz="1300" b="0" i="0">
                <a:solidFill>
                  <a:srgbClr val="59595F"/>
                </a:solidFill>
                <a:latin typeface="Calibri"/>
              </a:rPr>
              <a:t>feature engineering</a:t>
            </a:r>
          </a:p>
        </p:txBody>
      </p:sp>
      <p:cxnSp>
        <p:nvCxnSpPr>
          <p:cNvPr id="4" name="Flow arrow 1"/>
          <p:cNvCxnSpPr/>
          <p:nvPr/>
        </p:nvCxnSpPr>
        <p:spPr>
          <a:xfrm>
            <a:off x="3182112"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5" name="Flow 2"/>
          <p:cNvSpPr txBox="1"/>
          <p:nvPr/>
        </p:nvSpPr>
        <p:spPr>
          <a:xfrm>
            <a:off x="3529584"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Model</a:t>
            </a:r>
          </a:p>
          <a:p>
            <a:pPr algn="l">
              <a:spcAft>
                <a:spcPts val="0"/>
              </a:spcAft>
            </a:pPr>
            <a:r>
              <a:rPr sz="1300" b="0" i="0">
                <a:solidFill>
                  <a:srgbClr val="59595F"/>
                </a:solidFill>
                <a:latin typeface="Calibri"/>
              </a:rPr>
              <a:t>risk classification</a:t>
            </a:r>
          </a:p>
        </p:txBody>
      </p:sp>
      <p:cxnSp>
        <p:nvCxnSpPr>
          <p:cNvPr id="6" name="Flow arrow 2"/>
          <p:cNvCxnSpPr/>
          <p:nvPr/>
        </p:nvCxnSpPr>
        <p:spPr>
          <a:xfrm>
            <a:off x="4425696"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Flow 3"/>
          <p:cNvSpPr txBox="1"/>
          <p:nvPr/>
        </p:nvSpPr>
        <p:spPr>
          <a:xfrm>
            <a:off x="4773168"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Explain</a:t>
            </a:r>
          </a:p>
          <a:p>
            <a:pPr algn="l">
              <a:spcAft>
                <a:spcPts val="0"/>
              </a:spcAft>
            </a:pPr>
            <a:r>
              <a:rPr sz="1300" b="0" i="0">
                <a:solidFill>
                  <a:srgbClr val="59595F"/>
                </a:solidFill>
                <a:latin typeface="Calibri"/>
              </a:rPr>
              <a:t>SHAP and LIME</a:t>
            </a:r>
          </a:p>
        </p:txBody>
      </p:sp>
      <p:cxnSp>
        <p:nvCxnSpPr>
          <p:cNvPr id="8" name="Flow arrow 3"/>
          <p:cNvCxnSpPr/>
          <p:nvPr/>
        </p:nvCxnSpPr>
        <p:spPr>
          <a:xfrm>
            <a:off x="5669280"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Flow 4"/>
          <p:cNvSpPr txBox="1"/>
          <p:nvPr/>
        </p:nvSpPr>
        <p:spPr>
          <a:xfrm>
            <a:off x="6016752"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API</a:t>
            </a:r>
          </a:p>
          <a:p>
            <a:pPr algn="l">
              <a:spcAft>
                <a:spcPts val="0"/>
              </a:spcAft>
            </a:pPr>
            <a:r>
              <a:rPr sz="1300" b="0" i="0">
                <a:solidFill>
                  <a:srgbClr val="59595F"/>
                </a:solidFill>
                <a:latin typeface="Calibri"/>
              </a:rPr>
              <a:t>role-based access</a:t>
            </a:r>
          </a:p>
        </p:txBody>
      </p:sp>
      <p:cxnSp>
        <p:nvCxnSpPr>
          <p:cNvPr id="10" name="Flow arrow 4"/>
          <p:cNvCxnSpPr/>
          <p:nvPr/>
        </p:nvCxnSpPr>
        <p:spPr>
          <a:xfrm>
            <a:off x="6912864"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Flow 5"/>
          <p:cNvSpPr txBox="1"/>
          <p:nvPr/>
        </p:nvSpPr>
        <p:spPr>
          <a:xfrm>
            <a:off x="7260336"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Views</a:t>
            </a:r>
          </a:p>
          <a:p>
            <a:pPr algn="l">
              <a:spcAft>
                <a:spcPts val="0"/>
              </a:spcAft>
            </a:pPr>
            <a:r>
              <a:rPr sz="1300" b="0" i="0">
                <a:solidFill>
                  <a:srgbClr val="59595F"/>
                </a:solidFill>
                <a:latin typeface="Calibri"/>
              </a:rPr>
              <a:t>role-specific dashboards</a:t>
            </a:r>
          </a:p>
        </p:txBody>
      </p:sp>
      <p:sp>
        <p:nvSpPr>
          <p:cNvPr id="12" name="How it works"/>
          <p:cNvSpPr txBox="1"/>
          <p:nvPr/>
        </p:nvSpPr>
        <p:spPr>
          <a:xfrm>
            <a:off x="2286000" y="2651760"/>
            <a:ext cx="6217920" cy="164592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IMPLEMENTATION DETAILS</a:t>
            </a:r>
          </a:p>
          <a:p>
            <a:pPr algn="l" marL="201168" indent="-201168">
              <a:spcAft>
                <a:spcPts val="600"/>
              </a:spcAft>
              <a:buClr>
                <a:srgbClr val="1F3864"/>
              </a:buClr>
              <a:buFont typeface="Arial"/>
              <a:buChar char="•"/>
            </a:pPr>
            <a:r>
              <a:rPr sz="1600" b="1" i="0">
                <a:solidFill>
                  <a:srgbClr val="26262E"/>
                </a:solidFill>
                <a:latin typeface="Calibri"/>
              </a:rPr>
              <a:t>XGBoost: </a:t>
            </a:r>
            <a:r>
              <a:rPr sz="1600" b="0" i="0">
                <a:solidFill>
                  <a:srgbClr val="26262E"/>
                </a:solidFill>
                <a:latin typeface="Calibri"/>
              </a:rPr>
              <a:t>300 small decision trees, each correcting the last</a:t>
            </a:r>
          </a:p>
          <a:p>
            <a:pPr algn="l" marL="201168" indent="-201168">
              <a:spcAft>
                <a:spcPts val="600"/>
              </a:spcAft>
              <a:buClr>
                <a:srgbClr val="1F3864"/>
              </a:buClr>
              <a:buFont typeface="Arial"/>
              <a:buChar char="•"/>
            </a:pPr>
            <a:r>
              <a:rPr sz="1600" b="1" i="0">
                <a:solidFill>
                  <a:srgbClr val="26262E"/>
                </a:solidFill>
                <a:latin typeface="Calibri"/>
              </a:rPr>
              <a:t>Explanations: </a:t>
            </a:r>
            <a:r>
              <a:rPr sz="1600" b="0" i="0">
                <a:solidFill>
                  <a:srgbClr val="26262E"/>
                </a:solidFill>
                <a:latin typeface="Calibri"/>
              </a:rPr>
              <a:t>SHAP stored in advance; LIME runs when a student is clicked</a:t>
            </a:r>
          </a:p>
          <a:p>
            <a:pPr algn="l" marL="201168" indent="-201168">
              <a:spcAft>
                <a:spcPts val="600"/>
              </a:spcAft>
              <a:buClr>
                <a:srgbClr val="1F3864"/>
              </a:buClr>
              <a:buFont typeface="Arial"/>
              <a:buChar char="•"/>
            </a:pPr>
            <a:r>
              <a:rPr sz="1600" b="1" i="0">
                <a:solidFill>
                  <a:srgbClr val="26262E"/>
                </a:solidFill>
                <a:latin typeface="Calibri"/>
              </a:rPr>
              <a:t>Login: </a:t>
            </a:r>
            <a:r>
              <a:rPr sz="1600" b="0" i="0">
                <a:solidFill>
                  <a:srgbClr val="26262E"/>
                </a:solidFill>
                <a:latin typeface="Calibri"/>
              </a:rPr>
              <a:t>each user sees only the view for their role</a:t>
            </a:r>
          </a:p>
        </p:txBody>
      </p:sp>
      <p:sp>
        <p:nvSpPr>
          <p:cNvPr id="13" name="Where it runs"/>
          <p:cNvSpPr txBox="1"/>
          <p:nvPr/>
        </p:nvSpPr>
        <p:spPr>
          <a:xfrm>
            <a:off x="2286000" y="4434840"/>
            <a:ext cx="6217920" cy="17373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LMS INTEGRATION AND DEPLOYMENT</a:t>
            </a:r>
          </a:p>
          <a:p>
            <a:pPr algn="l" marL="201168" indent="-201168">
              <a:spcAft>
                <a:spcPts val="600"/>
              </a:spcAft>
              <a:buClr>
                <a:srgbClr val="1F3864"/>
              </a:buClr>
              <a:buFont typeface="Arial"/>
              <a:buChar char="•"/>
            </a:pPr>
            <a:r>
              <a:rPr sz="1600" b="1" i="0">
                <a:solidFill>
                  <a:srgbClr val="26262E"/>
                </a:solidFill>
                <a:latin typeface="Calibri"/>
              </a:rPr>
              <a:t>Moodle 5.2: </a:t>
            </a:r>
            <a:r>
              <a:rPr sz="1600" b="0" i="0">
                <a:solidFill>
                  <a:srgbClr val="26262E"/>
                </a:solidFill>
                <a:latin typeface="Calibri"/>
              </a:rPr>
              <a:t>plugin inside each course, using Moodle login and roles</a:t>
            </a:r>
          </a:p>
          <a:p>
            <a:pPr algn="l" marL="201168" indent="-201168">
              <a:spcAft>
                <a:spcPts val="600"/>
              </a:spcAft>
              <a:buClr>
                <a:srgbClr val="1F3864"/>
              </a:buClr>
              <a:buFont typeface="Arial"/>
              <a:buChar char="•"/>
            </a:pPr>
            <a:r>
              <a:rPr sz="1600" b="1" i="0">
                <a:solidFill>
                  <a:srgbClr val="26262E"/>
                </a:solidFill>
                <a:latin typeface="Calibri"/>
              </a:rPr>
              <a:t>Canvas: </a:t>
            </a:r>
            <a:r>
              <a:rPr sz="1600" b="0" i="0">
                <a:solidFill>
                  <a:srgbClr val="26262E"/>
                </a:solidFill>
                <a:latin typeface="Calibri"/>
              </a:rPr>
              <a:t>dashboard embedded as a link item in the course</a:t>
            </a:r>
          </a:p>
          <a:p>
            <a:pPr algn="l" marL="201168" indent="-201168">
              <a:spcAft>
                <a:spcPts val="600"/>
              </a:spcAft>
              <a:buClr>
                <a:srgbClr val="1F3864"/>
              </a:buClr>
              <a:buFont typeface="Arial"/>
              <a:buChar char="•"/>
            </a:pPr>
            <a:r>
              <a:rPr sz="1600" b="1" i="0">
                <a:solidFill>
                  <a:srgbClr val="26262E"/>
                </a:solidFill>
                <a:latin typeface="Calibri"/>
              </a:rPr>
              <a:t>Docker Compose: </a:t>
            </a:r>
            <a:r>
              <a:rPr sz="1600" b="0" i="0">
                <a:solidFill>
                  <a:srgbClr val="26262E"/>
                </a:solidFill>
                <a:latin typeface="Calibri"/>
              </a:rPr>
              <a:t>all parts run together, so the setup can be repeated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Dataset &amp; Evaluation Protocol</a:t>
            </a:r>
          </a:p>
        </p:txBody>
      </p:sp>
      <p:sp>
        <p:nvSpPr>
          <p:cNvPr id="3" name="Number 1"/>
          <p:cNvSpPr txBox="1"/>
          <p:nvPr/>
        </p:nvSpPr>
        <p:spPr>
          <a:xfrm>
            <a:off x="2286000" y="1417320"/>
            <a:ext cx="1981200" cy="1325880"/>
          </a:xfrm>
          <a:prstGeom prst="rect">
            <a:avLst/>
          </a:prstGeom>
          <a:noFill/>
        </p:spPr>
        <p:txBody>
          <a:bodyPr wrap="square" anchor="t" lIns="0" rIns="0" tIns="0" bIns="0">
            <a:spAutoFit/>
          </a:bodyPr>
          <a:lstStyle/>
          <a:p>
            <a:pPr algn="l">
              <a:spcAft>
                <a:spcPts val="0"/>
              </a:spcAft>
            </a:pPr>
            <a:r>
              <a:rPr sz="3600" b="1" i="0">
                <a:solidFill>
                  <a:srgbClr val="1F3864"/>
                </a:solidFill>
                <a:latin typeface="Calibri"/>
              </a:rPr>
              <a:t>32,593</a:t>
            </a:r>
          </a:p>
          <a:p>
            <a:pPr algn="l">
              <a:spcAft>
                <a:spcPts val="0"/>
              </a:spcAft>
            </a:pPr>
            <a:r>
              <a:rPr sz="1300" b="0" i="0">
                <a:solidFill>
                  <a:srgbClr val="59595F"/>
                </a:solidFill>
                <a:latin typeface="Calibri"/>
              </a:rPr>
              <a:t>records: one student in</a:t>
            </a:r>
          </a:p>
          <a:p>
            <a:pPr algn="l">
              <a:spcAft>
                <a:spcPts val="0"/>
              </a:spcAft>
            </a:pPr>
            <a:r>
              <a:rPr sz="1300" b="0" i="0">
                <a:solidFill>
                  <a:srgbClr val="59595F"/>
                </a:solidFill>
                <a:latin typeface="Calibri"/>
              </a:rPr>
              <a:t>one course run</a:t>
            </a:r>
          </a:p>
        </p:txBody>
      </p:sp>
      <p:sp>
        <p:nvSpPr>
          <p:cNvPr id="4" name="Number 2"/>
          <p:cNvSpPr txBox="1"/>
          <p:nvPr/>
        </p:nvSpPr>
        <p:spPr>
          <a:xfrm>
            <a:off x="4358640" y="1417320"/>
            <a:ext cx="1981200" cy="1325880"/>
          </a:xfrm>
          <a:prstGeom prst="rect">
            <a:avLst/>
          </a:prstGeom>
          <a:noFill/>
        </p:spPr>
        <p:txBody>
          <a:bodyPr wrap="square" anchor="t" lIns="0" rIns="0" tIns="0" bIns="0">
            <a:spAutoFit/>
          </a:bodyPr>
          <a:lstStyle/>
          <a:p>
            <a:pPr algn="l">
              <a:spcAft>
                <a:spcPts val="0"/>
              </a:spcAft>
            </a:pPr>
            <a:r>
              <a:rPr sz="3600" b="1" i="0">
                <a:solidFill>
                  <a:srgbClr val="1F3864"/>
                </a:solidFill>
                <a:latin typeface="Calibri"/>
              </a:rPr>
              <a:t>22</a:t>
            </a:r>
          </a:p>
          <a:p>
            <a:pPr algn="l">
              <a:spcAft>
                <a:spcPts val="0"/>
              </a:spcAft>
            </a:pPr>
            <a:r>
              <a:rPr sz="1300" b="0" i="0">
                <a:solidFill>
                  <a:srgbClr val="59595F"/>
                </a:solidFill>
                <a:latin typeface="Calibri"/>
              </a:rPr>
              <a:t>course runs</a:t>
            </a:r>
          </a:p>
          <a:p>
            <a:pPr algn="l">
              <a:spcAft>
                <a:spcPts val="0"/>
              </a:spcAft>
            </a:pPr>
            <a:r>
              <a:rPr sz="1300" b="0" i="0">
                <a:solidFill>
                  <a:srgbClr val="59595F"/>
                </a:solidFill>
                <a:latin typeface="Calibri"/>
              </a:rPr>
              <a:t>(7 modules, 4 semesters)</a:t>
            </a:r>
          </a:p>
        </p:txBody>
      </p:sp>
      <p:sp>
        <p:nvSpPr>
          <p:cNvPr id="5" name="Number 3"/>
          <p:cNvSpPr txBox="1"/>
          <p:nvPr/>
        </p:nvSpPr>
        <p:spPr>
          <a:xfrm>
            <a:off x="6431280" y="1417320"/>
            <a:ext cx="1981200" cy="1325880"/>
          </a:xfrm>
          <a:prstGeom prst="rect">
            <a:avLst/>
          </a:prstGeom>
          <a:noFill/>
        </p:spPr>
        <p:txBody>
          <a:bodyPr wrap="square" anchor="t" lIns="0" rIns="0" tIns="0" bIns="0">
            <a:spAutoFit/>
          </a:bodyPr>
          <a:lstStyle/>
          <a:p>
            <a:pPr algn="l">
              <a:spcAft>
                <a:spcPts val="0"/>
              </a:spcAft>
            </a:pPr>
            <a:r>
              <a:rPr sz="3600" b="1" i="0">
                <a:solidFill>
                  <a:srgbClr val="1F3864"/>
                </a:solidFill>
                <a:latin typeface="Calibri"/>
              </a:rPr>
              <a:t>52.8%</a:t>
            </a:r>
          </a:p>
          <a:p>
            <a:pPr algn="l">
              <a:spcAft>
                <a:spcPts val="0"/>
              </a:spcAft>
            </a:pPr>
            <a:r>
              <a:rPr sz="1300" b="0" i="0">
                <a:solidFill>
                  <a:srgbClr val="59595F"/>
                </a:solidFill>
                <a:latin typeface="Calibri"/>
              </a:rPr>
              <a:t>withdrew or failed</a:t>
            </a:r>
          </a:p>
          <a:p>
            <a:pPr algn="l">
              <a:spcAft>
                <a:spcPts val="0"/>
              </a:spcAft>
            </a:pPr>
            <a:r>
              <a:rPr sz="1300" b="0" i="0">
                <a:solidFill>
                  <a:srgbClr val="59595F"/>
                </a:solidFill>
                <a:latin typeface="Calibri"/>
              </a:rPr>
              <a:t>(the at-risk group)</a:t>
            </a:r>
          </a:p>
        </p:txBody>
      </p:sp>
      <p:sp>
        <p:nvSpPr>
          <p:cNvPr id="6" name="Dataset"/>
          <p:cNvSpPr txBox="1"/>
          <p:nvPr/>
        </p:nvSpPr>
        <p:spPr>
          <a:xfrm>
            <a:off x="2286000" y="2880360"/>
            <a:ext cx="2926080" cy="16002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DATASET</a:t>
            </a:r>
          </a:p>
          <a:p>
            <a:pPr algn="l" marL="201168" indent="-201168">
              <a:spcAft>
                <a:spcPts val="600"/>
              </a:spcAft>
              <a:buClr>
                <a:srgbClr val="1F3864"/>
              </a:buClr>
              <a:buFont typeface="Arial"/>
              <a:buChar char="•"/>
            </a:pPr>
            <a:r>
              <a:rPr sz="1600" b="0" i="0">
                <a:solidFill>
                  <a:srgbClr val="26262E"/>
                </a:solidFill>
                <a:latin typeface="Calibri"/>
              </a:rPr>
              <a:t>OULAD: public, anonymised benchmark (Kuzilek et al., 2017)</a:t>
            </a:r>
          </a:p>
          <a:p>
            <a:pPr algn="l" marL="201168" indent="-201168">
              <a:spcAft>
                <a:spcPts val="600"/>
              </a:spcAft>
              <a:buClr>
                <a:srgbClr val="1F3864"/>
              </a:buClr>
              <a:buFont typeface="Arial"/>
              <a:buChar char="•"/>
            </a:pPr>
            <a:r>
              <a:rPr sz="1600" b="0" i="0">
                <a:solidFill>
                  <a:srgbClr val="26262E"/>
                </a:solidFill>
                <a:latin typeface="Calibri"/>
              </a:rPr>
              <a:t>Clicks, assessments and demographics: 59 features</a:t>
            </a:r>
          </a:p>
        </p:txBody>
      </p:sp>
      <p:sp>
        <p:nvSpPr>
          <p:cNvPr id="7" name="Protocol"/>
          <p:cNvSpPr txBox="1"/>
          <p:nvPr/>
        </p:nvSpPr>
        <p:spPr>
          <a:xfrm>
            <a:off x="2286000" y="4526280"/>
            <a:ext cx="2926080" cy="164592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VALIDATION PROTOCOL</a:t>
            </a:r>
          </a:p>
          <a:p>
            <a:pPr algn="l" marL="201168" indent="-201168">
              <a:spcAft>
                <a:spcPts val="600"/>
              </a:spcAft>
              <a:buClr>
                <a:srgbClr val="1F3864"/>
              </a:buClr>
              <a:buFont typeface="Arial"/>
              <a:buChar char="•"/>
            </a:pPr>
            <a:r>
              <a:rPr sz="1600" b="0" i="0">
                <a:solidFill>
                  <a:srgbClr val="26262E"/>
                </a:solidFill>
                <a:latin typeface="Calibri"/>
              </a:rPr>
              <a:t>Trained on 3 semesters, tested on the 4th, then rotated</a:t>
            </a:r>
          </a:p>
          <a:p>
            <a:pPr algn="l" marL="201168" indent="-201168">
              <a:spcAft>
                <a:spcPts val="600"/>
              </a:spcAft>
              <a:buClr>
                <a:srgbClr val="1F3864"/>
              </a:buClr>
              <a:buFont typeface="Arial"/>
              <a:buChar char="•"/>
            </a:pPr>
            <a:r>
              <a:rPr sz="1600" b="0" i="0">
                <a:solidFill>
                  <a:srgbClr val="26262E"/>
                </a:solidFill>
                <a:latin typeface="Calibri"/>
              </a:rPr>
              <a:t>Never tested on a semester it had seen</a:t>
            </a:r>
          </a:p>
        </p:txBody>
      </p:sp>
      <p:sp>
        <p:nvSpPr>
          <p:cNvPr id="8" name="Recall"/>
          <p:cNvSpPr txBox="1"/>
          <p:nvPr/>
        </p:nvSpPr>
        <p:spPr>
          <a:xfrm>
            <a:off x="5577840" y="2880360"/>
            <a:ext cx="2926080" cy="16002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PRIMARY METRIC: RECALL</a:t>
            </a:r>
          </a:p>
          <a:p>
            <a:pPr algn="l" marL="201168" indent="-201168">
              <a:spcAft>
                <a:spcPts val="600"/>
              </a:spcAft>
              <a:buClr>
                <a:srgbClr val="1F3864"/>
              </a:buClr>
              <a:buFont typeface="Arial"/>
              <a:buChar char="•"/>
            </a:pPr>
            <a:r>
              <a:rPr sz="1600" b="0" i="0">
                <a:solidFill>
                  <a:srgbClr val="26262E"/>
                </a:solidFill>
                <a:latin typeface="Calibri"/>
              </a:rPr>
              <a:t>Missing a struggling student is worse</a:t>
            </a:r>
          </a:p>
          <a:p>
            <a:pPr algn="l" marL="201168" indent="-201168">
              <a:spcAft>
                <a:spcPts val="600"/>
              </a:spcAft>
              <a:buClr>
                <a:srgbClr val="1F3864"/>
              </a:buClr>
              <a:buFont typeface="Arial"/>
              <a:buChar char="•"/>
            </a:pPr>
            <a:r>
              <a:rPr sz="1600" b="0" i="0">
                <a:solidFill>
                  <a:srgbClr val="26262E"/>
                </a:solidFill>
                <a:latin typeface="Calibri"/>
              </a:rPr>
              <a:t>A false alarm only costs a quick staff check</a:t>
            </a:r>
          </a:p>
        </p:txBody>
      </p:sp>
      <p:sp>
        <p:nvSpPr>
          <p:cNvPr id="9" name="Limit"/>
          <p:cNvSpPr txBox="1"/>
          <p:nvPr/>
        </p:nvSpPr>
        <p:spPr>
          <a:xfrm>
            <a:off x="5577840" y="4526280"/>
            <a:ext cx="2926080" cy="164592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METHODOLOGICAL LIMITATION</a:t>
            </a:r>
          </a:p>
          <a:p>
            <a:pPr algn="l" marL="201168" indent="-201168">
              <a:spcAft>
                <a:spcPts val="600"/>
              </a:spcAft>
              <a:buClr>
                <a:srgbClr val="1F3864"/>
              </a:buClr>
              <a:buFont typeface="Arial"/>
              <a:buChar char="•"/>
            </a:pPr>
            <a:r>
              <a:rPr sz="1600" b="0" i="0">
                <a:solidFill>
                  <a:srgbClr val="26262E"/>
                </a:solidFill>
                <a:latin typeface="Calibri"/>
              </a:rPr>
              <a:t>Features cover the whole semester</a:t>
            </a:r>
          </a:p>
          <a:p>
            <a:pPr algn="l" marL="201168" indent="-201168">
              <a:spcAft>
                <a:spcPts val="600"/>
              </a:spcAft>
              <a:buClr>
                <a:srgbClr val="1F3864"/>
              </a:buClr>
              <a:buFont typeface="Arial"/>
              <a:buChar char="•"/>
            </a:pPr>
            <a:r>
              <a:rPr sz="1600" b="0" i="0">
                <a:solidFill>
                  <a:srgbClr val="26262E"/>
                </a:solidFill>
                <a:latin typeface="Calibri"/>
              </a:rPr>
              <a:t>So this is after-the-fact, not yet early warning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Predictive Performance</a:t>
            </a:r>
          </a:p>
        </p:txBody>
      </p:sp>
      <p:sp>
        <p:nvSpPr>
          <p:cNvPr id="3" name="Number 1"/>
          <p:cNvSpPr txBox="1"/>
          <p:nvPr/>
        </p:nvSpPr>
        <p:spPr>
          <a:xfrm>
            <a:off x="2286000" y="1417320"/>
            <a:ext cx="1981200" cy="1325880"/>
          </a:xfrm>
          <a:prstGeom prst="rect">
            <a:avLst/>
          </a:prstGeom>
          <a:noFill/>
        </p:spPr>
        <p:txBody>
          <a:bodyPr wrap="square" anchor="t" lIns="0" rIns="0" tIns="0" bIns="0">
            <a:spAutoFit/>
          </a:bodyPr>
          <a:lstStyle/>
          <a:p>
            <a:pPr algn="l">
              <a:spcAft>
                <a:spcPts val="0"/>
              </a:spcAft>
            </a:pPr>
            <a:r>
              <a:rPr sz="4000" b="1" i="0">
                <a:solidFill>
                  <a:srgbClr val="1F3864"/>
                </a:solidFill>
                <a:latin typeface="Calibri"/>
              </a:rPr>
              <a:t>0.909</a:t>
            </a:r>
          </a:p>
          <a:p>
            <a:pPr algn="l">
              <a:spcAft>
                <a:spcPts val="0"/>
              </a:spcAft>
            </a:pPr>
            <a:r>
              <a:rPr sz="1300" b="0" i="0">
                <a:solidFill>
                  <a:srgbClr val="59595F"/>
                </a:solidFill>
                <a:latin typeface="Calibri"/>
              </a:rPr>
              <a:t>Recall: finds about</a:t>
            </a:r>
          </a:p>
          <a:p>
            <a:pPr algn="l">
              <a:spcAft>
                <a:spcPts val="0"/>
              </a:spcAft>
            </a:pPr>
            <a:r>
              <a:rPr sz="1300" b="0" i="0">
                <a:solidFill>
                  <a:srgbClr val="59595F"/>
                </a:solidFill>
                <a:latin typeface="Calibri"/>
              </a:rPr>
              <a:t>9 in 10 at-risk students</a:t>
            </a:r>
          </a:p>
        </p:txBody>
      </p:sp>
      <p:sp>
        <p:nvSpPr>
          <p:cNvPr id="4" name="Number 2"/>
          <p:cNvSpPr txBox="1"/>
          <p:nvPr/>
        </p:nvSpPr>
        <p:spPr>
          <a:xfrm>
            <a:off x="4358640" y="1417320"/>
            <a:ext cx="1981200" cy="1325880"/>
          </a:xfrm>
          <a:prstGeom prst="rect">
            <a:avLst/>
          </a:prstGeom>
          <a:noFill/>
        </p:spPr>
        <p:txBody>
          <a:bodyPr wrap="square" anchor="t" lIns="0" rIns="0" tIns="0" bIns="0">
            <a:spAutoFit/>
          </a:bodyPr>
          <a:lstStyle/>
          <a:p>
            <a:pPr algn="l">
              <a:spcAft>
                <a:spcPts val="0"/>
              </a:spcAft>
            </a:pPr>
            <a:r>
              <a:rPr sz="4000" b="1" i="0">
                <a:solidFill>
                  <a:srgbClr val="1F3864"/>
                </a:solidFill>
                <a:latin typeface="Calibri"/>
              </a:rPr>
              <a:t>0.866</a:t>
            </a:r>
          </a:p>
          <a:p>
            <a:pPr algn="l">
              <a:spcAft>
                <a:spcPts val="0"/>
              </a:spcAft>
            </a:pPr>
            <a:r>
              <a:rPr sz="1300" b="0" i="0">
                <a:solidFill>
                  <a:srgbClr val="59595F"/>
                </a:solidFill>
                <a:latin typeface="Calibri"/>
              </a:rPr>
              <a:t>Precision: a flag is</a:t>
            </a:r>
          </a:p>
          <a:p>
            <a:pPr algn="l">
              <a:spcAft>
                <a:spcPts val="0"/>
              </a:spcAft>
            </a:pPr>
            <a:r>
              <a:rPr sz="1300" b="0" i="0">
                <a:solidFill>
                  <a:srgbClr val="59595F"/>
                </a:solidFill>
                <a:latin typeface="Calibri"/>
              </a:rPr>
              <a:t>right about 87% of the time</a:t>
            </a:r>
          </a:p>
        </p:txBody>
      </p:sp>
      <p:sp>
        <p:nvSpPr>
          <p:cNvPr id="5" name="Number 3"/>
          <p:cNvSpPr txBox="1"/>
          <p:nvPr/>
        </p:nvSpPr>
        <p:spPr>
          <a:xfrm>
            <a:off x="6431280" y="1417320"/>
            <a:ext cx="1981200" cy="1325880"/>
          </a:xfrm>
          <a:prstGeom prst="rect">
            <a:avLst/>
          </a:prstGeom>
          <a:noFill/>
        </p:spPr>
        <p:txBody>
          <a:bodyPr wrap="square" anchor="t" lIns="0" rIns="0" tIns="0" bIns="0">
            <a:spAutoFit/>
          </a:bodyPr>
          <a:lstStyle/>
          <a:p>
            <a:pPr algn="l">
              <a:spcAft>
                <a:spcPts val="0"/>
              </a:spcAft>
            </a:pPr>
            <a:r>
              <a:rPr sz="4000" b="1" i="0">
                <a:solidFill>
                  <a:srgbClr val="1F3864"/>
                </a:solidFill>
                <a:latin typeface="Calibri"/>
              </a:rPr>
              <a:t>0.962</a:t>
            </a:r>
          </a:p>
          <a:p>
            <a:pPr algn="l">
              <a:spcAft>
                <a:spcPts val="0"/>
              </a:spcAft>
            </a:pPr>
            <a:r>
              <a:rPr sz="1300" b="0" i="0">
                <a:solidFill>
                  <a:srgbClr val="59595F"/>
                </a:solidFill>
                <a:latin typeface="Calibri"/>
              </a:rPr>
              <a:t>ROC-AUC: ranks the at-risk</a:t>
            </a:r>
          </a:p>
          <a:p>
            <a:pPr algn="l">
              <a:spcAft>
                <a:spcPts val="0"/>
              </a:spcAft>
            </a:pPr>
            <a:r>
              <a:rPr sz="1300" b="0" i="0">
                <a:solidFill>
                  <a:srgbClr val="59595F"/>
                </a:solidFill>
                <a:latin typeface="Calibri"/>
              </a:rPr>
              <a:t>student first 96% of the time</a:t>
            </a:r>
          </a:p>
        </p:txBody>
      </p:sp>
      <p:sp>
        <p:nvSpPr>
          <p:cNvPr id="6" name="Outcomes"/>
          <p:cNvSpPr txBox="1"/>
          <p:nvPr/>
        </p:nvSpPr>
        <p:spPr>
          <a:xfrm>
            <a:off x="2286000" y="2926080"/>
            <a:ext cx="2926080" cy="3200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CLASSIFICATION OUTCOMES (N = 32,593)</a:t>
            </a:r>
          </a:p>
          <a:p>
            <a:pPr algn="l" marL="201168" indent="-201168">
              <a:spcAft>
                <a:spcPts val="600"/>
              </a:spcAft>
              <a:buClr>
                <a:srgbClr val="1F3864"/>
              </a:buClr>
              <a:buFont typeface="Arial"/>
              <a:buChar char="•"/>
            </a:pPr>
            <a:r>
              <a:rPr sz="1600" b="1" i="0">
                <a:solidFill>
                  <a:srgbClr val="26262E"/>
                </a:solidFill>
                <a:latin typeface="Calibri"/>
              </a:rPr>
              <a:t>15,634 </a:t>
            </a:r>
            <a:r>
              <a:rPr sz="1600" b="0" i="0">
                <a:solidFill>
                  <a:srgbClr val="26262E"/>
                </a:solidFill>
                <a:latin typeface="Calibri"/>
              </a:rPr>
              <a:t>at-risk students caught</a:t>
            </a:r>
          </a:p>
          <a:p>
            <a:pPr algn="l" marL="201168" indent="-201168">
              <a:spcAft>
                <a:spcPts val="600"/>
              </a:spcAft>
              <a:buClr>
                <a:srgbClr val="1F3864"/>
              </a:buClr>
              <a:buFont typeface="Arial"/>
              <a:buChar char="•"/>
            </a:pPr>
            <a:r>
              <a:rPr sz="1600" b="1" i="0">
                <a:solidFill>
                  <a:srgbClr val="26262E"/>
                </a:solidFill>
                <a:latin typeface="Calibri"/>
              </a:rPr>
              <a:t>1,574 </a:t>
            </a:r>
            <a:r>
              <a:rPr sz="1600" b="0" i="0">
                <a:solidFill>
                  <a:srgbClr val="26262E"/>
                </a:solidFill>
                <a:latin typeface="Calibri"/>
              </a:rPr>
              <a:t>missed</a:t>
            </a:r>
          </a:p>
          <a:p>
            <a:pPr algn="l" marL="201168" indent="-201168">
              <a:spcAft>
                <a:spcPts val="600"/>
              </a:spcAft>
              <a:buClr>
                <a:srgbClr val="1F3864"/>
              </a:buClr>
              <a:buFont typeface="Arial"/>
              <a:buChar char="•"/>
            </a:pPr>
            <a:r>
              <a:rPr sz="1600" b="1" i="0">
                <a:solidFill>
                  <a:srgbClr val="26262E"/>
                </a:solidFill>
                <a:latin typeface="Calibri"/>
              </a:rPr>
              <a:t>2,422 </a:t>
            </a:r>
            <a:r>
              <a:rPr sz="1600" b="0" i="0">
                <a:solidFill>
                  <a:srgbClr val="26262E"/>
                </a:solidFill>
                <a:latin typeface="Calibri"/>
              </a:rPr>
              <a:t>false alarms (1 in 6 safe students)</a:t>
            </a:r>
          </a:p>
          <a:p>
            <a:pPr algn="l" marL="201168" indent="-201168">
              <a:spcAft>
                <a:spcPts val="600"/>
              </a:spcAft>
              <a:buClr>
                <a:srgbClr val="1F3864"/>
              </a:buClr>
              <a:buFont typeface="Arial"/>
              <a:buChar char="•"/>
            </a:pPr>
            <a:r>
              <a:rPr sz="1600" b="0" i="0">
                <a:solidFill>
                  <a:srgbClr val="26262E"/>
                </a:solidFill>
                <a:latin typeface="Calibri"/>
              </a:rPr>
              <a:t>Overall: </a:t>
            </a:r>
            <a:r>
              <a:rPr sz="1600" b="1" i="0">
                <a:solidFill>
                  <a:srgbClr val="26262E"/>
                </a:solidFill>
                <a:latin typeface="Calibri"/>
              </a:rPr>
              <a:t>F1 0.887</a:t>
            </a:r>
            <a:r>
              <a:rPr sz="1600" b="0" i="0">
                <a:solidFill>
                  <a:srgbClr val="26262E"/>
                </a:solidFill>
                <a:latin typeface="Calibri"/>
              </a:rPr>
              <a:t>, accuracy 0.877</a:t>
            </a:r>
          </a:p>
        </p:txBody>
      </p:sp>
      <p:sp>
        <p:nvSpPr>
          <p:cNvPr id="7" name="Comparison"/>
          <p:cNvSpPr txBox="1"/>
          <p:nvPr/>
        </p:nvSpPr>
        <p:spPr>
          <a:xfrm>
            <a:off x="5577840" y="2926080"/>
            <a:ext cx="2926080" cy="2011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MODEL SELECTION RATIONALE</a:t>
            </a:r>
          </a:p>
          <a:p>
            <a:pPr algn="l" marL="201168" indent="-201168">
              <a:spcAft>
                <a:spcPts val="600"/>
              </a:spcAft>
              <a:buClr>
                <a:srgbClr val="1F3864"/>
              </a:buClr>
              <a:buFont typeface="Arial"/>
              <a:buChar char="•"/>
            </a:pPr>
            <a:r>
              <a:rPr sz="1600" b="0" i="0">
                <a:solidFill>
                  <a:srgbClr val="26262E"/>
                </a:solidFill>
                <a:latin typeface="Calibri"/>
              </a:rPr>
              <a:t>Random Forest: best F1 (0.898)</a:t>
            </a:r>
          </a:p>
          <a:p>
            <a:pPr algn="l" marL="201168" indent="-201168">
              <a:spcAft>
                <a:spcPts val="600"/>
              </a:spcAft>
              <a:buClr>
                <a:srgbClr val="1F3864"/>
              </a:buClr>
              <a:buFont typeface="Arial"/>
              <a:buChar char="•"/>
            </a:pPr>
            <a:r>
              <a:rPr sz="1600" b="0" i="0">
                <a:solidFill>
                  <a:srgbClr val="26262E"/>
                </a:solidFill>
                <a:latin typeface="Calibri"/>
              </a:rPr>
              <a:t>XGBoost: best recall (0.909), my pre-set rule, so kept</a:t>
            </a:r>
          </a:p>
        </p:txBody>
      </p:sp>
      <p:sp>
        <p:nvSpPr>
          <p:cNvPr id="8" name="Variability"/>
          <p:cNvSpPr txBox="1"/>
          <p:nvPr/>
        </p:nvSpPr>
        <p:spPr>
          <a:xfrm>
            <a:off x="5577840" y="4846320"/>
            <a:ext cx="2926080" cy="12801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VARIABILITY BY PRESENTATION</a:t>
            </a:r>
          </a:p>
          <a:p>
            <a:pPr algn="l" marL="201168" indent="-201168">
              <a:spcAft>
                <a:spcPts val="600"/>
              </a:spcAft>
              <a:buClr>
                <a:srgbClr val="1F3864"/>
              </a:buClr>
              <a:buFont typeface="Arial"/>
              <a:buChar char="•"/>
            </a:pPr>
            <a:r>
              <a:rPr sz="1600" b="0" i="0">
                <a:solidFill>
                  <a:srgbClr val="26262E"/>
                </a:solidFill>
                <a:latin typeface="Calibri"/>
              </a:rPr>
              <a:t>Accuracy 0.846 to 0.916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Explainability (SHAP &amp; LIME)</a:t>
            </a:r>
          </a:p>
        </p:txBody>
      </p:sp>
      <p:sp>
        <p:nvSpPr>
          <p:cNvPr id="3" name="Global"/>
          <p:cNvSpPr txBox="1"/>
          <p:nvPr/>
        </p:nvSpPr>
        <p:spPr>
          <a:xfrm>
            <a:off x="2286000" y="1463040"/>
            <a:ext cx="2926080" cy="2011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GLOBAL FEATURE IMPORTANCE (SHAP)</a:t>
            </a:r>
          </a:p>
          <a:p>
            <a:pPr algn="l" marL="201168" indent="-201168">
              <a:spcAft>
                <a:spcPts val="600"/>
              </a:spcAft>
              <a:buClr>
                <a:srgbClr val="1F3864"/>
              </a:buClr>
              <a:buFont typeface="Arial"/>
              <a:buChar char="•"/>
            </a:pPr>
            <a:r>
              <a:rPr sz="1600" b="1" i="0">
                <a:solidFill>
                  <a:srgbClr val="26262E"/>
                </a:solidFill>
                <a:latin typeface="Calibri"/>
              </a:rPr>
              <a:t>Submitting assessments </a:t>
            </a:r>
            <a:r>
              <a:rPr sz="1600" b="0" i="0">
                <a:solidFill>
                  <a:srgbClr val="26262E"/>
                </a:solidFill>
                <a:latin typeface="Calibri"/>
              </a:rPr>
              <a:t>is the strongest signal, over 4× the next</a:t>
            </a:r>
          </a:p>
          <a:p>
            <a:pPr algn="l" marL="201168" indent="-201168">
              <a:spcAft>
                <a:spcPts val="600"/>
              </a:spcAft>
              <a:buClr>
                <a:srgbClr val="1F3864"/>
              </a:buClr>
              <a:buFont typeface="Arial"/>
              <a:buChar char="•"/>
            </a:pPr>
            <a:r>
              <a:rPr sz="1600" b="0" i="0">
                <a:solidFill>
                  <a:srgbClr val="26262E"/>
                </a:solidFill>
                <a:latin typeface="Calibri"/>
              </a:rPr>
              <a:t>Then active days, module FFF, mean score</a:t>
            </a:r>
          </a:p>
        </p:txBody>
      </p:sp>
      <p:sp>
        <p:nvSpPr>
          <p:cNvPr id="4" name="Agreement"/>
          <p:cNvSpPr txBox="1"/>
          <p:nvPr/>
        </p:nvSpPr>
        <p:spPr>
          <a:xfrm>
            <a:off x="2286000" y="3566160"/>
            <a:ext cx="2926080" cy="26517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CROSS-METHOD AGREEMENT</a:t>
            </a:r>
          </a:p>
          <a:p>
            <a:pPr algn="l" marL="201168" indent="-201168">
              <a:spcAft>
                <a:spcPts val="600"/>
              </a:spcAft>
              <a:buClr>
                <a:srgbClr val="1F3864"/>
              </a:buClr>
              <a:buFont typeface="Arial"/>
              <a:buChar char="•"/>
            </a:pPr>
            <a:r>
              <a:rPr sz="1600" b="1" i="0">
                <a:solidFill>
                  <a:srgbClr val="26262E"/>
                </a:solidFill>
                <a:latin typeface="Calibri"/>
              </a:rPr>
              <a:t>SHAP: </a:t>
            </a:r>
            <a:r>
              <a:rPr sz="1600" b="0" i="0">
                <a:solidFill>
                  <a:srgbClr val="26262E"/>
                </a:solidFill>
                <a:latin typeface="Calibri"/>
              </a:rPr>
              <a:t>how much each factor pushed one prediction</a:t>
            </a:r>
          </a:p>
          <a:p>
            <a:pPr algn="l" marL="201168" indent="-201168">
              <a:spcAft>
                <a:spcPts val="600"/>
              </a:spcAft>
              <a:buClr>
                <a:srgbClr val="1F3864"/>
              </a:buClr>
              <a:buFont typeface="Arial"/>
              <a:buChar char="•"/>
            </a:pPr>
            <a:r>
              <a:rPr sz="1600" b="1" i="0">
                <a:solidFill>
                  <a:srgbClr val="26262E"/>
                </a:solidFill>
                <a:latin typeface="Calibri"/>
              </a:rPr>
              <a:t>LIME: </a:t>
            </a:r>
            <a:r>
              <a:rPr sz="1600" b="0" i="0">
                <a:solidFill>
                  <a:srgbClr val="26262E"/>
                </a:solidFill>
                <a:latin typeface="Calibri"/>
              </a:rPr>
              <a:t>a second, independent explanation</a:t>
            </a:r>
          </a:p>
          <a:p>
            <a:pPr algn="l" marL="201168" indent="-201168">
              <a:spcAft>
                <a:spcPts val="600"/>
              </a:spcAft>
              <a:buClr>
                <a:srgbClr val="1F3864"/>
              </a:buClr>
              <a:buFont typeface="Arial"/>
              <a:buChar char="•"/>
            </a:pPr>
            <a:r>
              <a:rPr sz="1600" b="0" i="0">
                <a:solidFill>
                  <a:srgbClr val="26262E"/>
                </a:solidFill>
                <a:latin typeface="Calibri"/>
              </a:rPr>
              <a:t>Per student, about </a:t>
            </a:r>
            <a:r>
              <a:rPr sz="1600" b="1" i="0">
                <a:solidFill>
                  <a:srgbClr val="26262E"/>
                </a:solidFill>
                <a:latin typeface="Calibri"/>
              </a:rPr>
              <a:t>3 of the top 5</a:t>
            </a:r>
            <a:r>
              <a:rPr sz="1600" b="0" i="0">
                <a:solidFill>
                  <a:srgbClr val="26262E"/>
                </a:solidFill>
                <a:latin typeface="Calibri"/>
              </a:rPr>
              <a:t> factors match (0.635)</a:t>
            </a:r>
          </a:p>
        </p:txBody>
      </p:sp>
      <p:sp>
        <p:nvSpPr>
          <p:cNvPr id="5" name="Example"/>
          <p:cNvSpPr txBox="1"/>
          <p:nvPr/>
        </p:nvSpPr>
        <p:spPr>
          <a:xfrm>
            <a:off x="5577840" y="1463040"/>
            <a:ext cx="2926080" cy="2011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LOCAL EXPLANATION: STUDENT S678287</a:t>
            </a:r>
          </a:p>
          <a:p>
            <a:pPr algn="l" marL="201168" indent="-201168">
              <a:spcAft>
                <a:spcPts val="600"/>
              </a:spcAft>
              <a:buClr>
                <a:srgbClr val="1F3864"/>
              </a:buClr>
              <a:buFont typeface="Arial"/>
              <a:buChar char="•"/>
            </a:pPr>
            <a:r>
              <a:rPr sz="1600" b="0" i="0">
                <a:solidFill>
                  <a:srgbClr val="26262E"/>
                </a:solidFill>
                <a:latin typeface="Calibri"/>
              </a:rPr>
              <a:t>Predicted &gt;99.9% at risk</a:t>
            </a:r>
          </a:p>
          <a:p>
            <a:pPr algn="l" marL="201168" indent="-201168">
              <a:spcAft>
                <a:spcPts val="600"/>
              </a:spcAft>
              <a:buClr>
                <a:srgbClr val="1F3864"/>
              </a:buClr>
              <a:buFont typeface="Arial"/>
              <a:buChar char="•"/>
            </a:pPr>
            <a:r>
              <a:rPr sz="1600" b="0" i="0">
                <a:solidFill>
                  <a:srgbClr val="26262E"/>
                </a:solidFill>
                <a:latin typeface="Calibri"/>
              </a:rPr>
              <a:t>Submitted almost no assessments: the biggest push (SHAP +5.30)</a:t>
            </a:r>
          </a:p>
          <a:p>
            <a:pPr algn="l" marL="201168" indent="-201168">
              <a:spcAft>
                <a:spcPts val="600"/>
              </a:spcAft>
              <a:buClr>
                <a:srgbClr val="1F3864"/>
              </a:buClr>
              <a:buFont typeface="Arial"/>
              <a:buChar char="•"/>
            </a:pPr>
            <a:r>
              <a:rPr sz="1600" b="0" i="0">
                <a:solidFill>
                  <a:srgbClr val="26262E"/>
                </a:solidFill>
                <a:latin typeface="Calibri"/>
              </a:rPr>
              <a:t>LIME agrees on 4 of the top 5</a:t>
            </a:r>
          </a:p>
        </p:txBody>
      </p:sp>
      <p:sp>
        <p:nvSpPr>
          <p:cNvPr id="6" name="Caution"/>
          <p:cNvSpPr txBox="1"/>
          <p:nvPr/>
        </p:nvSpPr>
        <p:spPr>
          <a:xfrm>
            <a:off x="5577840" y="3566160"/>
            <a:ext cx="2926080" cy="26517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INTERPRETIVE CAVEATS</a:t>
            </a:r>
          </a:p>
          <a:p>
            <a:pPr algn="l" marL="201168" indent="-201168">
              <a:spcAft>
                <a:spcPts val="600"/>
              </a:spcAft>
              <a:buClr>
                <a:srgbClr val="1F3864"/>
              </a:buClr>
              <a:buFont typeface="Arial"/>
              <a:buChar char="•"/>
            </a:pPr>
            <a:r>
              <a:rPr sz="1600" b="0" i="0">
                <a:solidFill>
                  <a:srgbClr val="26262E"/>
                </a:solidFill>
                <a:latin typeface="Calibri"/>
              </a:rPr>
              <a:t>Shows how the model reasons, not why a student struggles</a:t>
            </a:r>
          </a:p>
          <a:p>
            <a:pPr algn="l" marL="201168" indent="-201168">
              <a:spcAft>
                <a:spcPts val="600"/>
              </a:spcAft>
              <a:buClr>
                <a:srgbClr val="1F3864"/>
              </a:buClr>
              <a:buFont typeface="Arial"/>
              <a:buChar char="•"/>
            </a:pPr>
            <a:r>
              <a:rPr sz="1600" b="0" i="0">
                <a:solidFill>
                  <a:srgbClr val="26262E"/>
                </a:solidFill>
                <a:latin typeface="Calibri"/>
              </a:rPr>
              <a:t>One odd click result: two click measures move together (ρ = 0.98)</a:t>
            </a:r>
          </a:p>
          <a:p>
            <a:pPr algn="l" marL="201168" indent="-201168">
              <a:spcAft>
                <a:spcPts val="600"/>
              </a:spcAft>
              <a:buClr>
                <a:srgbClr val="1F3864"/>
              </a:buClr>
              <a:buFont typeface="Arial"/>
              <a:buChar char="•"/>
            </a:pPr>
            <a:r>
              <a:rPr sz="1600" b="0" i="0">
                <a:solidFill>
                  <a:srgbClr val="26262E"/>
                </a:solidFill>
                <a:latin typeface="Calibri"/>
              </a:rPr>
              <a:t>The staff member still decides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Prototype: Role-Aware Dashboard in Moodle</a:t>
            </a:r>
          </a:p>
        </p:txBody>
      </p:sp>
      <p:pic>
        <p:nvPicPr>
          <p:cNvPr id="3" name="Moodle instructor view" descr="wide_instr.png"/>
          <p:cNvPicPr>
            <a:picLocks noChangeAspect="1"/>
          </p:cNvPicPr>
          <p:nvPr/>
        </p:nvPicPr>
        <p:blipFill>
          <a:blip r:embed="rId3"/>
          <a:stretch>
            <a:fillRect/>
          </a:stretch>
        </p:blipFill>
        <p:spPr>
          <a:xfrm>
            <a:off x="2286000" y="1417320"/>
            <a:ext cx="6217920" cy="3730752"/>
          </a:xfrm>
          <a:prstGeom prst="rect">
            <a:avLst/>
          </a:prstGeom>
          <a:ln w="9525">
            <a:solidFill>
              <a:srgbClr val="C9CAD3"/>
            </a:solidFill>
          </a:ln>
        </p:spPr>
      </p:pic>
      <p:sp>
        <p:nvSpPr>
          <p:cNvPr id="4" name="Roles"/>
          <p:cNvSpPr txBox="1"/>
          <p:nvPr/>
        </p:nvSpPr>
        <p:spPr>
          <a:xfrm>
            <a:off x="2286000" y="5285232"/>
            <a:ext cx="6217920" cy="1188720"/>
          </a:xfrm>
          <a:prstGeom prst="rect">
            <a:avLst/>
          </a:prstGeom>
          <a:noFill/>
        </p:spPr>
        <p:txBody>
          <a:bodyPr wrap="square" anchor="t" lIns="0" rIns="0" tIns="0" bIns="0">
            <a:spAutoFit/>
          </a:bodyPr>
          <a:lstStyle/>
          <a:p>
            <a:pPr algn="l">
              <a:spcAft>
                <a:spcPts val="300"/>
              </a:spcAft>
            </a:pPr>
            <a:r>
              <a:rPr sz="1500" b="1" i="0">
                <a:solidFill>
                  <a:srgbClr val="26262E"/>
                </a:solidFill>
                <a:latin typeface="Calibri"/>
              </a:rPr>
              <a:t>Instructor  </a:t>
            </a:r>
            <a:r>
              <a:rPr sz="1500" b="0" i="0">
                <a:solidFill>
                  <a:srgbClr val="26262E"/>
                </a:solidFill>
                <a:latin typeface="Calibri"/>
              </a:rPr>
              <a:t>individual students, SHAP and LIME side by side</a:t>
            </a:r>
          </a:p>
          <a:p>
            <a:pPr algn="l">
              <a:spcAft>
                <a:spcPts val="300"/>
              </a:spcAft>
            </a:pPr>
            <a:r>
              <a:rPr sz="1500" b="1" i="0">
                <a:solidFill>
                  <a:srgbClr val="26262E"/>
                </a:solidFill>
                <a:latin typeface="Calibri"/>
              </a:rPr>
              <a:t>Advisor  </a:t>
            </a:r>
            <a:r>
              <a:rPr sz="1500" b="0" i="0">
                <a:solidFill>
                  <a:srgbClr val="26262E"/>
                </a:solidFill>
                <a:latin typeface="Calibri"/>
              </a:rPr>
              <a:t>caseload across modules, averaged reasoning</a:t>
            </a:r>
          </a:p>
          <a:p>
            <a:pPr algn="l">
              <a:spcAft>
                <a:spcPts val="300"/>
              </a:spcAft>
            </a:pPr>
            <a:r>
              <a:rPr sz="1500" b="1" i="0">
                <a:solidFill>
                  <a:srgbClr val="26262E"/>
                </a:solidFill>
                <a:latin typeface="Calibri"/>
              </a:rPr>
              <a:t>Administrator  </a:t>
            </a:r>
            <a:r>
              <a:rPr sz="1500" b="0" i="0">
                <a:solidFill>
                  <a:srgbClr val="26262E"/>
                </a:solidFill>
                <a:latin typeface="Calibri"/>
              </a:rPr>
              <a:t>whole institution, model performance and drivers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Contributions &amp; Limitations</a:t>
            </a:r>
          </a:p>
        </p:txBody>
      </p:sp>
      <p:sp>
        <p:nvSpPr>
          <p:cNvPr id="3" name="Contributions"/>
          <p:cNvSpPr txBox="1"/>
          <p:nvPr/>
        </p:nvSpPr>
        <p:spPr>
          <a:xfrm>
            <a:off x="2286000" y="1463040"/>
            <a:ext cx="2926080" cy="4754880"/>
          </a:xfrm>
          <a:prstGeom prst="rect">
            <a:avLst/>
          </a:prstGeom>
          <a:noFill/>
        </p:spPr>
        <p:txBody>
          <a:bodyPr wrap="square" anchor="t" lIns="0" rIns="0" tIns="0" bIns="0">
            <a:spAutoFit/>
          </a:bodyPr>
          <a:lstStyle/>
          <a:p>
            <a:pPr algn="l">
              <a:spcAft>
                <a:spcPts val="1400"/>
              </a:spcAft>
            </a:pPr>
            <a:r>
              <a:rPr sz="1300" b="1" i="0">
                <a:solidFill>
                  <a:srgbClr val="C00000"/>
                </a:solidFill>
                <a:latin typeface="Calibri"/>
              </a:rPr>
              <a:t>CONTRIBUTIONS</a:t>
            </a:r>
          </a:p>
          <a:p>
            <a:pPr algn="l" marL="201168" indent="-201168">
              <a:spcAft>
                <a:spcPts val="1400"/>
              </a:spcAft>
              <a:buClr>
                <a:srgbClr val="1F3864"/>
              </a:buClr>
              <a:buFont typeface="Arial"/>
              <a:buChar char="•"/>
            </a:pPr>
            <a:r>
              <a:rPr sz="1800" b="0" i="0">
                <a:solidFill>
                  <a:srgbClr val="26262E"/>
                </a:solidFill>
                <a:latin typeface="Calibri"/>
              </a:rPr>
              <a:t>Prediction and explanation in one working, LMS-integrated system</a:t>
            </a:r>
          </a:p>
          <a:p>
            <a:pPr algn="l" marL="201168" indent="-201168">
              <a:spcAft>
                <a:spcPts val="1400"/>
              </a:spcAft>
              <a:buClr>
                <a:srgbClr val="1F3864"/>
              </a:buClr>
              <a:buFont typeface="Arial"/>
              <a:buChar char="•"/>
            </a:pPr>
            <a:r>
              <a:rPr sz="1800" b="0" i="0">
                <a:solidFill>
                  <a:srgbClr val="26262E"/>
                </a:solidFill>
                <a:latin typeface="Calibri"/>
              </a:rPr>
              <a:t>Explanations tailored to each staff role</a:t>
            </a:r>
          </a:p>
          <a:p>
            <a:pPr algn="l" marL="201168" indent="-201168">
              <a:spcAft>
                <a:spcPts val="1400"/>
              </a:spcAft>
              <a:buClr>
                <a:srgbClr val="1F3864"/>
              </a:buClr>
              <a:buFont typeface="Arial"/>
              <a:buChar char="•"/>
            </a:pPr>
            <a:r>
              <a:rPr sz="1800" b="0" i="0">
                <a:solidFill>
                  <a:srgbClr val="26262E"/>
                </a:solidFill>
                <a:latin typeface="Calibri"/>
              </a:rPr>
              <a:t>CommonKADS applied to explainable learning analytics</a:t>
            </a:r>
          </a:p>
          <a:p>
            <a:pPr algn="l" marL="201168" indent="-201168">
              <a:spcAft>
                <a:spcPts val="1400"/>
              </a:spcAft>
              <a:buClr>
                <a:srgbClr val="1F3864"/>
              </a:buClr>
              <a:buFont typeface="Arial"/>
              <a:buChar char="•"/>
            </a:pPr>
            <a:r>
              <a:rPr sz="1800" b="0" i="0">
                <a:solidFill>
                  <a:srgbClr val="26262E"/>
                </a:solidFill>
                <a:latin typeface="Calibri"/>
              </a:rPr>
              <a:t>Evidence on where SHAP and LIME agree and differ</a:t>
            </a:r>
          </a:p>
        </p:txBody>
      </p:sp>
      <p:sp>
        <p:nvSpPr>
          <p:cNvPr id="4" name="Limitations"/>
          <p:cNvSpPr txBox="1"/>
          <p:nvPr/>
        </p:nvSpPr>
        <p:spPr>
          <a:xfrm>
            <a:off x="5577840" y="1463040"/>
            <a:ext cx="2926080" cy="4754880"/>
          </a:xfrm>
          <a:prstGeom prst="rect">
            <a:avLst/>
          </a:prstGeom>
          <a:noFill/>
        </p:spPr>
        <p:txBody>
          <a:bodyPr wrap="square" anchor="t" lIns="0" rIns="0" tIns="0" bIns="0">
            <a:spAutoFit/>
          </a:bodyPr>
          <a:lstStyle/>
          <a:p>
            <a:pPr algn="l">
              <a:spcAft>
                <a:spcPts val="1400"/>
              </a:spcAft>
            </a:pPr>
            <a:r>
              <a:rPr sz="1300" b="1" i="0">
                <a:solidFill>
                  <a:srgbClr val="C00000"/>
                </a:solidFill>
                <a:latin typeface="Calibri"/>
              </a:rPr>
              <a:t>LIMITATIONS</a:t>
            </a:r>
          </a:p>
          <a:p>
            <a:pPr algn="l" marL="201168" indent="-201168">
              <a:spcAft>
                <a:spcPts val="1400"/>
              </a:spcAft>
              <a:buClr>
                <a:srgbClr val="1F3864"/>
              </a:buClr>
              <a:buFont typeface="Arial"/>
              <a:buChar char="•"/>
            </a:pPr>
            <a:r>
              <a:rPr sz="1800" b="0" i="0">
                <a:solidFill>
                  <a:srgbClr val="26262E"/>
                </a:solidFill>
                <a:latin typeface="Calibri"/>
              </a:rPr>
              <a:t>No practitioner study: trust, usability and decision quality untested</a:t>
            </a:r>
          </a:p>
          <a:p>
            <a:pPr algn="l" marL="201168" indent="-201168">
              <a:spcAft>
                <a:spcPts val="1400"/>
              </a:spcAft>
              <a:buClr>
                <a:srgbClr val="1F3864"/>
              </a:buClr>
              <a:buFont typeface="Arial"/>
              <a:buChar char="•"/>
            </a:pPr>
            <a:r>
              <a:rPr sz="1800" b="0" i="0">
                <a:solidFill>
                  <a:srgbClr val="26262E"/>
                </a:solidFill>
                <a:latin typeface="Calibri"/>
              </a:rPr>
              <a:t>Retrospective features, not early warning</a:t>
            </a:r>
          </a:p>
          <a:p>
            <a:pPr algn="l" marL="201168" indent="-201168">
              <a:spcAft>
                <a:spcPts val="1400"/>
              </a:spcAft>
              <a:buClr>
                <a:srgbClr val="1F3864"/>
              </a:buClr>
              <a:buFont typeface="Arial"/>
              <a:buChar char="•"/>
            </a:pPr>
            <a:r>
              <a:rPr sz="1800" b="0" i="0">
                <a:solidFill>
                  <a:srgbClr val="26262E"/>
                </a:solidFill>
                <a:latin typeface="Calibri"/>
              </a:rPr>
              <a:t>One dataset (OULAD)</a:t>
            </a:r>
          </a:p>
          <a:p>
            <a:pPr algn="l" marL="201168" indent="-201168">
              <a:spcAft>
                <a:spcPts val="1400"/>
              </a:spcAft>
              <a:buClr>
                <a:srgbClr val="1F3864"/>
              </a:buClr>
              <a:buFont typeface="Arial"/>
              <a:buChar char="•"/>
            </a:pPr>
            <a:r>
              <a:rPr sz="1800" b="0" i="0">
                <a:solidFill>
                  <a:srgbClr val="26262E"/>
                </a:solidFill>
                <a:latin typeface="Calibri"/>
              </a:rPr>
              <a:t>Stability, fidelity, calibration and fairness checks not completed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Conclusion &amp; Future Work</a:t>
            </a:r>
          </a:p>
        </p:txBody>
      </p:sp>
      <p:sp>
        <p:nvSpPr>
          <p:cNvPr id="3" name="Answers"/>
          <p:cNvSpPr txBox="1"/>
          <p:nvPr/>
        </p:nvSpPr>
        <p:spPr>
          <a:xfrm>
            <a:off x="2286000" y="1463040"/>
            <a:ext cx="3291840" cy="4754880"/>
          </a:xfrm>
          <a:prstGeom prst="rect">
            <a:avLst/>
          </a:prstGeom>
          <a:noFill/>
        </p:spPr>
        <p:txBody>
          <a:bodyPr wrap="square" anchor="t" lIns="0" rIns="0" tIns="0" bIns="0">
            <a:spAutoFit/>
          </a:bodyPr>
          <a:lstStyle/>
          <a:p>
            <a:pPr algn="l">
              <a:spcAft>
                <a:spcPts val="1200"/>
              </a:spcAft>
            </a:pPr>
            <a:r>
              <a:rPr sz="1300" b="1" i="0">
                <a:solidFill>
                  <a:srgbClr val="C00000"/>
                </a:solidFill>
                <a:latin typeface="Calibri"/>
              </a:rPr>
              <a:t>ANSWERS TO THE RESEARCH QUESTIONS</a:t>
            </a:r>
          </a:p>
          <a:p>
            <a:pPr algn="l" marL="201168" indent="-201168">
              <a:spcAft>
                <a:spcPts val="1200"/>
              </a:spcAft>
              <a:buClr>
                <a:srgbClr val="1F3864"/>
              </a:buClr>
              <a:buFont typeface="Arial"/>
              <a:buChar char="•"/>
            </a:pPr>
            <a:r>
              <a:rPr sz="1700" b="1" i="0">
                <a:solidFill>
                  <a:srgbClr val="26262E"/>
                </a:solidFill>
                <a:latin typeface="Calibri"/>
              </a:rPr>
              <a:t>RQ1 </a:t>
            </a:r>
            <a:r>
              <a:rPr sz="1700" b="0" i="0">
                <a:solidFill>
                  <a:srgbClr val="26262E"/>
                </a:solidFill>
                <a:latin typeface="Calibri"/>
              </a:rPr>
              <a:t>SHAP and LIME integrated in a CommonKADS pipeline; agree on main drivers, partly differ per student</a:t>
            </a:r>
          </a:p>
          <a:p>
            <a:pPr algn="l" marL="201168" indent="-201168">
              <a:spcAft>
                <a:spcPts val="1200"/>
              </a:spcAft>
              <a:buClr>
                <a:srgbClr val="1F3864"/>
              </a:buClr>
              <a:buFont typeface="Arial"/>
              <a:buChar char="•"/>
            </a:pPr>
            <a:r>
              <a:rPr sz="1700" b="1" i="0">
                <a:solidFill>
                  <a:srgbClr val="26262E"/>
                </a:solidFill>
                <a:latin typeface="Calibri"/>
              </a:rPr>
              <a:t>RQ2 </a:t>
            </a:r>
            <a:r>
              <a:rPr sz="1700" b="0" i="0">
                <a:solidFill>
                  <a:srgbClr val="26262E"/>
                </a:solidFill>
                <a:latin typeface="Calibri"/>
              </a:rPr>
              <a:t>individual, caseload and cohort views, implemented in Moodle and Canvas</a:t>
            </a:r>
          </a:p>
          <a:p>
            <a:pPr algn="l" marL="201168" indent="-201168">
              <a:spcAft>
                <a:spcPts val="1200"/>
              </a:spcAft>
              <a:buClr>
                <a:srgbClr val="1F3864"/>
              </a:buClr>
              <a:buFont typeface="Arial"/>
              <a:buChar char="•"/>
            </a:pPr>
            <a:r>
              <a:rPr sz="1700" b="1" i="0">
                <a:solidFill>
                  <a:srgbClr val="26262E"/>
                </a:solidFill>
                <a:latin typeface="Calibri"/>
              </a:rPr>
              <a:t>RQ3 </a:t>
            </a:r>
            <a:r>
              <a:rPr sz="1700" b="0" i="0">
                <a:solidFill>
                  <a:srgbClr val="26262E"/>
                </a:solidFill>
                <a:latin typeface="Calibri"/>
              </a:rPr>
              <a:t>technical preconditions in place; practitioner value still to be shown</a:t>
            </a:r>
          </a:p>
        </p:txBody>
      </p:sp>
      <p:sp>
        <p:nvSpPr>
          <p:cNvPr id="4" name="Future work"/>
          <p:cNvSpPr txBox="1"/>
          <p:nvPr/>
        </p:nvSpPr>
        <p:spPr>
          <a:xfrm>
            <a:off x="5943600" y="1463040"/>
            <a:ext cx="2560320" cy="4754880"/>
          </a:xfrm>
          <a:prstGeom prst="rect">
            <a:avLst/>
          </a:prstGeom>
          <a:noFill/>
        </p:spPr>
        <p:txBody>
          <a:bodyPr wrap="square" anchor="t" lIns="0" rIns="0" tIns="0" bIns="0">
            <a:spAutoFit/>
          </a:bodyPr>
          <a:lstStyle/>
          <a:p>
            <a:pPr algn="l">
              <a:spcAft>
                <a:spcPts val="1200"/>
              </a:spcAft>
            </a:pPr>
            <a:r>
              <a:rPr sz="1300" b="1" i="0">
                <a:solidFill>
                  <a:srgbClr val="C00000"/>
                </a:solidFill>
                <a:latin typeface="Calibri"/>
              </a:rPr>
              <a:t>FUTURE WORK</a:t>
            </a:r>
          </a:p>
          <a:p>
            <a:pPr algn="l" marL="201168" indent="-201168">
              <a:spcAft>
                <a:spcPts val="1200"/>
              </a:spcAft>
              <a:buClr>
                <a:srgbClr val="1F3864"/>
              </a:buClr>
              <a:buFont typeface="Arial"/>
              <a:buChar char="•"/>
            </a:pPr>
            <a:r>
              <a:rPr sz="1700" b="0" i="0">
                <a:solidFill>
                  <a:srgbClr val="26262E"/>
                </a:solidFill>
                <a:latin typeface="Calibri"/>
              </a:rPr>
              <a:t>Early-warning evaluation (weeks 2, 4, 6, 8)</a:t>
            </a:r>
          </a:p>
          <a:p>
            <a:pPr algn="l" marL="201168" indent="-201168">
              <a:spcAft>
                <a:spcPts val="1200"/>
              </a:spcAft>
              <a:buClr>
                <a:srgbClr val="1F3864"/>
              </a:buClr>
              <a:buFont typeface="Arial"/>
              <a:buChar char="•"/>
            </a:pPr>
            <a:r>
              <a:rPr sz="1700" b="0" i="0">
                <a:solidFill>
                  <a:srgbClr val="26262E"/>
                </a:solidFill>
                <a:latin typeface="Calibri"/>
              </a:rPr>
              <a:t>Probability calibration</a:t>
            </a:r>
          </a:p>
          <a:p>
            <a:pPr algn="l" marL="201168" indent="-201168">
              <a:spcAft>
                <a:spcPts val="1200"/>
              </a:spcAft>
              <a:buClr>
                <a:srgbClr val="1F3864"/>
              </a:buClr>
              <a:buFont typeface="Arial"/>
              <a:buChar char="•"/>
            </a:pPr>
            <a:r>
              <a:rPr sz="1700" b="0" i="0">
                <a:solidFill>
                  <a:srgbClr val="26262E"/>
                </a:solidFill>
                <a:latin typeface="Calibri"/>
              </a:rPr>
              <a:t>Fairness by subgroup</a:t>
            </a:r>
          </a:p>
          <a:p>
            <a:pPr algn="l" marL="201168" indent="-201168">
              <a:spcAft>
                <a:spcPts val="1200"/>
              </a:spcAft>
              <a:buClr>
                <a:srgbClr val="1F3864"/>
              </a:buClr>
              <a:buFont typeface="Arial"/>
              <a:buChar char="•"/>
            </a:pPr>
            <a:r>
              <a:rPr sz="1700" b="0" i="0">
                <a:solidFill>
                  <a:srgbClr val="26262E"/>
                </a:solidFill>
                <a:latin typeface="Calibri"/>
              </a:rPr>
              <a:t>Practitioner study (TAM constructs)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